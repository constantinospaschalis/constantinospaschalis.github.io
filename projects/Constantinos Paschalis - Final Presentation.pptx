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1"/>
  </p:sldMasterIdLst>
  <p:notesMasterIdLst>
    <p:notesMasterId r:id="rId33"/>
  </p:notesMasterIdLst>
  <p:handoutMasterIdLst>
    <p:handoutMasterId r:id="rId34"/>
  </p:handoutMasterIdLst>
  <p:sldIdLst>
    <p:sldId id="256" r:id="rId2"/>
    <p:sldId id="285" r:id="rId3"/>
    <p:sldId id="332" r:id="rId4"/>
    <p:sldId id="333" r:id="rId5"/>
    <p:sldId id="268" r:id="rId6"/>
    <p:sldId id="294" r:id="rId7"/>
    <p:sldId id="279" r:id="rId8"/>
    <p:sldId id="310" r:id="rId9"/>
    <p:sldId id="337" r:id="rId10"/>
    <p:sldId id="341" r:id="rId11"/>
    <p:sldId id="330" r:id="rId12"/>
    <p:sldId id="313" r:id="rId13"/>
    <p:sldId id="339" r:id="rId14"/>
    <p:sldId id="315" r:id="rId15"/>
    <p:sldId id="309" r:id="rId16"/>
    <p:sldId id="335" r:id="rId17"/>
    <p:sldId id="340" r:id="rId18"/>
    <p:sldId id="276" r:id="rId19"/>
    <p:sldId id="270" r:id="rId20"/>
    <p:sldId id="306" r:id="rId21"/>
    <p:sldId id="312" r:id="rId22"/>
    <p:sldId id="334" r:id="rId23"/>
    <p:sldId id="323" r:id="rId24"/>
    <p:sldId id="314" r:id="rId25"/>
    <p:sldId id="324" r:id="rId26"/>
    <p:sldId id="328" r:id="rId27"/>
    <p:sldId id="329" r:id="rId28"/>
    <p:sldId id="317" r:id="rId29"/>
    <p:sldId id="322" r:id="rId30"/>
    <p:sldId id="326" r:id="rId31"/>
    <p:sldId id="338" r:id="rId32"/>
  </p:sldIdLst>
  <p:sldSz cx="9144000" cy="6858000" type="screen4x3"/>
  <p:notesSz cx="6794500" cy="9931400"/>
  <p:embeddedFontLst>
    <p:embeddedFont>
      <p:font typeface="Cambria Math" panose="02040503050406030204" pitchFamily="18" charset="0"/>
      <p:regular r:id="rId35"/>
    </p:embeddedFont>
    <p:embeddedFont>
      <p:font typeface="Segoe UI" panose="020B0502040204020203" pitchFamily="34" charset="0"/>
      <p:regular r:id="rId36"/>
      <p:bold r:id="rId37"/>
      <p:italic r:id="rId38"/>
      <p:boldItalic r:id="rId39"/>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65" autoAdjust="0"/>
  </p:normalViewPr>
  <p:slideViewPr>
    <p:cSldViewPr>
      <p:cViewPr>
        <p:scale>
          <a:sx n="73" d="100"/>
          <a:sy n="73" d="100"/>
        </p:scale>
        <p:origin x="1766" y="86"/>
      </p:cViewPr>
      <p:guideLst>
        <p:guide orient="horz" pos="2160"/>
        <p:guide pos="2880"/>
      </p:guideLst>
    </p:cSldViewPr>
  </p:slideViewPr>
  <p:notesTextViewPr>
    <p:cViewPr>
      <p:scale>
        <a:sx n="1" d="1"/>
        <a:sy n="1" d="1"/>
      </p:scale>
      <p:origin x="0" y="0"/>
    </p:cViewPr>
  </p:notesTextViewPr>
  <p:notesViewPr>
    <p:cSldViewPr>
      <p:cViewPr varScale="1">
        <p:scale>
          <a:sx n="59" d="100"/>
          <a:sy n="59" d="100"/>
        </p:scale>
        <p:origin x="-2916" y="-84"/>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4433AD-1DF0-4772-B5C0-D9140BDD7F8E}"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l-GR"/>
        </a:p>
      </dgm:t>
    </dgm:pt>
    <dgm:pt modelId="{3BBE71F5-A4B3-4C55-A3CE-F177B322D455}">
      <dgm:prSet phldrT="[Text]" phldr="0"/>
      <dgm:spPr/>
      <dgm:t>
        <a:bodyPr/>
        <a:lstStyle/>
        <a:p>
          <a:r>
            <a:rPr lang="en-US" dirty="0"/>
            <a:t>Operational Strategies</a:t>
          </a:r>
          <a:endParaRPr lang="el-GR" dirty="0"/>
        </a:p>
      </dgm:t>
    </dgm:pt>
    <dgm:pt modelId="{5C88C1C5-B5D9-49D8-AAE8-F6C909BF4B45}" type="parTrans" cxnId="{4B1600BF-83AA-4739-8FDE-980B69608EA2}">
      <dgm:prSet/>
      <dgm:spPr/>
      <dgm:t>
        <a:bodyPr/>
        <a:lstStyle/>
        <a:p>
          <a:endParaRPr lang="el-GR"/>
        </a:p>
      </dgm:t>
    </dgm:pt>
    <dgm:pt modelId="{4DC06C90-4E2A-4A3A-BAF5-1E638E14A7DA}" type="sibTrans" cxnId="{4B1600BF-83AA-4739-8FDE-980B69608EA2}">
      <dgm:prSet/>
      <dgm:spPr/>
      <dgm:t>
        <a:bodyPr/>
        <a:lstStyle/>
        <a:p>
          <a:endParaRPr lang="el-GR"/>
        </a:p>
      </dgm:t>
    </dgm:pt>
    <dgm:pt modelId="{3224C0C5-910F-48FB-9797-8B491148D6F9}">
      <dgm:prSet phldrT="[Text]" phldr="0"/>
      <dgm:spPr/>
      <dgm:t>
        <a:bodyPr/>
        <a:lstStyle/>
        <a:p>
          <a:r>
            <a:rPr lang="en-US" dirty="0"/>
            <a:t>Mathematical Formulation</a:t>
          </a:r>
          <a:endParaRPr lang="el-GR" dirty="0"/>
        </a:p>
      </dgm:t>
    </dgm:pt>
    <dgm:pt modelId="{DAA4DCEB-2EA5-49E5-B42B-BA6FE625E088}" type="parTrans" cxnId="{9AD4BF40-DADF-4EB8-8B71-9067C9EEA14C}">
      <dgm:prSet/>
      <dgm:spPr/>
      <dgm:t>
        <a:bodyPr/>
        <a:lstStyle/>
        <a:p>
          <a:endParaRPr lang="el-GR"/>
        </a:p>
      </dgm:t>
    </dgm:pt>
    <dgm:pt modelId="{7FAD6598-54E4-444A-86A8-3FCE2065E787}" type="sibTrans" cxnId="{9AD4BF40-DADF-4EB8-8B71-9067C9EEA14C}">
      <dgm:prSet/>
      <dgm:spPr/>
      <dgm:t>
        <a:bodyPr/>
        <a:lstStyle/>
        <a:p>
          <a:endParaRPr lang="el-GR"/>
        </a:p>
      </dgm:t>
    </dgm:pt>
    <dgm:pt modelId="{3A56576D-7DA2-44F9-83E0-219A77902AA6}">
      <dgm:prSet phldrT="[Text]" phldr="0"/>
      <dgm:spPr/>
      <dgm:t>
        <a:bodyPr/>
        <a:lstStyle/>
        <a:p>
          <a:r>
            <a:rPr lang="en-US" dirty="0"/>
            <a:t>Modelling simplifications</a:t>
          </a:r>
          <a:endParaRPr lang="el-GR" dirty="0"/>
        </a:p>
      </dgm:t>
    </dgm:pt>
    <dgm:pt modelId="{B55128FE-A8C9-4EE3-ACFA-1090EDA4F85A}" type="parTrans" cxnId="{9564668E-45CD-490B-AE99-82D584FC0CA2}">
      <dgm:prSet/>
      <dgm:spPr/>
      <dgm:t>
        <a:bodyPr/>
        <a:lstStyle/>
        <a:p>
          <a:endParaRPr lang="el-GR"/>
        </a:p>
      </dgm:t>
    </dgm:pt>
    <dgm:pt modelId="{71BABE28-800F-49E7-B8A2-DD1083F95E97}" type="sibTrans" cxnId="{9564668E-45CD-490B-AE99-82D584FC0CA2}">
      <dgm:prSet/>
      <dgm:spPr/>
      <dgm:t>
        <a:bodyPr/>
        <a:lstStyle/>
        <a:p>
          <a:endParaRPr lang="el-GR"/>
        </a:p>
      </dgm:t>
    </dgm:pt>
    <dgm:pt modelId="{E3C489BE-41CF-49DF-9A00-FE93803521B6}">
      <dgm:prSet/>
      <dgm:spPr/>
      <dgm:t>
        <a:bodyPr/>
        <a:lstStyle/>
        <a:p>
          <a:r>
            <a:rPr lang="el-GR" dirty="0" err="1"/>
            <a:t>Increasing</a:t>
          </a:r>
          <a:r>
            <a:rPr lang="el-GR" dirty="0"/>
            <a:t> </a:t>
          </a:r>
          <a:r>
            <a:rPr lang="el-GR" dirty="0" err="1"/>
            <a:t>operational</a:t>
          </a:r>
          <a:r>
            <a:rPr lang="el-GR" dirty="0"/>
            <a:t> </a:t>
          </a:r>
          <a:r>
            <a:rPr lang="el-GR" dirty="0" err="1"/>
            <a:t>flexibility</a:t>
          </a:r>
          <a:r>
            <a:rPr lang="el-GR" dirty="0"/>
            <a:t> </a:t>
          </a:r>
          <a:r>
            <a:rPr lang="el-GR" dirty="0" err="1"/>
            <a:t>reduces</a:t>
          </a:r>
          <a:r>
            <a:rPr lang="el-GR" dirty="0"/>
            <a:t> the </a:t>
          </a:r>
          <a:r>
            <a:rPr lang="el-GR" dirty="0" err="1"/>
            <a:t>annual</a:t>
          </a:r>
          <a:r>
            <a:rPr lang="el-GR" dirty="0"/>
            <a:t> </a:t>
          </a:r>
          <a:r>
            <a:rPr lang="el-GR" dirty="0" err="1"/>
            <a:t>system</a:t>
          </a:r>
          <a:r>
            <a:rPr lang="el-GR" dirty="0"/>
            <a:t> </a:t>
          </a:r>
          <a:r>
            <a:rPr lang="el-GR" dirty="0" err="1"/>
            <a:t>cost</a:t>
          </a:r>
          <a:r>
            <a:rPr lang="el-GR" dirty="0"/>
            <a:t> </a:t>
          </a:r>
          <a:r>
            <a:rPr lang="el-GR" dirty="0" err="1"/>
            <a:t>by</a:t>
          </a:r>
          <a:r>
            <a:rPr lang="el-GR" dirty="0"/>
            <a:t> </a:t>
          </a:r>
          <a:r>
            <a:rPr lang="el-GR" dirty="0" err="1"/>
            <a:t>approximately</a:t>
          </a:r>
          <a:r>
            <a:rPr lang="el-GR" dirty="0"/>
            <a:t> 2.7</a:t>
          </a:r>
          <a:r>
            <a:rPr lang="en-US" dirty="0"/>
            <a:t>%</a:t>
          </a:r>
          <a:endParaRPr lang="el-GR" dirty="0"/>
        </a:p>
      </dgm:t>
    </dgm:pt>
    <dgm:pt modelId="{5A05A48C-73D2-400D-8902-7B646EEC4D1F}" type="parTrans" cxnId="{BCDF85EE-1BAF-459A-9618-E0DCF8AE83A7}">
      <dgm:prSet/>
      <dgm:spPr/>
      <dgm:t>
        <a:bodyPr/>
        <a:lstStyle/>
        <a:p>
          <a:endParaRPr lang="el-GR"/>
        </a:p>
      </dgm:t>
    </dgm:pt>
    <dgm:pt modelId="{A0C2D558-7882-4DEA-9FCF-17566A77CE24}" type="sibTrans" cxnId="{BCDF85EE-1BAF-459A-9618-E0DCF8AE83A7}">
      <dgm:prSet/>
      <dgm:spPr/>
      <dgm:t>
        <a:bodyPr/>
        <a:lstStyle/>
        <a:p>
          <a:endParaRPr lang="el-GR"/>
        </a:p>
      </dgm:t>
    </dgm:pt>
    <dgm:pt modelId="{B3AF7FE1-5D43-4981-BE4F-E8715D69339E}">
      <dgm:prSet/>
      <dgm:spPr/>
      <dgm:t>
        <a:bodyPr/>
        <a:lstStyle/>
        <a:p>
          <a:r>
            <a:rPr lang="el-GR" dirty="0"/>
            <a:t>The 3-segment MILP </a:t>
          </a:r>
          <a:r>
            <a:rPr lang="el-GR" dirty="0" err="1"/>
            <a:t>increased</a:t>
          </a:r>
          <a:r>
            <a:rPr lang="el-GR" dirty="0"/>
            <a:t> </a:t>
          </a:r>
          <a:r>
            <a:rPr lang="el-GR" dirty="0" err="1"/>
            <a:t>computational</a:t>
          </a:r>
          <a:r>
            <a:rPr lang="el-GR" dirty="0"/>
            <a:t> </a:t>
          </a:r>
          <a:r>
            <a:rPr lang="el-GR" dirty="0" err="1"/>
            <a:t>effort</a:t>
          </a:r>
          <a:r>
            <a:rPr lang="el-GR" dirty="0"/>
            <a:t> </a:t>
          </a:r>
          <a:r>
            <a:rPr lang="el-GR" dirty="0" err="1"/>
            <a:t>without</a:t>
          </a:r>
          <a:r>
            <a:rPr lang="el-GR" dirty="0"/>
            <a:t> </a:t>
          </a:r>
          <a:r>
            <a:rPr lang="el-GR" dirty="0" err="1"/>
            <a:t>improving</a:t>
          </a:r>
          <a:r>
            <a:rPr lang="el-GR" dirty="0"/>
            <a:t> </a:t>
          </a:r>
          <a:r>
            <a:rPr lang="el-GR" dirty="0" err="1"/>
            <a:t>agreement</a:t>
          </a:r>
          <a:r>
            <a:rPr lang="el-GR" dirty="0"/>
            <a:t> </a:t>
          </a:r>
          <a:r>
            <a:rPr lang="el-GR" dirty="0" err="1"/>
            <a:t>with</a:t>
          </a:r>
          <a:r>
            <a:rPr lang="el-GR" dirty="0"/>
            <a:t> the MINLP</a:t>
          </a:r>
        </a:p>
      </dgm:t>
    </dgm:pt>
    <dgm:pt modelId="{DD53E175-DA5A-4C7D-8BBA-972523D257AB}" type="parTrans" cxnId="{972D03C5-159D-4F71-B50F-C0102BF22802}">
      <dgm:prSet/>
      <dgm:spPr/>
      <dgm:t>
        <a:bodyPr/>
        <a:lstStyle/>
        <a:p>
          <a:endParaRPr lang="el-GR"/>
        </a:p>
      </dgm:t>
    </dgm:pt>
    <dgm:pt modelId="{729CC230-881E-4718-AE1E-1FC8768FAA88}" type="sibTrans" cxnId="{972D03C5-159D-4F71-B50F-C0102BF22802}">
      <dgm:prSet/>
      <dgm:spPr/>
      <dgm:t>
        <a:bodyPr/>
        <a:lstStyle/>
        <a:p>
          <a:endParaRPr lang="el-GR"/>
        </a:p>
      </dgm:t>
    </dgm:pt>
    <dgm:pt modelId="{19A226BC-3B70-407B-907B-5A42CA1EE9EE}">
      <dgm:prSet/>
      <dgm:spPr/>
      <dgm:t>
        <a:bodyPr/>
        <a:lstStyle/>
        <a:p>
          <a:r>
            <a:rPr lang="el-GR" b="0" dirty="0"/>
            <a:t>The 1-segment </a:t>
          </a:r>
          <a:r>
            <a:rPr lang="el-GR" b="0" dirty="0" err="1"/>
            <a:t>fixed-period</a:t>
          </a:r>
          <a:r>
            <a:rPr lang="el-GR" b="0" dirty="0"/>
            <a:t> MILP </a:t>
          </a:r>
          <a:r>
            <a:rPr lang="el-GR" b="0" dirty="0" err="1"/>
            <a:t>provides</a:t>
          </a:r>
          <a:r>
            <a:rPr lang="el-GR" b="0" dirty="0"/>
            <a:t> the </a:t>
          </a:r>
          <a:r>
            <a:rPr lang="el-GR" b="0" dirty="0" err="1"/>
            <a:t>best</a:t>
          </a:r>
          <a:r>
            <a:rPr lang="el-GR" b="0" dirty="0"/>
            <a:t> </a:t>
          </a:r>
          <a:r>
            <a:rPr lang="el-GR" b="0" dirty="0" err="1"/>
            <a:t>compromise</a:t>
          </a:r>
          <a:r>
            <a:rPr lang="el-GR" b="0" dirty="0"/>
            <a:t> </a:t>
          </a:r>
          <a:r>
            <a:rPr lang="el-GR" b="0" dirty="0" err="1"/>
            <a:t>between</a:t>
          </a:r>
          <a:r>
            <a:rPr lang="el-GR" b="0" dirty="0"/>
            <a:t> </a:t>
          </a:r>
          <a:r>
            <a:rPr lang="el-GR" b="0" dirty="0" err="1"/>
            <a:t>accuracy</a:t>
          </a:r>
          <a:r>
            <a:rPr lang="el-GR" b="0" dirty="0"/>
            <a:t> and </a:t>
          </a:r>
          <a:r>
            <a:rPr lang="en-US" b="0" dirty="0"/>
            <a:t>tractability</a:t>
          </a:r>
          <a:endParaRPr lang="el-GR" b="0" dirty="0"/>
        </a:p>
      </dgm:t>
    </dgm:pt>
    <dgm:pt modelId="{A35FA535-8BB0-44F9-B119-FB04744ACC25}" type="parTrans" cxnId="{7F563116-0F4A-4B9C-9984-DE5CFC7326F0}">
      <dgm:prSet/>
      <dgm:spPr/>
      <dgm:t>
        <a:bodyPr/>
        <a:lstStyle/>
        <a:p>
          <a:endParaRPr lang="el-GR"/>
        </a:p>
      </dgm:t>
    </dgm:pt>
    <dgm:pt modelId="{DA5B0E88-61D3-4C89-9047-17808178B6A5}" type="sibTrans" cxnId="{7F563116-0F4A-4B9C-9984-DE5CFC7326F0}">
      <dgm:prSet/>
      <dgm:spPr/>
      <dgm:t>
        <a:bodyPr/>
        <a:lstStyle/>
        <a:p>
          <a:endParaRPr lang="el-GR"/>
        </a:p>
      </dgm:t>
    </dgm:pt>
    <dgm:pt modelId="{8E5234CB-366C-4C20-9FD4-6F5F05D62FC3}">
      <dgm:prSet phldrT="[Text]" phldr="0"/>
      <dgm:spPr/>
      <dgm:t>
        <a:bodyPr/>
        <a:lstStyle/>
        <a:p>
          <a:r>
            <a:rPr lang="en-US" dirty="0"/>
            <a:t>System Complexity</a:t>
          </a:r>
          <a:endParaRPr lang="el-GR" dirty="0"/>
        </a:p>
      </dgm:t>
    </dgm:pt>
    <dgm:pt modelId="{F0CCB9F6-685B-4867-B9CE-1907E0077ACE}" type="parTrans" cxnId="{7508AA15-FD89-4A8E-BACF-77DA5044EB01}">
      <dgm:prSet/>
      <dgm:spPr/>
      <dgm:t>
        <a:bodyPr/>
        <a:lstStyle/>
        <a:p>
          <a:endParaRPr lang="el-GR"/>
        </a:p>
      </dgm:t>
    </dgm:pt>
    <dgm:pt modelId="{51BA5EE6-733C-4987-911D-433454B0524B}" type="sibTrans" cxnId="{7508AA15-FD89-4A8E-BACF-77DA5044EB01}">
      <dgm:prSet/>
      <dgm:spPr/>
      <dgm:t>
        <a:bodyPr/>
        <a:lstStyle/>
        <a:p>
          <a:endParaRPr lang="el-GR"/>
        </a:p>
      </dgm:t>
    </dgm:pt>
    <dgm:pt modelId="{E035B550-BBC2-4EDD-A1B3-025BF3DBDE6E}">
      <dgm:prSet/>
      <dgm:spPr/>
      <dgm:t>
        <a:bodyPr/>
        <a:lstStyle/>
        <a:p>
          <a:r>
            <a:rPr lang="el-GR" b="0" dirty="0"/>
            <a:t>The </a:t>
          </a:r>
          <a:r>
            <a:rPr lang="el-GR" b="0" dirty="0" err="1"/>
            <a:t>computational</a:t>
          </a:r>
          <a:r>
            <a:rPr lang="el-GR" b="0" dirty="0"/>
            <a:t> </a:t>
          </a:r>
          <a:r>
            <a:rPr lang="el-GR" b="0" dirty="0" err="1"/>
            <a:t>advantage</a:t>
          </a:r>
          <a:r>
            <a:rPr lang="el-GR" b="0" dirty="0"/>
            <a:t> of the </a:t>
          </a:r>
          <a:r>
            <a:rPr lang="el-GR" b="0" dirty="0" err="1"/>
            <a:t>simplified</a:t>
          </a:r>
          <a:r>
            <a:rPr lang="el-GR" b="0" dirty="0"/>
            <a:t> MILP </a:t>
          </a:r>
          <a:r>
            <a:rPr lang="el-GR" b="0" dirty="0" err="1"/>
            <a:t>increases</a:t>
          </a:r>
          <a:r>
            <a:rPr lang="el-GR" b="0" dirty="0"/>
            <a:t> </a:t>
          </a:r>
          <a:r>
            <a:rPr lang="el-GR" b="0" dirty="0" err="1"/>
            <a:t>as</a:t>
          </a:r>
          <a:r>
            <a:rPr lang="el-GR" b="0" dirty="0"/>
            <a:t> </a:t>
          </a:r>
          <a:r>
            <a:rPr lang="el-GR" b="0" dirty="0" err="1"/>
            <a:t>system</a:t>
          </a:r>
          <a:r>
            <a:rPr lang="el-GR" b="0" dirty="0"/>
            <a:t> </a:t>
          </a:r>
          <a:r>
            <a:rPr lang="el-GR" b="0" dirty="0" err="1"/>
            <a:t>flexibility</a:t>
          </a:r>
          <a:r>
            <a:rPr lang="el-GR" b="0" dirty="0"/>
            <a:t> </a:t>
          </a:r>
          <a:r>
            <a:rPr lang="el-GR" b="0" dirty="0" err="1"/>
            <a:t>increases</a:t>
          </a:r>
          <a:endParaRPr lang="el-GR" b="0" dirty="0"/>
        </a:p>
      </dgm:t>
    </dgm:pt>
    <dgm:pt modelId="{6D32F4F4-2B44-46DD-97F8-1AA52BD27B8A}" type="parTrans" cxnId="{8A191F74-6B2A-4FF4-96BB-6E7D53C82BC3}">
      <dgm:prSet/>
      <dgm:spPr/>
      <dgm:t>
        <a:bodyPr/>
        <a:lstStyle/>
        <a:p>
          <a:endParaRPr lang="el-GR"/>
        </a:p>
      </dgm:t>
    </dgm:pt>
    <dgm:pt modelId="{7B75B576-B3FE-4FAE-97A2-34E2F242040E}" type="sibTrans" cxnId="{8A191F74-6B2A-4FF4-96BB-6E7D53C82BC3}">
      <dgm:prSet/>
      <dgm:spPr/>
      <dgm:t>
        <a:bodyPr/>
        <a:lstStyle/>
        <a:p>
          <a:endParaRPr lang="el-GR"/>
        </a:p>
      </dgm:t>
    </dgm:pt>
    <dgm:pt modelId="{DC1A3151-577B-47ED-B78D-092488361B4C}">
      <dgm:prSet/>
      <dgm:spPr/>
      <dgm:t>
        <a:bodyPr/>
        <a:lstStyle/>
        <a:p>
          <a:r>
            <a:rPr lang="en-US" dirty="0"/>
            <a:t>The </a:t>
          </a:r>
          <a:r>
            <a:rPr lang="el-GR" dirty="0"/>
            <a:t>1-segment MILP </a:t>
          </a:r>
          <a:r>
            <a:rPr lang="el-GR" dirty="0" err="1"/>
            <a:t>consistently</a:t>
          </a:r>
          <a:r>
            <a:rPr lang="el-GR" dirty="0"/>
            <a:t> </a:t>
          </a:r>
          <a:r>
            <a:rPr lang="el-GR" dirty="0" err="1"/>
            <a:t>reproduced</a:t>
          </a:r>
          <a:r>
            <a:rPr lang="el-GR" dirty="0"/>
            <a:t> the MINLP </a:t>
          </a:r>
          <a:r>
            <a:rPr lang="el-GR" dirty="0" err="1"/>
            <a:t>more</a:t>
          </a:r>
          <a:r>
            <a:rPr lang="el-GR" dirty="0"/>
            <a:t> </a:t>
          </a:r>
          <a:r>
            <a:rPr lang="el-GR" dirty="0" err="1"/>
            <a:t>closely</a:t>
          </a:r>
          <a:r>
            <a:rPr lang="el-GR" dirty="0"/>
            <a:t> </a:t>
          </a:r>
          <a:r>
            <a:rPr lang="el-GR" dirty="0" err="1"/>
            <a:t>than</a:t>
          </a:r>
          <a:r>
            <a:rPr lang="el-GR" dirty="0"/>
            <a:t> the </a:t>
          </a:r>
          <a:r>
            <a:rPr lang="el-GR" dirty="0" err="1"/>
            <a:t>original</a:t>
          </a:r>
          <a:r>
            <a:rPr lang="el-GR" dirty="0"/>
            <a:t> 3-segment MILP</a:t>
          </a:r>
        </a:p>
      </dgm:t>
    </dgm:pt>
    <dgm:pt modelId="{1148781F-E7C8-487E-ADFB-1BBF0B23912D}" type="parTrans" cxnId="{9990BCAF-08BB-44AF-8DD9-192005A5D58A}">
      <dgm:prSet/>
      <dgm:spPr/>
      <dgm:t>
        <a:bodyPr/>
        <a:lstStyle/>
        <a:p>
          <a:endParaRPr lang="el-GR"/>
        </a:p>
      </dgm:t>
    </dgm:pt>
    <dgm:pt modelId="{4359B527-2AE3-40D1-9E77-3F20D10BC96A}" type="sibTrans" cxnId="{9990BCAF-08BB-44AF-8DD9-192005A5D58A}">
      <dgm:prSet/>
      <dgm:spPr/>
      <dgm:t>
        <a:bodyPr/>
        <a:lstStyle/>
        <a:p>
          <a:endParaRPr lang="el-GR"/>
        </a:p>
      </dgm:t>
    </dgm:pt>
    <dgm:pt modelId="{F2A1A0F3-F840-4475-94A9-F254B2684EAA}">
      <dgm:prSet/>
      <dgm:spPr/>
      <dgm:t>
        <a:bodyPr/>
        <a:lstStyle/>
        <a:p>
          <a:r>
            <a:rPr lang="el-GR" b="0" dirty="0" err="1"/>
            <a:t>Fixing</a:t>
          </a:r>
          <a:r>
            <a:rPr lang="el-GR" b="0" dirty="0"/>
            <a:t> the </a:t>
          </a:r>
          <a:r>
            <a:rPr lang="el-GR" b="0" dirty="0" err="1"/>
            <a:t>operating</a:t>
          </a:r>
          <a:r>
            <a:rPr lang="el-GR" b="0" dirty="0"/>
            <a:t> </a:t>
          </a:r>
          <a:r>
            <a:rPr lang="el-GR" b="0" dirty="0" err="1"/>
            <a:t>temperatures</a:t>
          </a:r>
          <a:r>
            <a:rPr lang="el-GR" b="0" dirty="0"/>
            <a:t> </a:t>
          </a:r>
          <a:r>
            <a:rPr lang="el-GR" b="0" dirty="0" err="1"/>
            <a:t>provides</a:t>
          </a:r>
          <a:r>
            <a:rPr lang="el-GR" b="0" dirty="0"/>
            <a:t> the </a:t>
          </a:r>
          <a:r>
            <a:rPr lang="el-GR" b="0" dirty="0" err="1"/>
            <a:t>largest</a:t>
          </a:r>
          <a:r>
            <a:rPr lang="el-GR" b="0" dirty="0"/>
            <a:t> </a:t>
          </a:r>
          <a:r>
            <a:rPr lang="el-GR" b="0" dirty="0" err="1"/>
            <a:t>speed-up</a:t>
          </a:r>
          <a:r>
            <a:rPr lang="el-GR" b="0" dirty="0"/>
            <a:t> </a:t>
          </a:r>
          <a:r>
            <a:rPr lang="el-GR" b="0" dirty="0" err="1"/>
            <a:t>but</a:t>
          </a:r>
          <a:r>
            <a:rPr lang="el-GR" b="0" dirty="0"/>
            <a:t> </a:t>
          </a:r>
          <a:r>
            <a:rPr lang="el-GR" b="0" dirty="0" err="1"/>
            <a:t>also</a:t>
          </a:r>
          <a:r>
            <a:rPr lang="el-GR" b="0" dirty="0"/>
            <a:t> the </a:t>
          </a:r>
          <a:r>
            <a:rPr lang="el-GR" b="0" dirty="0" err="1"/>
            <a:t>largest</a:t>
          </a:r>
          <a:r>
            <a:rPr lang="el-GR" b="0" dirty="0"/>
            <a:t> </a:t>
          </a:r>
          <a:r>
            <a:rPr lang="el-GR" b="0" dirty="0" err="1"/>
            <a:t>deviation</a:t>
          </a:r>
          <a:r>
            <a:rPr lang="el-GR" b="0" dirty="0"/>
            <a:t> </a:t>
          </a:r>
          <a:r>
            <a:rPr lang="el-GR" b="0" dirty="0" err="1"/>
            <a:t>from</a:t>
          </a:r>
          <a:r>
            <a:rPr lang="el-GR" b="0" dirty="0"/>
            <a:t> the MINLP</a:t>
          </a:r>
        </a:p>
      </dgm:t>
    </dgm:pt>
    <dgm:pt modelId="{949C3621-863D-4C47-B178-886A3CE016F4}" type="parTrans" cxnId="{A28DD55E-D5E3-4425-AA51-04E7F09C49C6}">
      <dgm:prSet/>
      <dgm:spPr/>
      <dgm:t>
        <a:bodyPr/>
        <a:lstStyle/>
        <a:p>
          <a:endParaRPr lang="el-GR"/>
        </a:p>
      </dgm:t>
    </dgm:pt>
    <dgm:pt modelId="{113529F8-ED42-44CC-B731-89AE8CF24995}" type="sibTrans" cxnId="{A28DD55E-D5E3-4425-AA51-04E7F09C49C6}">
      <dgm:prSet/>
      <dgm:spPr/>
      <dgm:t>
        <a:bodyPr/>
        <a:lstStyle/>
        <a:p>
          <a:endParaRPr lang="el-GR"/>
        </a:p>
      </dgm:t>
    </dgm:pt>
    <dgm:pt modelId="{08F0B8A6-5072-492F-9BFC-F132B3D08532}" type="pres">
      <dgm:prSet presAssocID="{074433AD-1DF0-4772-B5C0-D9140BDD7F8E}" presName="linear" presStyleCnt="0">
        <dgm:presLayoutVars>
          <dgm:dir/>
          <dgm:animLvl val="lvl"/>
          <dgm:resizeHandles val="exact"/>
        </dgm:presLayoutVars>
      </dgm:prSet>
      <dgm:spPr/>
    </dgm:pt>
    <dgm:pt modelId="{D446320E-92F3-4358-B7C4-94FA90452F2F}" type="pres">
      <dgm:prSet presAssocID="{3BBE71F5-A4B3-4C55-A3CE-F177B322D455}" presName="parentLin" presStyleCnt="0"/>
      <dgm:spPr/>
    </dgm:pt>
    <dgm:pt modelId="{9349220D-C1E0-499E-ADAD-4559E46C4B26}" type="pres">
      <dgm:prSet presAssocID="{3BBE71F5-A4B3-4C55-A3CE-F177B322D455}" presName="parentLeftMargin" presStyleLbl="node1" presStyleIdx="0" presStyleCnt="4"/>
      <dgm:spPr/>
    </dgm:pt>
    <dgm:pt modelId="{BBDC55A2-B70E-4B63-BF62-2B8A41F83D2A}" type="pres">
      <dgm:prSet presAssocID="{3BBE71F5-A4B3-4C55-A3CE-F177B322D455}" presName="parentText" presStyleLbl="node1" presStyleIdx="0" presStyleCnt="4">
        <dgm:presLayoutVars>
          <dgm:chMax val="0"/>
          <dgm:bulletEnabled val="1"/>
        </dgm:presLayoutVars>
      </dgm:prSet>
      <dgm:spPr/>
    </dgm:pt>
    <dgm:pt modelId="{E8899B71-50C7-4FE8-99F2-DDDE439C0499}" type="pres">
      <dgm:prSet presAssocID="{3BBE71F5-A4B3-4C55-A3CE-F177B322D455}" presName="negativeSpace" presStyleCnt="0"/>
      <dgm:spPr/>
    </dgm:pt>
    <dgm:pt modelId="{99626CFE-B586-455D-AC99-141124CA1BCF}" type="pres">
      <dgm:prSet presAssocID="{3BBE71F5-A4B3-4C55-A3CE-F177B322D455}" presName="childText" presStyleLbl="conFgAcc1" presStyleIdx="0" presStyleCnt="4">
        <dgm:presLayoutVars>
          <dgm:bulletEnabled val="1"/>
        </dgm:presLayoutVars>
      </dgm:prSet>
      <dgm:spPr/>
    </dgm:pt>
    <dgm:pt modelId="{7CA619B9-9F2B-4BB4-BC9B-60CA9FA22785}" type="pres">
      <dgm:prSet presAssocID="{4DC06C90-4E2A-4A3A-BAF5-1E638E14A7DA}" presName="spaceBetweenRectangles" presStyleCnt="0"/>
      <dgm:spPr/>
    </dgm:pt>
    <dgm:pt modelId="{C34895AE-DA90-4E7F-97A0-189F2EFC27CA}" type="pres">
      <dgm:prSet presAssocID="{3224C0C5-910F-48FB-9797-8B491148D6F9}" presName="parentLin" presStyleCnt="0"/>
      <dgm:spPr/>
    </dgm:pt>
    <dgm:pt modelId="{2C82E6B7-E6CC-4018-8E1F-D6964A198146}" type="pres">
      <dgm:prSet presAssocID="{3224C0C5-910F-48FB-9797-8B491148D6F9}" presName="parentLeftMargin" presStyleLbl="node1" presStyleIdx="0" presStyleCnt="4"/>
      <dgm:spPr/>
    </dgm:pt>
    <dgm:pt modelId="{4DFCA5D8-825C-4A26-BCA8-43D19C9693B7}" type="pres">
      <dgm:prSet presAssocID="{3224C0C5-910F-48FB-9797-8B491148D6F9}" presName="parentText" presStyleLbl="node1" presStyleIdx="1" presStyleCnt="4">
        <dgm:presLayoutVars>
          <dgm:chMax val="0"/>
          <dgm:bulletEnabled val="1"/>
        </dgm:presLayoutVars>
      </dgm:prSet>
      <dgm:spPr/>
    </dgm:pt>
    <dgm:pt modelId="{83418227-222A-4B27-9BDC-E69499F2EE4E}" type="pres">
      <dgm:prSet presAssocID="{3224C0C5-910F-48FB-9797-8B491148D6F9}" presName="negativeSpace" presStyleCnt="0"/>
      <dgm:spPr/>
    </dgm:pt>
    <dgm:pt modelId="{B01DFF6C-E458-4AB9-9FE7-B1F292CA53AA}" type="pres">
      <dgm:prSet presAssocID="{3224C0C5-910F-48FB-9797-8B491148D6F9}" presName="childText" presStyleLbl="conFgAcc1" presStyleIdx="1" presStyleCnt="4" custLinFactNeighborY="56524">
        <dgm:presLayoutVars>
          <dgm:bulletEnabled val="1"/>
        </dgm:presLayoutVars>
      </dgm:prSet>
      <dgm:spPr/>
    </dgm:pt>
    <dgm:pt modelId="{1075D943-4112-4066-B8D6-422DF8C3AFD1}" type="pres">
      <dgm:prSet presAssocID="{7FAD6598-54E4-444A-86A8-3FCE2065E787}" presName="spaceBetweenRectangles" presStyleCnt="0"/>
      <dgm:spPr/>
    </dgm:pt>
    <dgm:pt modelId="{1F7E38F6-C3F3-47D0-8E12-F2988D4C85F1}" type="pres">
      <dgm:prSet presAssocID="{3A56576D-7DA2-44F9-83E0-219A77902AA6}" presName="parentLin" presStyleCnt="0"/>
      <dgm:spPr/>
    </dgm:pt>
    <dgm:pt modelId="{679D1B36-2FF2-4BF7-ADFA-FBF884FAE4E6}" type="pres">
      <dgm:prSet presAssocID="{3A56576D-7DA2-44F9-83E0-219A77902AA6}" presName="parentLeftMargin" presStyleLbl="node1" presStyleIdx="1" presStyleCnt="4"/>
      <dgm:spPr/>
    </dgm:pt>
    <dgm:pt modelId="{3812ABC1-B2E9-45FF-B503-3B4D54E83933}" type="pres">
      <dgm:prSet presAssocID="{3A56576D-7DA2-44F9-83E0-219A77902AA6}" presName="parentText" presStyleLbl="node1" presStyleIdx="2" presStyleCnt="4">
        <dgm:presLayoutVars>
          <dgm:chMax val="0"/>
          <dgm:bulletEnabled val="1"/>
        </dgm:presLayoutVars>
      </dgm:prSet>
      <dgm:spPr/>
    </dgm:pt>
    <dgm:pt modelId="{B646109F-49B9-411A-A8DE-EEA4AC918A8D}" type="pres">
      <dgm:prSet presAssocID="{3A56576D-7DA2-44F9-83E0-219A77902AA6}" presName="negativeSpace" presStyleCnt="0"/>
      <dgm:spPr/>
    </dgm:pt>
    <dgm:pt modelId="{F7E60C40-2FED-45B9-A276-D88ACD717F3A}" type="pres">
      <dgm:prSet presAssocID="{3A56576D-7DA2-44F9-83E0-219A77902AA6}" presName="childText" presStyleLbl="conFgAcc1" presStyleIdx="2" presStyleCnt="4" custLinFactNeighborY="504">
        <dgm:presLayoutVars>
          <dgm:bulletEnabled val="1"/>
        </dgm:presLayoutVars>
      </dgm:prSet>
      <dgm:spPr/>
    </dgm:pt>
    <dgm:pt modelId="{94814D46-A16F-44AA-A8DA-83C3EE5958C9}" type="pres">
      <dgm:prSet presAssocID="{71BABE28-800F-49E7-B8A2-DD1083F95E97}" presName="spaceBetweenRectangles" presStyleCnt="0"/>
      <dgm:spPr/>
    </dgm:pt>
    <dgm:pt modelId="{490DE3C4-051C-431E-9C64-801A5D034659}" type="pres">
      <dgm:prSet presAssocID="{8E5234CB-366C-4C20-9FD4-6F5F05D62FC3}" presName="parentLin" presStyleCnt="0"/>
      <dgm:spPr/>
    </dgm:pt>
    <dgm:pt modelId="{C78FCB12-DFEB-4E1C-8A06-7D7819920BCD}" type="pres">
      <dgm:prSet presAssocID="{8E5234CB-366C-4C20-9FD4-6F5F05D62FC3}" presName="parentLeftMargin" presStyleLbl="node1" presStyleIdx="2" presStyleCnt="4"/>
      <dgm:spPr/>
    </dgm:pt>
    <dgm:pt modelId="{7EAFCF08-B8DB-4D8C-8567-DE4D4C0E3DF5}" type="pres">
      <dgm:prSet presAssocID="{8E5234CB-366C-4C20-9FD4-6F5F05D62FC3}" presName="parentText" presStyleLbl="node1" presStyleIdx="3" presStyleCnt="4">
        <dgm:presLayoutVars>
          <dgm:chMax val="0"/>
          <dgm:bulletEnabled val="1"/>
        </dgm:presLayoutVars>
      </dgm:prSet>
      <dgm:spPr/>
    </dgm:pt>
    <dgm:pt modelId="{1618C842-42FE-4B56-BF35-F2B8F0AAA610}" type="pres">
      <dgm:prSet presAssocID="{8E5234CB-366C-4C20-9FD4-6F5F05D62FC3}" presName="negativeSpace" presStyleCnt="0"/>
      <dgm:spPr/>
    </dgm:pt>
    <dgm:pt modelId="{7DF29C7C-63CA-40A0-8B1B-5F5182B0A9C3}" type="pres">
      <dgm:prSet presAssocID="{8E5234CB-366C-4C20-9FD4-6F5F05D62FC3}" presName="childText" presStyleLbl="conFgAcc1" presStyleIdx="3" presStyleCnt="4">
        <dgm:presLayoutVars>
          <dgm:bulletEnabled val="1"/>
        </dgm:presLayoutVars>
      </dgm:prSet>
      <dgm:spPr/>
    </dgm:pt>
  </dgm:ptLst>
  <dgm:cxnLst>
    <dgm:cxn modelId="{D817A110-07A7-40A6-9886-7C5CE94DD69A}" type="presOf" srcId="{3A56576D-7DA2-44F9-83E0-219A77902AA6}" destId="{679D1B36-2FF2-4BF7-ADFA-FBF884FAE4E6}" srcOrd="0" destOrd="0" presId="urn:microsoft.com/office/officeart/2005/8/layout/list1"/>
    <dgm:cxn modelId="{A375F311-A931-474B-827C-67BB8F394936}" type="presOf" srcId="{E3C489BE-41CF-49DF-9A00-FE93803521B6}" destId="{99626CFE-B586-455D-AC99-141124CA1BCF}" srcOrd="0" destOrd="0" presId="urn:microsoft.com/office/officeart/2005/8/layout/list1"/>
    <dgm:cxn modelId="{7508AA15-FD89-4A8E-BACF-77DA5044EB01}" srcId="{074433AD-1DF0-4772-B5C0-D9140BDD7F8E}" destId="{8E5234CB-366C-4C20-9FD4-6F5F05D62FC3}" srcOrd="3" destOrd="0" parTransId="{F0CCB9F6-685B-4867-B9CE-1907E0077ACE}" sibTransId="{51BA5EE6-733C-4987-911D-433454B0524B}"/>
    <dgm:cxn modelId="{7F563116-0F4A-4B9C-9984-DE5CFC7326F0}" srcId="{3A56576D-7DA2-44F9-83E0-219A77902AA6}" destId="{19A226BC-3B70-407B-907B-5A42CA1EE9EE}" srcOrd="0" destOrd="0" parTransId="{A35FA535-8BB0-44F9-B119-FB04744ACC25}" sibTransId="{DA5B0E88-61D3-4C89-9047-17808178B6A5}"/>
    <dgm:cxn modelId="{3F371D2C-659B-44A2-BA77-B2A53BC55254}" type="presOf" srcId="{074433AD-1DF0-4772-B5C0-D9140BDD7F8E}" destId="{08F0B8A6-5072-492F-9BFC-F132B3D08532}" srcOrd="0" destOrd="0" presId="urn:microsoft.com/office/officeart/2005/8/layout/list1"/>
    <dgm:cxn modelId="{1A04CB33-D8FA-49D2-8FD8-E2D1B1A8AF52}" type="presOf" srcId="{DC1A3151-577B-47ED-B78D-092488361B4C}" destId="{B01DFF6C-E458-4AB9-9FE7-B1F292CA53AA}" srcOrd="0" destOrd="1" presId="urn:microsoft.com/office/officeart/2005/8/layout/list1"/>
    <dgm:cxn modelId="{BCD8F73B-14B1-48B6-B745-329F9A319643}" type="presOf" srcId="{F2A1A0F3-F840-4475-94A9-F254B2684EAA}" destId="{F7E60C40-2FED-45B9-A276-D88ACD717F3A}" srcOrd="0" destOrd="1" presId="urn:microsoft.com/office/officeart/2005/8/layout/list1"/>
    <dgm:cxn modelId="{9AD4BF40-DADF-4EB8-8B71-9067C9EEA14C}" srcId="{074433AD-1DF0-4772-B5C0-D9140BDD7F8E}" destId="{3224C0C5-910F-48FB-9797-8B491148D6F9}" srcOrd="1" destOrd="0" parTransId="{DAA4DCEB-2EA5-49E5-B42B-BA6FE625E088}" sibTransId="{7FAD6598-54E4-444A-86A8-3FCE2065E787}"/>
    <dgm:cxn modelId="{B4FA915B-5514-4535-9E63-D3D889AD658F}" type="presOf" srcId="{3224C0C5-910F-48FB-9797-8B491148D6F9}" destId="{2C82E6B7-E6CC-4018-8E1F-D6964A198146}" srcOrd="0" destOrd="0" presId="urn:microsoft.com/office/officeart/2005/8/layout/list1"/>
    <dgm:cxn modelId="{A28DD55E-D5E3-4425-AA51-04E7F09C49C6}" srcId="{3A56576D-7DA2-44F9-83E0-219A77902AA6}" destId="{F2A1A0F3-F840-4475-94A9-F254B2684EAA}" srcOrd="1" destOrd="0" parTransId="{949C3621-863D-4C47-B178-886A3CE016F4}" sibTransId="{113529F8-ED42-44CC-B731-89AE8CF24995}"/>
    <dgm:cxn modelId="{84CC776C-38C4-4596-B983-0953393BAF0A}" type="presOf" srcId="{8E5234CB-366C-4C20-9FD4-6F5F05D62FC3}" destId="{7EAFCF08-B8DB-4D8C-8567-DE4D4C0E3DF5}" srcOrd="1" destOrd="0" presId="urn:microsoft.com/office/officeart/2005/8/layout/list1"/>
    <dgm:cxn modelId="{977E896D-B282-417F-B942-D96DCF7EE96F}" type="presOf" srcId="{3BBE71F5-A4B3-4C55-A3CE-F177B322D455}" destId="{9349220D-C1E0-499E-ADAD-4559E46C4B26}" srcOrd="0" destOrd="0" presId="urn:microsoft.com/office/officeart/2005/8/layout/list1"/>
    <dgm:cxn modelId="{8A191F74-6B2A-4FF4-96BB-6E7D53C82BC3}" srcId="{8E5234CB-366C-4C20-9FD4-6F5F05D62FC3}" destId="{E035B550-BBC2-4EDD-A1B3-025BF3DBDE6E}" srcOrd="0" destOrd="0" parTransId="{6D32F4F4-2B44-46DD-97F8-1AA52BD27B8A}" sibTransId="{7B75B576-B3FE-4FAE-97A2-34E2F242040E}"/>
    <dgm:cxn modelId="{9564668E-45CD-490B-AE99-82D584FC0CA2}" srcId="{074433AD-1DF0-4772-B5C0-D9140BDD7F8E}" destId="{3A56576D-7DA2-44F9-83E0-219A77902AA6}" srcOrd="2" destOrd="0" parTransId="{B55128FE-A8C9-4EE3-ACFA-1090EDA4F85A}" sibTransId="{71BABE28-800F-49E7-B8A2-DD1083F95E97}"/>
    <dgm:cxn modelId="{14795BA0-4087-4D42-9802-BDD0236B1A10}" type="presOf" srcId="{B3AF7FE1-5D43-4981-BE4F-E8715D69339E}" destId="{B01DFF6C-E458-4AB9-9FE7-B1F292CA53AA}" srcOrd="0" destOrd="0" presId="urn:microsoft.com/office/officeart/2005/8/layout/list1"/>
    <dgm:cxn modelId="{B7B7BBA7-C734-4470-8F61-D21578D217B6}" type="presOf" srcId="{19A226BC-3B70-407B-907B-5A42CA1EE9EE}" destId="{F7E60C40-2FED-45B9-A276-D88ACD717F3A}" srcOrd="0" destOrd="0" presId="urn:microsoft.com/office/officeart/2005/8/layout/list1"/>
    <dgm:cxn modelId="{9990BCAF-08BB-44AF-8DD9-192005A5D58A}" srcId="{3224C0C5-910F-48FB-9797-8B491148D6F9}" destId="{DC1A3151-577B-47ED-B78D-092488361B4C}" srcOrd="1" destOrd="0" parTransId="{1148781F-E7C8-487E-ADFB-1BBF0B23912D}" sibTransId="{4359B527-2AE3-40D1-9E77-3F20D10BC96A}"/>
    <dgm:cxn modelId="{B3E2A0B4-57FC-4412-BC21-9023D0595D49}" type="presOf" srcId="{8E5234CB-366C-4C20-9FD4-6F5F05D62FC3}" destId="{C78FCB12-DFEB-4E1C-8A06-7D7819920BCD}" srcOrd="0" destOrd="0" presId="urn:microsoft.com/office/officeart/2005/8/layout/list1"/>
    <dgm:cxn modelId="{21C324BA-E7AC-42A4-9345-A8D7C26EF086}" type="presOf" srcId="{E035B550-BBC2-4EDD-A1B3-025BF3DBDE6E}" destId="{7DF29C7C-63CA-40A0-8B1B-5F5182B0A9C3}" srcOrd="0" destOrd="0" presId="urn:microsoft.com/office/officeart/2005/8/layout/list1"/>
    <dgm:cxn modelId="{4B1600BF-83AA-4739-8FDE-980B69608EA2}" srcId="{074433AD-1DF0-4772-B5C0-D9140BDD7F8E}" destId="{3BBE71F5-A4B3-4C55-A3CE-F177B322D455}" srcOrd="0" destOrd="0" parTransId="{5C88C1C5-B5D9-49D8-AAE8-F6C909BF4B45}" sibTransId="{4DC06C90-4E2A-4A3A-BAF5-1E638E14A7DA}"/>
    <dgm:cxn modelId="{972D03C5-159D-4F71-B50F-C0102BF22802}" srcId="{3224C0C5-910F-48FB-9797-8B491148D6F9}" destId="{B3AF7FE1-5D43-4981-BE4F-E8715D69339E}" srcOrd="0" destOrd="0" parTransId="{DD53E175-DA5A-4C7D-8BBA-972523D257AB}" sibTransId="{729CC230-881E-4718-AE1E-1FC8768FAA88}"/>
    <dgm:cxn modelId="{A7665DCD-26E1-4EF2-B9F5-813358AD8D79}" type="presOf" srcId="{3BBE71F5-A4B3-4C55-A3CE-F177B322D455}" destId="{BBDC55A2-B70E-4B63-BF62-2B8A41F83D2A}" srcOrd="1" destOrd="0" presId="urn:microsoft.com/office/officeart/2005/8/layout/list1"/>
    <dgm:cxn modelId="{F5A0B1E0-B0AF-4E9A-91E5-8FADEB5AEC55}" type="presOf" srcId="{3224C0C5-910F-48FB-9797-8B491148D6F9}" destId="{4DFCA5D8-825C-4A26-BCA8-43D19C9693B7}" srcOrd="1" destOrd="0" presId="urn:microsoft.com/office/officeart/2005/8/layout/list1"/>
    <dgm:cxn modelId="{BCDF85EE-1BAF-459A-9618-E0DCF8AE83A7}" srcId="{3BBE71F5-A4B3-4C55-A3CE-F177B322D455}" destId="{E3C489BE-41CF-49DF-9A00-FE93803521B6}" srcOrd="0" destOrd="0" parTransId="{5A05A48C-73D2-400D-8902-7B646EEC4D1F}" sibTransId="{A0C2D558-7882-4DEA-9FCF-17566A77CE24}"/>
    <dgm:cxn modelId="{940189F9-4BF8-4CD4-BE1E-08826DD7AE93}" type="presOf" srcId="{3A56576D-7DA2-44F9-83E0-219A77902AA6}" destId="{3812ABC1-B2E9-45FF-B503-3B4D54E83933}" srcOrd="1" destOrd="0" presId="urn:microsoft.com/office/officeart/2005/8/layout/list1"/>
    <dgm:cxn modelId="{824DB2E2-8E4B-4428-89E3-68A21BA37690}" type="presParOf" srcId="{08F0B8A6-5072-492F-9BFC-F132B3D08532}" destId="{D446320E-92F3-4358-B7C4-94FA90452F2F}" srcOrd="0" destOrd="0" presId="urn:microsoft.com/office/officeart/2005/8/layout/list1"/>
    <dgm:cxn modelId="{385322FA-804E-4DA2-BFD7-4EB156056B5D}" type="presParOf" srcId="{D446320E-92F3-4358-B7C4-94FA90452F2F}" destId="{9349220D-C1E0-499E-ADAD-4559E46C4B26}" srcOrd="0" destOrd="0" presId="urn:microsoft.com/office/officeart/2005/8/layout/list1"/>
    <dgm:cxn modelId="{72E23AF3-9D78-43AA-852A-76A938EF3B01}" type="presParOf" srcId="{D446320E-92F3-4358-B7C4-94FA90452F2F}" destId="{BBDC55A2-B70E-4B63-BF62-2B8A41F83D2A}" srcOrd="1" destOrd="0" presId="urn:microsoft.com/office/officeart/2005/8/layout/list1"/>
    <dgm:cxn modelId="{23BD531B-3771-4777-89F4-21014EBC83BB}" type="presParOf" srcId="{08F0B8A6-5072-492F-9BFC-F132B3D08532}" destId="{E8899B71-50C7-4FE8-99F2-DDDE439C0499}" srcOrd="1" destOrd="0" presId="urn:microsoft.com/office/officeart/2005/8/layout/list1"/>
    <dgm:cxn modelId="{36709712-662D-4EEE-9171-9E2CBDCAD3E6}" type="presParOf" srcId="{08F0B8A6-5072-492F-9BFC-F132B3D08532}" destId="{99626CFE-B586-455D-AC99-141124CA1BCF}" srcOrd="2" destOrd="0" presId="urn:microsoft.com/office/officeart/2005/8/layout/list1"/>
    <dgm:cxn modelId="{26F51F7F-59E7-48C0-A2BD-0276DF2CEAAE}" type="presParOf" srcId="{08F0B8A6-5072-492F-9BFC-F132B3D08532}" destId="{7CA619B9-9F2B-4BB4-BC9B-60CA9FA22785}" srcOrd="3" destOrd="0" presId="urn:microsoft.com/office/officeart/2005/8/layout/list1"/>
    <dgm:cxn modelId="{B6420C2E-5912-487E-ABA3-032D125B5063}" type="presParOf" srcId="{08F0B8A6-5072-492F-9BFC-F132B3D08532}" destId="{C34895AE-DA90-4E7F-97A0-189F2EFC27CA}" srcOrd="4" destOrd="0" presId="urn:microsoft.com/office/officeart/2005/8/layout/list1"/>
    <dgm:cxn modelId="{C1BEFF44-0FE4-4714-9D3E-577321000181}" type="presParOf" srcId="{C34895AE-DA90-4E7F-97A0-189F2EFC27CA}" destId="{2C82E6B7-E6CC-4018-8E1F-D6964A198146}" srcOrd="0" destOrd="0" presId="urn:microsoft.com/office/officeart/2005/8/layout/list1"/>
    <dgm:cxn modelId="{8F304722-A952-4C0D-BD6F-96F500F61C4C}" type="presParOf" srcId="{C34895AE-DA90-4E7F-97A0-189F2EFC27CA}" destId="{4DFCA5D8-825C-4A26-BCA8-43D19C9693B7}" srcOrd="1" destOrd="0" presId="urn:microsoft.com/office/officeart/2005/8/layout/list1"/>
    <dgm:cxn modelId="{69B6DC59-473D-4590-BC0C-9B768CB74E4F}" type="presParOf" srcId="{08F0B8A6-5072-492F-9BFC-F132B3D08532}" destId="{83418227-222A-4B27-9BDC-E69499F2EE4E}" srcOrd="5" destOrd="0" presId="urn:microsoft.com/office/officeart/2005/8/layout/list1"/>
    <dgm:cxn modelId="{C555713C-C26A-4DFF-94AC-87981CDE1B4A}" type="presParOf" srcId="{08F0B8A6-5072-492F-9BFC-F132B3D08532}" destId="{B01DFF6C-E458-4AB9-9FE7-B1F292CA53AA}" srcOrd="6" destOrd="0" presId="urn:microsoft.com/office/officeart/2005/8/layout/list1"/>
    <dgm:cxn modelId="{E7B96FE8-9C97-436B-8DC0-A3530EB981F8}" type="presParOf" srcId="{08F0B8A6-5072-492F-9BFC-F132B3D08532}" destId="{1075D943-4112-4066-B8D6-422DF8C3AFD1}" srcOrd="7" destOrd="0" presId="urn:microsoft.com/office/officeart/2005/8/layout/list1"/>
    <dgm:cxn modelId="{D6E61A0A-AF82-46A1-AE96-0D0D96CAC45D}" type="presParOf" srcId="{08F0B8A6-5072-492F-9BFC-F132B3D08532}" destId="{1F7E38F6-C3F3-47D0-8E12-F2988D4C85F1}" srcOrd="8" destOrd="0" presId="urn:microsoft.com/office/officeart/2005/8/layout/list1"/>
    <dgm:cxn modelId="{AB8439F1-C568-4F84-BA8A-D0F4500B37B3}" type="presParOf" srcId="{1F7E38F6-C3F3-47D0-8E12-F2988D4C85F1}" destId="{679D1B36-2FF2-4BF7-ADFA-FBF884FAE4E6}" srcOrd="0" destOrd="0" presId="urn:microsoft.com/office/officeart/2005/8/layout/list1"/>
    <dgm:cxn modelId="{598F6822-F7BC-4D3D-A471-420773645B65}" type="presParOf" srcId="{1F7E38F6-C3F3-47D0-8E12-F2988D4C85F1}" destId="{3812ABC1-B2E9-45FF-B503-3B4D54E83933}" srcOrd="1" destOrd="0" presId="urn:microsoft.com/office/officeart/2005/8/layout/list1"/>
    <dgm:cxn modelId="{C6C664A6-C30C-49FF-BEC1-A2B3455B57C8}" type="presParOf" srcId="{08F0B8A6-5072-492F-9BFC-F132B3D08532}" destId="{B646109F-49B9-411A-A8DE-EEA4AC918A8D}" srcOrd="9" destOrd="0" presId="urn:microsoft.com/office/officeart/2005/8/layout/list1"/>
    <dgm:cxn modelId="{075B1DDA-FCCB-49EB-8776-3D31CF5CE2F4}" type="presParOf" srcId="{08F0B8A6-5072-492F-9BFC-F132B3D08532}" destId="{F7E60C40-2FED-45B9-A276-D88ACD717F3A}" srcOrd="10" destOrd="0" presId="urn:microsoft.com/office/officeart/2005/8/layout/list1"/>
    <dgm:cxn modelId="{E275C080-5305-4076-BD25-A0E0CA2DFE4F}" type="presParOf" srcId="{08F0B8A6-5072-492F-9BFC-F132B3D08532}" destId="{94814D46-A16F-44AA-A8DA-83C3EE5958C9}" srcOrd="11" destOrd="0" presId="urn:microsoft.com/office/officeart/2005/8/layout/list1"/>
    <dgm:cxn modelId="{819E229E-DD7A-4254-B85D-9AEDC0F2FA0C}" type="presParOf" srcId="{08F0B8A6-5072-492F-9BFC-F132B3D08532}" destId="{490DE3C4-051C-431E-9C64-801A5D034659}" srcOrd="12" destOrd="0" presId="urn:microsoft.com/office/officeart/2005/8/layout/list1"/>
    <dgm:cxn modelId="{BA7C4868-37A4-4FAD-8EEC-A04A19166FAD}" type="presParOf" srcId="{490DE3C4-051C-431E-9C64-801A5D034659}" destId="{C78FCB12-DFEB-4E1C-8A06-7D7819920BCD}" srcOrd="0" destOrd="0" presId="urn:microsoft.com/office/officeart/2005/8/layout/list1"/>
    <dgm:cxn modelId="{6EF4DA2B-0733-4E32-8BE2-9C84D511F7CB}" type="presParOf" srcId="{490DE3C4-051C-431E-9C64-801A5D034659}" destId="{7EAFCF08-B8DB-4D8C-8567-DE4D4C0E3DF5}" srcOrd="1" destOrd="0" presId="urn:microsoft.com/office/officeart/2005/8/layout/list1"/>
    <dgm:cxn modelId="{29C0D1EF-8FEE-4EE5-A725-4A9F1B8DD29C}" type="presParOf" srcId="{08F0B8A6-5072-492F-9BFC-F132B3D08532}" destId="{1618C842-42FE-4B56-BF35-F2B8F0AAA610}" srcOrd="13" destOrd="0" presId="urn:microsoft.com/office/officeart/2005/8/layout/list1"/>
    <dgm:cxn modelId="{4C2330EE-9C8D-452B-952C-2FCB85217482}" type="presParOf" srcId="{08F0B8A6-5072-492F-9BFC-F132B3D08532}" destId="{7DF29C7C-63CA-40A0-8B1B-5F5182B0A9C3}"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26CFE-B586-455D-AC99-141124CA1BCF}">
      <dsp:nvSpPr>
        <dsp:cNvPr id="0" name=""/>
        <dsp:cNvSpPr/>
      </dsp:nvSpPr>
      <dsp:spPr>
        <a:xfrm>
          <a:off x="0" y="446666"/>
          <a:ext cx="8229600" cy="606375"/>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dirty="0" err="1"/>
            <a:t>Increasing</a:t>
          </a:r>
          <a:r>
            <a:rPr lang="el-GR" sz="1400" kern="1200" dirty="0"/>
            <a:t> </a:t>
          </a:r>
          <a:r>
            <a:rPr lang="el-GR" sz="1400" kern="1200" dirty="0" err="1"/>
            <a:t>operational</a:t>
          </a:r>
          <a:r>
            <a:rPr lang="el-GR" sz="1400" kern="1200" dirty="0"/>
            <a:t> </a:t>
          </a:r>
          <a:r>
            <a:rPr lang="el-GR" sz="1400" kern="1200" dirty="0" err="1"/>
            <a:t>flexibility</a:t>
          </a:r>
          <a:r>
            <a:rPr lang="el-GR" sz="1400" kern="1200" dirty="0"/>
            <a:t> </a:t>
          </a:r>
          <a:r>
            <a:rPr lang="el-GR" sz="1400" kern="1200" dirty="0" err="1"/>
            <a:t>reduces</a:t>
          </a:r>
          <a:r>
            <a:rPr lang="el-GR" sz="1400" kern="1200" dirty="0"/>
            <a:t> the </a:t>
          </a:r>
          <a:r>
            <a:rPr lang="el-GR" sz="1400" kern="1200" dirty="0" err="1"/>
            <a:t>annual</a:t>
          </a:r>
          <a:r>
            <a:rPr lang="el-GR" sz="1400" kern="1200" dirty="0"/>
            <a:t> </a:t>
          </a:r>
          <a:r>
            <a:rPr lang="el-GR" sz="1400" kern="1200" dirty="0" err="1"/>
            <a:t>system</a:t>
          </a:r>
          <a:r>
            <a:rPr lang="el-GR" sz="1400" kern="1200" dirty="0"/>
            <a:t> </a:t>
          </a:r>
          <a:r>
            <a:rPr lang="el-GR" sz="1400" kern="1200" dirty="0" err="1"/>
            <a:t>cost</a:t>
          </a:r>
          <a:r>
            <a:rPr lang="el-GR" sz="1400" kern="1200" dirty="0"/>
            <a:t> </a:t>
          </a:r>
          <a:r>
            <a:rPr lang="el-GR" sz="1400" kern="1200" dirty="0" err="1"/>
            <a:t>by</a:t>
          </a:r>
          <a:r>
            <a:rPr lang="el-GR" sz="1400" kern="1200" dirty="0"/>
            <a:t> </a:t>
          </a:r>
          <a:r>
            <a:rPr lang="el-GR" sz="1400" kern="1200" dirty="0" err="1"/>
            <a:t>approximately</a:t>
          </a:r>
          <a:r>
            <a:rPr lang="el-GR" sz="1400" kern="1200" dirty="0"/>
            <a:t> 2.7</a:t>
          </a:r>
          <a:r>
            <a:rPr lang="en-US" sz="1400" kern="1200" dirty="0"/>
            <a:t>%</a:t>
          </a:r>
          <a:endParaRPr lang="el-GR" sz="1400" kern="1200" dirty="0"/>
        </a:p>
      </dsp:txBody>
      <dsp:txXfrm>
        <a:off x="0" y="446666"/>
        <a:ext cx="8229600" cy="606375"/>
      </dsp:txXfrm>
    </dsp:sp>
    <dsp:sp modelId="{BBDC55A2-B70E-4B63-BF62-2B8A41F83D2A}">
      <dsp:nvSpPr>
        <dsp:cNvPr id="0" name=""/>
        <dsp:cNvSpPr/>
      </dsp:nvSpPr>
      <dsp:spPr>
        <a:xfrm>
          <a:off x="411480" y="240026"/>
          <a:ext cx="5760720" cy="4132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Operational Strategies</a:t>
          </a:r>
          <a:endParaRPr lang="el-GR" sz="1400" kern="1200" dirty="0"/>
        </a:p>
      </dsp:txBody>
      <dsp:txXfrm>
        <a:off x="431655" y="260201"/>
        <a:ext cx="5720370" cy="372930"/>
      </dsp:txXfrm>
    </dsp:sp>
    <dsp:sp modelId="{B01DFF6C-E458-4AB9-9FE7-B1F292CA53AA}">
      <dsp:nvSpPr>
        <dsp:cNvPr id="0" name=""/>
        <dsp:cNvSpPr/>
      </dsp:nvSpPr>
      <dsp:spPr>
        <a:xfrm>
          <a:off x="0" y="1378013"/>
          <a:ext cx="8229600" cy="1278900"/>
        </a:xfrm>
        <a:prstGeom prst="rect">
          <a:avLst/>
        </a:prstGeom>
        <a:solidFill>
          <a:schemeClr val="lt1">
            <a:alpha val="90000"/>
            <a:hueOff val="0"/>
            <a:satOff val="0"/>
            <a:lumOff val="0"/>
            <a:alphaOff val="0"/>
          </a:schemeClr>
        </a:solidFill>
        <a:ln w="25400" cap="flat" cmpd="sng" algn="ctr">
          <a:solidFill>
            <a:schemeClr val="accent4">
              <a:hueOff val="-4200050"/>
              <a:satOff val="0"/>
              <a:lumOff val="58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dirty="0"/>
            <a:t>The 3-segment MILP </a:t>
          </a:r>
          <a:r>
            <a:rPr lang="el-GR" sz="1400" kern="1200" dirty="0" err="1"/>
            <a:t>increased</a:t>
          </a:r>
          <a:r>
            <a:rPr lang="el-GR" sz="1400" kern="1200" dirty="0"/>
            <a:t> </a:t>
          </a:r>
          <a:r>
            <a:rPr lang="el-GR" sz="1400" kern="1200" dirty="0" err="1"/>
            <a:t>computational</a:t>
          </a:r>
          <a:r>
            <a:rPr lang="el-GR" sz="1400" kern="1200" dirty="0"/>
            <a:t> </a:t>
          </a:r>
          <a:r>
            <a:rPr lang="el-GR" sz="1400" kern="1200" dirty="0" err="1"/>
            <a:t>effort</a:t>
          </a:r>
          <a:r>
            <a:rPr lang="el-GR" sz="1400" kern="1200" dirty="0"/>
            <a:t> </a:t>
          </a:r>
          <a:r>
            <a:rPr lang="el-GR" sz="1400" kern="1200" dirty="0" err="1"/>
            <a:t>without</a:t>
          </a:r>
          <a:r>
            <a:rPr lang="el-GR" sz="1400" kern="1200" dirty="0"/>
            <a:t> </a:t>
          </a:r>
          <a:r>
            <a:rPr lang="el-GR" sz="1400" kern="1200" dirty="0" err="1"/>
            <a:t>improving</a:t>
          </a:r>
          <a:r>
            <a:rPr lang="el-GR" sz="1400" kern="1200" dirty="0"/>
            <a:t> </a:t>
          </a:r>
          <a:r>
            <a:rPr lang="el-GR" sz="1400" kern="1200" dirty="0" err="1"/>
            <a:t>agreement</a:t>
          </a:r>
          <a:r>
            <a:rPr lang="el-GR" sz="1400" kern="1200" dirty="0"/>
            <a:t> </a:t>
          </a:r>
          <a:r>
            <a:rPr lang="el-GR" sz="1400" kern="1200" dirty="0" err="1"/>
            <a:t>with</a:t>
          </a:r>
          <a:r>
            <a:rPr lang="el-GR" sz="1400" kern="1200" dirty="0"/>
            <a:t> the MINLP</a:t>
          </a:r>
        </a:p>
        <a:p>
          <a:pPr marL="114300" lvl="1" indent="-114300" algn="l" defTabSz="622300">
            <a:lnSpc>
              <a:spcPct val="90000"/>
            </a:lnSpc>
            <a:spcBef>
              <a:spcPct val="0"/>
            </a:spcBef>
            <a:spcAft>
              <a:spcPct val="15000"/>
            </a:spcAft>
            <a:buChar char="•"/>
          </a:pPr>
          <a:r>
            <a:rPr lang="en-US" sz="1400" kern="1200" dirty="0"/>
            <a:t>The </a:t>
          </a:r>
          <a:r>
            <a:rPr lang="el-GR" sz="1400" kern="1200" dirty="0"/>
            <a:t>1-segment MILP </a:t>
          </a:r>
          <a:r>
            <a:rPr lang="el-GR" sz="1400" kern="1200" dirty="0" err="1"/>
            <a:t>consistently</a:t>
          </a:r>
          <a:r>
            <a:rPr lang="el-GR" sz="1400" kern="1200" dirty="0"/>
            <a:t> </a:t>
          </a:r>
          <a:r>
            <a:rPr lang="el-GR" sz="1400" kern="1200" dirty="0" err="1"/>
            <a:t>reproduced</a:t>
          </a:r>
          <a:r>
            <a:rPr lang="el-GR" sz="1400" kern="1200" dirty="0"/>
            <a:t> the MINLP </a:t>
          </a:r>
          <a:r>
            <a:rPr lang="el-GR" sz="1400" kern="1200" dirty="0" err="1"/>
            <a:t>more</a:t>
          </a:r>
          <a:r>
            <a:rPr lang="el-GR" sz="1400" kern="1200" dirty="0"/>
            <a:t> </a:t>
          </a:r>
          <a:r>
            <a:rPr lang="el-GR" sz="1400" kern="1200" dirty="0" err="1"/>
            <a:t>closely</a:t>
          </a:r>
          <a:r>
            <a:rPr lang="el-GR" sz="1400" kern="1200" dirty="0"/>
            <a:t> </a:t>
          </a:r>
          <a:r>
            <a:rPr lang="el-GR" sz="1400" kern="1200" dirty="0" err="1"/>
            <a:t>than</a:t>
          </a:r>
          <a:r>
            <a:rPr lang="el-GR" sz="1400" kern="1200" dirty="0"/>
            <a:t> the </a:t>
          </a:r>
          <a:r>
            <a:rPr lang="el-GR" sz="1400" kern="1200" dirty="0" err="1"/>
            <a:t>original</a:t>
          </a:r>
          <a:r>
            <a:rPr lang="el-GR" sz="1400" kern="1200" dirty="0"/>
            <a:t> 3-segment MILP</a:t>
          </a:r>
        </a:p>
      </dsp:txBody>
      <dsp:txXfrm>
        <a:off x="0" y="1378013"/>
        <a:ext cx="8229600" cy="1278900"/>
      </dsp:txXfrm>
    </dsp:sp>
    <dsp:sp modelId="{4DFCA5D8-825C-4A26-BCA8-43D19C9693B7}">
      <dsp:nvSpPr>
        <dsp:cNvPr id="0" name=""/>
        <dsp:cNvSpPr/>
      </dsp:nvSpPr>
      <dsp:spPr>
        <a:xfrm>
          <a:off x="411480" y="1128641"/>
          <a:ext cx="5760720" cy="413280"/>
        </a:xfrm>
        <a:prstGeom prst="roundRect">
          <a:avLst/>
        </a:prstGeom>
        <a:solidFill>
          <a:schemeClr val="accent4">
            <a:hueOff val="-4200050"/>
            <a:satOff val="0"/>
            <a:lumOff val="588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Mathematical Formulation</a:t>
          </a:r>
          <a:endParaRPr lang="el-GR" sz="1400" kern="1200" dirty="0"/>
        </a:p>
      </dsp:txBody>
      <dsp:txXfrm>
        <a:off x="431655" y="1148816"/>
        <a:ext cx="5720370" cy="372930"/>
      </dsp:txXfrm>
    </dsp:sp>
    <dsp:sp modelId="{F7E60C40-2FED-45B9-A276-D88ACD717F3A}">
      <dsp:nvSpPr>
        <dsp:cNvPr id="0" name=""/>
        <dsp:cNvSpPr/>
      </dsp:nvSpPr>
      <dsp:spPr>
        <a:xfrm>
          <a:off x="0" y="2896802"/>
          <a:ext cx="8229600" cy="1278900"/>
        </a:xfrm>
        <a:prstGeom prst="rect">
          <a:avLst/>
        </a:prstGeom>
        <a:solidFill>
          <a:schemeClr val="lt1">
            <a:alpha val="90000"/>
            <a:hueOff val="0"/>
            <a:satOff val="0"/>
            <a:lumOff val="0"/>
            <a:alphaOff val="0"/>
          </a:schemeClr>
        </a:solidFill>
        <a:ln w="25400" cap="flat" cmpd="sng" algn="ctr">
          <a:solidFill>
            <a:schemeClr val="accent4">
              <a:hueOff val="-8400100"/>
              <a:satOff val="0"/>
              <a:lumOff val="11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l-GR" sz="1400" b="0" kern="1200" dirty="0"/>
            <a:t>The 1-segment </a:t>
          </a:r>
          <a:r>
            <a:rPr lang="el-GR" sz="1400" b="0" kern="1200" dirty="0" err="1"/>
            <a:t>fixed-period</a:t>
          </a:r>
          <a:r>
            <a:rPr lang="el-GR" sz="1400" b="0" kern="1200" dirty="0"/>
            <a:t> MILP </a:t>
          </a:r>
          <a:r>
            <a:rPr lang="el-GR" sz="1400" b="0" kern="1200" dirty="0" err="1"/>
            <a:t>provides</a:t>
          </a:r>
          <a:r>
            <a:rPr lang="el-GR" sz="1400" b="0" kern="1200" dirty="0"/>
            <a:t> the </a:t>
          </a:r>
          <a:r>
            <a:rPr lang="el-GR" sz="1400" b="0" kern="1200" dirty="0" err="1"/>
            <a:t>best</a:t>
          </a:r>
          <a:r>
            <a:rPr lang="el-GR" sz="1400" b="0" kern="1200" dirty="0"/>
            <a:t> </a:t>
          </a:r>
          <a:r>
            <a:rPr lang="el-GR" sz="1400" b="0" kern="1200" dirty="0" err="1"/>
            <a:t>compromise</a:t>
          </a:r>
          <a:r>
            <a:rPr lang="el-GR" sz="1400" b="0" kern="1200" dirty="0"/>
            <a:t> </a:t>
          </a:r>
          <a:r>
            <a:rPr lang="el-GR" sz="1400" b="0" kern="1200" dirty="0" err="1"/>
            <a:t>between</a:t>
          </a:r>
          <a:r>
            <a:rPr lang="el-GR" sz="1400" b="0" kern="1200" dirty="0"/>
            <a:t> </a:t>
          </a:r>
          <a:r>
            <a:rPr lang="el-GR" sz="1400" b="0" kern="1200" dirty="0" err="1"/>
            <a:t>accuracy</a:t>
          </a:r>
          <a:r>
            <a:rPr lang="el-GR" sz="1400" b="0" kern="1200" dirty="0"/>
            <a:t> and </a:t>
          </a:r>
          <a:r>
            <a:rPr lang="en-US" sz="1400" b="0" kern="1200" dirty="0"/>
            <a:t>tractability</a:t>
          </a:r>
          <a:endParaRPr lang="el-GR" sz="1400" b="0" kern="1200" dirty="0"/>
        </a:p>
        <a:p>
          <a:pPr marL="114300" lvl="1" indent="-114300" algn="l" defTabSz="622300">
            <a:lnSpc>
              <a:spcPct val="90000"/>
            </a:lnSpc>
            <a:spcBef>
              <a:spcPct val="0"/>
            </a:spcBef>
            <a:spcAft>
              <a:spcPct val="15000"/>
            </a:spcAft>
            <a:buChar char="•"/>
          </a:pPr>
          <a:r>
            <a:rPr lang="el-GR" sz="1400" b="0" kern="1200" dirty="0" err="1"/>
            <a:t>Fixing</a:t>
          </a:r>
          <a:r>
            <a:rPr lang="el-GR" sz="1400" b="0" kern="1200" dirty="0"/>
            <a:t> the </a:t>
          </a:r>
          <a:r>
            <a:rPr lang="el-GR" sz="1400" b="0" kern="1200" dirty="0" err="1"/>
            <a:t>operating</a:t>
          </a:r>
          <a:r>
            <a:rPr lang="el-GR" sz="1400" b="0" kern="1200" dirty="0"/>
            <a:t> </a:t>
          </a:r>
          <a:r>
            <a:rPr lang="el-GR" sz="1400" b="0" kern="1200" dirty="0" err="1"/>
            <a:t>temperatures</a:t>
          </a:r>
          <a:r>
            <a:rPr lang="el-GR" sz="1400" b="0" kern="1200" dirty="0"/>
            <a:t> </a:t>
          </a:r>
          <a:r>
            <a:rPr lang="el-GR" sz="1400" b="0" kern="1200" dirty="0" err="1"/>
            <a:t>provides</a:t>
          </a:r>
          <a:r>
            <a:rPr lang="el-GR" sz="1400" b="0" kern="1200" dirty="0"/>
            <a:t> the </a:t>
          </a:r>
          <a:r>
            <a:rPr lang="el-GR" sz="1400" b="0" kern="1200" dirty="0" err="1"/>
            <a:t>largest</a:t>
          </a:r>
          <a:r>
            <a:rPr lang="el-GR" sz="1400" b="0" kern="1200" dirty="0"/>
            <a:t> </a:t>
          </a:r>
          <a:r>
            <a:rPr lang="el-GR" sz="1400" b="0" kern="1200" dirty="0" err="1"/>
            <a:t>speed-up</a:t>
          </a:r>
          <a:r>
            <a:rPr lang="el-GR" sz="1400" b="0" kern="1200" dirty="0"/>
            <a:t> </a:t>
          </a:r>
          <a:r>
            <a:rPr lang="el-GR" sz="1400" b="0" kern="1200" dirty="0" err="1"/>
            <a:t>but</a:t>
          </a:r>
          <a:r>
            <a:rPr lang="el-GR" sz="1400" b="0" kern="1200" dirty="0"/>
            <a:t> </a:t>
          </a:r>
          <a:r>
            <a:rPr lang="el-GR" sz="1400" b="0" kern="1200" dirty="0" err="1"/>
            <a:t>also</a:t>
          </a:r>
          <a:r>
            <a:rPr lang="el-GR" sz="1400" b="0" kern="1200" dirty="0"/>
            <a:t> the </a:t>
          </a:r>
          <a:r>
            <a:rPr lang="el-GR" sz="1400" b="0" kern="1200" dirty="0" err="1"/>
            <a:t>largest</a:t>
          </a:r>
          <a:r>
            <a:rPr lang="el-GR" sz="1400" b="0" kern="1200" dirty="0"/>
            <a:t> </a:t>
          </a:r>
          <a:r>
            <a:rPr lang="el-GR" sz="1400" b="0" kern="1200" dirty="0" err="1"/>
            <a:t>deviation</a:t>
          </a:r>
          <a:r>
            <a:rPr lang="el-GR" sz="1400" b="0" kern="1200" dirty="0"/>
            <a:t> </a:t>
          </a:r>
          <a:r>
            <a:rPr lang="el-GR" sz="1400" b="0" kern="1200" dirty="0" err="1"/>
            <a:t>from</a:t>
          </a:r>
          <a:r>
            <a:rPr lang="el-GR" sz="1400" b="0" kern="1200" dirty="0"/>
            <a:t> the MINLP</a:t>
          </a:r>
        </a:p>
      </dsp:txBody>
      <dsp:txXfrm>
        <a:off x="0" y="2896802"/>
        <a:ext cx="8229600" cy="1278900"/>
      </dsp:txXfrm>
    </dsp:sp>
    <dsp:sp modelId="{3812ABC1-B2E9-45FF-B503-3B4D54E83933}">
      <dsp:nvSpPr>
        <dsp:cNvPr id="0" name=""/>
        <dsp:cNvSpPr/>
      </dsp:nvSpPr>
      <dsp:spPr>
        <a:xfrm>
          <a:off x="411480" y="2689781"/>
          <a:ext cx="5760720" cy="413280"/>
        </a:xfrm>
        <a:prstGeom prst="roundRect">
          <a:avLst/>
        </a:prstGeom>
        <a:solidFill>
          <a:schemeClr val="accent4">
            <a:hueOff val="-8400100"/>
            <a:satOff val="0"/>
            <a:lumOff val="117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Modelling simplifications</a:t>
          </a:r>
          <a:endParaRPr lang="el-GR" sz="1400" kern="1200" dirty="0"/>
        </a:p>
      </dsp:txBody>
      <dsp:txXfrm>
        <a:off x="431655" y="2709956"/>
        <a:ext cx="5720370" cy="372930"/>
      </dsp:txXfrm>
    </dsp:sp>
    <dsp:sp modelId="{7DF29C7C-63CA-40A0-8B1B-5F5182B0A9C3}">
      <dsp:nvSpPr>
        <dsp:cNvPr id="0" name=""/>
        <dsp:cNvSpPr/>
      </dsp:nvSpPr>
      <dsp:spPr>
        <a:xfrm>
          <a:off x="0" y="4457561"/>
          <a:ext cx="8229600" cy="837900"/>
        </a:xfrm>
        <a:prstGeom prst="rect">
          <a:avLst/>
        </a:prstGeom>
        <a:solidFill>
          <a:schemeClr val="lt1">
            <a:alpha val="90000"/>
            <a:hueOff val="0"/>
            <a:satOff val="0"/>
            <a:lumOff val="0"/>
            <a:alphaOff val="0"/>
          </a:schemeClr>
        </a:solidFill>
        <a:ln w="25400" cap="flat" cmpd="sng" algn="ctr">
          <a:solidFill>
            <a:schemeClr val="accent4">
              <a:hueOff val="-12600149"/>
              <a:satOff val="0"/>
              <a:lumOff val="176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l-GR" sz="1400" b="0" kern="1200" dirty="0"/>
            <a:t>The </a:t>
          </a:r>
          <a:r>
            <a:rPr lang="el-GR" sz="1400" b="0" kern="1200" dirty="0" err="1"/>
            <a:t>computational</a:t>
          </a:r>
          <a:r>
            <a:rPr lang="el-GR" sz="1400" b="0" kern="1200" dirty="0"/>
            <a:t> </a:t>
          </a:r>
          <a:r>
            <a:rPr lang="el-GR" sz="1400" b="0" kern="1200" dirty="0" err="1"/>
            <a:t>advantage</a:t>
          </a:r>
          <a:r>
            <a:rPr lang="el-GR" sz="1400" b="0" kern="1200" dirty="0"/>
            <a:t> of the </a:t>
          </a:r>
          <a:r>
            <a:rPr lang="el-GR" sz="1400" b="0" kern="1200" dirty="0" err="1"/>
            <a:t>simplified</a:t>
          </a:r>
          <a:r>
            <a:rPr lang="el-GR" sz="1400" b="0" kern="1200" dirty="0"/>
            <a:t> MILP </a:t>
          </a:r>
          <a:r>
            <a:rPr lang="el-GR" sz="1400" b="0" kern="1200" dirty="0" err="1"/>
            <a:t>increases</a:t>
          </a:r>
          <a:r>
            <a:rPr lang="el-GR" sz="1400" b="0" kern="1200" dirty="0"/>
            <a:t> </a:t>
          </a:r>
          <a:r>
            <a:rPr lang="el-GR" sz="1400" b="0" kern="1200" dirty="0" err="1"/>
            <a:t>as</a:t>
          </a:r>
          <a:r>
            <a:rPr lang="el-GR" sz="1400" b="0" kern="1200" dirty="0"/>
            <a:t> </a:t>
          </a:r>
          <a:r>
            <a:rPr lang="el-GR" sz="1400" b="0" kern="1200" dirty="0" err="1"/>
            <a:t>system</a:t>
          </a:r>
          <a:r>
            <a:rPr lang="el-GR" sz="1400" b="0" kern="1200" dirty="0"/>
            <a:t> </a:t>
          </a:r>
          <a:r>
            <a:rPr lang="el-GR" sz="1400" b="0" kern="1200" dirty="0" err="1"/>
            <a:t>flexibility</a:t>
          </a:r>
          <a:r>
            <a:rPr lang="el-GR" sz="1400" b="0" kern="1200" dirty="0"/>
            <a:t> </a:t>
          </a:r>
          <a:r>
            <a:rPr lang="el-GR" sz="1400" b="0" kern="1200" dirty="0" err="1"/>
            <a:t>increases</a:t>
          </a:r>
          <a:endParaRPr lang="el-GR" sz="1400" b="0" kern="1200" dirty="0"/>
        </a:p>
      </dsp:txBody>
      <dsp:txXfrm>
        <a:off x="0" y="4457561"/>
        <a:ext cx="8229600" cy="837900"/>
      </dsp:txXfrm>
    </dsp:sp>
    <dsp:sp modelId="{7EAFCF08-B8DB-4D8C-8567-DE4D4C0E3DF5}">
      <dsp:nvSpPr>
        <dsp:cNvPr id="0" name=""/>
        <dsp:cNvSpPr/>
      </dsp:nvSpPr>
      <dsp:spPr>
        <a:xfrm>
          <a:off x="411480" y="4250921"/>
          <a:ext cx="5760720" cy="413280"/>
        </a:xfrm>
        <a:prstGeom prst="roundRect">
          <a:avLst/>
        </a:prstGeom>
        <a:solidFill>
          <a:schemeClr val="accent4">
            <a:hueOff val="-12600149"/>
            <a:satOff val="0"/>
            <a:lumOff val="17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System Complexity</a:t>
          </a:r>
          <a:endParaRPr lang="el-GR" sz="1400" kern="1200" dirty="0"/>
        </a:p>
      </dsp:txBody>
      <dsp:txXfrm>
        <a:off x="431655" y="4271096"/>
        <a:ext cx="5720370"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de-CH"/>
          </a:p>
        </p:txBody>
      </p:sp>
      <p:sp>
        <p:nvSpPr>
          <p:cNvPr id="4" name="Fußzeilenplatzhalter 3"/>
          <p:cNvSpPr>
            <a:spLocks noGrp="1"/>
          </p:cNvSpPr>
          <p:nvPr>
            <p:ph type="ftr" sz="quarter" idx="2"/>
          </p:nvPr>
        </p:nvSpPr>
        <p:spPr>
          <a:xfrm>
            <a:off x="0" y="9432925"/>
            <a:ext cx="2944813" cy="496888"/>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p:cNvSpPr>
            <a:spLocks noGrp="1"/>
          </p:cNvSpPr>
          <p:nvPr>
            <p:ph type="sldNum" sz="quarter" idx="3"/>
          </p:nvPr>
        </p:nvSpPr>
        <p:spPr>
          <a:xfrm>
            <a:off x="3848100" y="9432925"/>
            <a:ext cx="2944813" cy="496888"/>
          </a:xfrm>
          <a:prstGeom prst="rect">
            <a:avLst/>
          </a:prstGeom>
        </p:spPr>
        <p:txBody>
          <a:bodyPr vert="horz" lIns="91440" tIns="45720" rIns="91440" bIns="45720" rtlCol="0" anchor="b"/>
          <a:lstStyle>
            <a:lvl1pPr algn="r">
              <a:defRPr sz="1200"/>
            </a:lvl1pPr>
          </a:lstStyle>
          <a:p>
            <a:fld id="{392D5A2D-F402-48DD-B039-7154530A9DBF}" type="slidenum">
              <a:rPr lang="de-CH" smtClean="0"/>
              <a:t>‹#›</a:t>
            </a:fld>
            <a:endParaRPr lang="de-CH"/>
          </a:p>
        </p:txBody>
      </p:sp>
    </p:spTree>
    <p:extLst>
      <p:ext uri="{BB962C8B-B14F-4D97-AF65-F5344CB8AC3E}">
        <p14:creationId xmlns:p14="http://schemas.microsoft.com/office/powerpoint/2010/main" val="12992861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998D010E-D1FB-41AC-82FA-21A2BDC5E24B}" type="datetimeFigureOut">
              <a:rPr lang="de-CH" smtClean="0"/>
              <a:t>01.09.2026</a:t>
            </a:fld>
            <a:endParaRPr lang="de-CH"/>
          </a:p>
        </p:txBody>
      </p:sp>
      <p:sp>
        <p:nvSpPr>
          <p:cNvPr id="4" name="Folienbildplatzhalter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79450" y="4718050"/>
            <a:ext cx="5435600" cy="4468813"/>
          </a:xfrm>
          <a:prstGeom prst="rect">
            <a:avLst/>
          </a:prstGeom>
        </p:spPr>
        <p:txBody>
          <a:bodyPr vert="horz" lIns="91440" tIns="45720" rIns="91440" bIns="4572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6" name="Fußzeilenplatzhalter 5"/>
          <p:cNvSpPr>
            <a:spLocks noGrp="1"/>
          </p:cNvSpPr>
          <p:nvPr>
            <p:ph type="ftr" sz="quarter" idx="4"/>
          </p:nvPr>
        </p:nvSpPr>
        <p:spPr>
          <a:xfrm>
            <a:off x="0" y="9432925"/>
            <a:ext cx="2944813" cy="496888"/>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48100" y="9432925"/>
            <a:ext cx="2944813" cy="496888"/>
          </a:xfrm>
          <a:prstGeom prst="rect">
            <a:avLst/>
          </a:prstGeom>
        </p:spPr>
        <p:txBody>
          <a:bodyPr vert="horz" lIns="91440" tIns="45720" rIns="91440" bIns="45720" rtlCol="0" anchor="b"/>
          <a:lstStyle>
            <a:lvl1pPr algn="r">
              <a:defRPr sz="1200"/>
            </a:lvl1pPr>
          </a:lstStyle>
          <a:p>
            <a:fld id="{98825B60-F2BA-46E5-8E2D-2D2B4D1E3830}" type="slidenum">
              <a:rPr lang="de-CH" smtClean="0"/>
              <a:t>‹#›</a:t>
            </a:fld>
            <a:endParaRPr lang="de-CH"/>
          </a:p>
        </p:txBody>
      </p:sp>
    </p:spTree>
    <p:extLst>
      <p:ext uri="{BB962C8B-B14F-4D97-AF65-F5344CB8AC3E}">
        <p14:creationId xmlns:p14="http://schemas.microsoft.com/office/powerpoint/2010/main" val="3979765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 percent of the </a:t>
            </a:r>
            <a:r>
              <a:rPr lang="en-US" dirty="0" err="1"/>
              <a:t>resindential</a:t>
            </a:r>
            <a:r>
              <a:rPr lang="en-US" dirty="0"/>
              <a:t> sector and roughly 50% of the total energy use</a:t>
            </a:r>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2</a:t>
            </a:fld>
            <a:endParaRPr lang="de-CH"/>
          </a:p>
        </p:txBody>
      </p:sp>
    </p:spTree>
    <p:extLst>
      <p:ext uri="{BB962C8B-B14F-4D97-AF65-F5344CB8AC3E}">
        <p14:creationId xmlns:p14="http://schemas.microsoft.com/office/powerpoint/2010/main" val="2790625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3</a:t>
            </a:fld>
            <a:endParaRPr lang="de-CH"/>
          </a:p>
        </p:txBody>
      </p:sp>
    </p:spTree>
    <p:extLst>
      <p:ext uri="{BB962C8B-B14F-4D97-AF65-F5344CB8AC3E}">
        <p14:creationId xmlns:p14="http://schemas.microsoft.com/office/powerpoint/2010/main" val="622306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Tractability is the simple approach lost</a:t>
            </a:r>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5</a:t>
            </a:fld>
            <a:endParaRPr lang="de-CH"/>
          </a:p>
        </p:txBody>
      </p:sp>
    </p:spTree>
    <p:extLst>
      <p:ext uri="{BB962C8B-B14F-4D97-AF65-F5344CB8AC3E}">
        <p14:creationId xmlns:p14="http://schemas.microsoft.com/office/powerpoint/2010/main" val="1613058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8</a:t>
            </a:fld>
            <a:endParaRPr lang="de-CH"/>
          </a:p>
        </p:txBody>
      </p:sp>
    </p:spTree>
    <p:extLst>
      <p:ext uri="{BB962C8B-B14F-4D97-AF65-F5344CB8AC3E}">
        <p14:creationId xmlns:p14="http://schemas.microsoft.com/office/powerpoint/2010/main" val="2387034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54483-3685-E635-C13F-EF0080CEA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72BC4-F8CE-DAE3-C5B4-EE6DC66BD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19190-DB8A-9138-8DB5-ACB018614CC5}"/>
              </a:ext>
            </a:extLst>
          </p:cNvPr>
          <p:cNvSpPr>
            <a:spLocks noGrp="1"/>
          </p:cNvSpPr>
          <p:nvPr>
            <p:ph type="body" idx="1"/>
          </p:nvPr>
        </p:nvSpPr>
        <p:spPr/>
        <p:txBody>
          <a:bodyPr/>
          <a:lstStyle/>
          <a:p>
            <a:r>
              <a:rPr lang="en-US" dirty="0"/>
              <a:t>Note for the 2 segments, the 3 segment is tighter than the 1 segment as it was expected but because the 2 segments constrains meet the bounds it approximates the curve better than the 3 segment one. But as a statement the more segments will tighten the envelope and therefore approximate the solution better. </a:t>
            </a:r>
            <a:r>
              <a:rPr lang="en-US" dirty="0" err="1"/>
              <a:t>TevapE</a:t>
            </a:r>
            <a:r>
              <a:rPr lang="en-US" dirty="0"/>
              <a:t>[-5,25]</a:t>
            </a:r>
            <a:endParaRPr lang="el-GR" dirty="0"/>
          </a:p>
        </p:txBody>
      </p:sp>
      <p:sp>
        <p:nvSpPr>
          <p:cNvPr id="4" name="Slide Number Placeholder 3">
            <a:extLst>
              <a:ext uri="{FF2B5EF4-FFF2-40B4-BE49-F238E27FC236}">
                <a16:creationId xmlns:a16="http://schemas.microsoft.com/office/drawing/2014/main" id="{CAD1BCBB-4B13-549C-14BC-C10DFC663485}"/>
              </a:ext>
            </a:extLst>
          </p:cNvPr>
          <p:cNvSpPr>
            <a:spLocks noGrp="1"/>
          </p:cNvSpPr>
          <p:nvPr>
            <p:ph type="sldNum" sz="quarter" idx="5"/>
          </p:nvPr>
        </p:nvSpPr>
        <p:spPr/>
        <p:txBody>
          <a:bodyPr/>
          <a:lstStyle/>
          <a:p>
            <a:fld id="{98825B60-F2BA-46E5-8E2D-2D2B4D1E3830}" type="slidenum">
              <a:rPr lang="de-CH" smtClean="0"/>
              <a:t>9</a:t>
            </a:fld>
            <a:endParaRPr lang="de-CH"/>
          </a:p>
        </p:txBody>
      </p:sp>
    </p:spTree>
    <p:extLst>
      <p:ext uri="{BB962C8B-B14F-4D97-AF65-F5344CB8AC3E}">
        <p14:creationId xmlns:p14="http://schemas.microsoft.com/office/powerpoint/2010/main" val="224121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Chiller is not an optimization problem and therefore is the same at all of them, and boiler is the same because it is being sized by the maximum heat demand during the charging period with the data and charging period selected.</a:t>
            </a:r>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12</a:t>
            </a:fld>
            <a:endParaRPr lang="de-CH"/>
          </a:p>
        </p:txBody>
      </p:sp>
    </p:spTree>
    <p:extLst>
      <p:ext uri="{BB962C8B-B14F-4D97-AF65-F5344CB8AC3E}">
        <p14:creationId xmlns:p14="http://schemas.microsoft.com/office/powerpoint/2010/main" val="100613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A941C-AE5A-27D5-7F2E-45051846E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4EBE3-773E-267A-89F8-A7A204C10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0C608-9D1C-AB12-4527-CF0E83825B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interaction between the discrete BTES design options and the geometry of the McCormick relaxation was found to play an equally important role in determining the final solution</a:t>
            </a:r>
            <a:endParaRPr lang="el-GR" dirty="0"/>
          </a:p>
          <a:p>
            <a:endParaRPr lang="el-GR" dirty="0"/>
          </a:p>
        </p:txBody>
      </p:sp>
      <p:sp>
        <p:nvSpPr>
          <p:cNvPr id="4" name="Slide Number Placeholder 3">
            <a:extLst>
              <a:ext uri="{FF2B5EF4-FFF2-40B4-BE49-F238E27FC236}">
                <a16:creationId xmlns:a16="http://schemas.microsoft.com/office/drawing/2014/main" id="{F0148C58-12F5-3BAF-B34F-F91463C16691}"/>
              </a:ext>
            </a:extLst>
          </p:cNvPr>
          <p:cNvSpPr>
            <a:spLocks noGrp="1"/>
          </p:cNvSpPr>
          <p:nvPr>
            <p:ph type="sldNum" sz="quarter" idx="5"/>
          </p:nvPr>
        </p:nvSpPr>
        <p:spPr/>
        <p:txBody>
          <a:bodyPr/>
          <a:lstStyle/>
          <a:p>
            <a:fld id="{98825B60-F2BA-46E5-8E2D-2D2B4D1E3830}" type="slidenum">
              <a:rPr lang="de-CH" smtClean="0"/>
              <a:t>17</a:t>
            </a:fld>
            <a:endParaRPr lang="de-CH"/>
          </a:p>
        </p:txBody>
      </p:sp>
    </p:spTree>
    <p:extLst>
      <p:ext uri="{BB962C8B-B14F-4D97-AF65-F5344CB8AC3E}">
        <p14:creationId xmlns:p14="http://schemas.microsoft.com/office/powerpoint/2010/main" val="3691724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7AB4-928C-0A40-2393-5C8BEFF2A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63431-0B18-5439-0EC9-71F2E065E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15B5E-45B0-1546-1DE6-B5B3013A4999}"/>
              </a:ext>
            </a:extLst>
          </p:cNvPr>
          <p:cNvSpPr>
            <a:spLocks noGrp="1"/>
          </p:cNvSpPr>
          <p:nvPr>
            <p:ph type="body" idx="1"/>
          </p:nvPr>
        </p:nvSpPr>
        <p:spPr/>
        <p:txBody>
          <a:bodyPr/>
          <a:lstStyle/>
          <a:p>
            <a:r>
              <a:rPr lang="en-US" dirty="0"/>
              <a:t>Chiller is not an optimization problem and therefore is the same at all of them, and boiler is the same because it is being sized by the maximum heat demand during the charging period with the data and charging period selected.</a:t>
            </a:r>
            <a:endParaRPr lang="el-GR" dirty="0"/>
          </a:p>
        </p:txBody>
      </p:sp>
      <p:sp>
        <p:nvSpPr>
          <p:cNvPr id="4" name="Slide Number Placeholder 3">
            <a:extLst>
              <a:ext uri="{FF2B5EF4-FFF2-40B4-BE49-F238E27FC236}">
                <a16:creationId xmlns:a16="http://schemas.microsoft.com/office/drawing/2014/main" id="{1A1E09D4-2602-B100-E1F8-6637C584ABDF}"/>
              </a:ext>
            </a:extLst>
          </p:cNvPr>
          <p:cNvSpPr>
            <a:spLocks noGrp="1"/>
          </p:cNvSpPr>
          <p:nvPr>
            <p:ph type="sldNum" sz="quarter" idx="5"/>
          </p:nvPr>
        </p:nvSpPr>
        <p:spPr/>
        <p:txBody>
          <a:bodyPr/>
          <a:lstStyle/>
          <a:p>
            <a:fld id="{98825B60-F2BA-46E5-8E2D-2D2B4D1E3830}" type="slidenum">
              <a:rPr lang="de-CH" smtClean="0"/>
              <a:t>23</a:t>
            </a:fld>
            <a:endParaRPr lang="de-CH"/>
          </a:p>
        </p:txBody>
      </p:sp>
    </p:spTree>
    <p:extLst>
      <p:ext uri="{BB962C8B-B14F-4D97-AF65-F5344CB8AC3E}">
        <p14:creationId xmlns:p14="http://schemas.microsoft.com/office/powerpoint/2010/main" val="563419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charging period selected from the MILP and thus different boiler, also for the tractability and thus the computational complexity of the problem even though the bilinear constrains are removed the </a:t>
            </a:r>
            <a:r>
              <a:rPr lang="en-US" dirty="0" err="1"/>
              <a:t>gurobi</a:t>
            </a:r>
            <a:r>
              <a:rPr lang="en-US" dirty="0"/>
              <a:t> solver is able to solve much easier the non linear problem rather than the linear because of the 6 added constrains </a:t>
            </a:r>
            <a:endParaRPr lang="el-GR" dirty="0"/>
          </a:p>
        </p:txBody>
      </p:sp>
      <p:sp>
        <p:nvSpPr>
          <p:cNvPr id="4" name="Slide Number Placeholder 3"/>
          <p:cNvSpPr>
            <a:spLocks noGrp="1"/>
          </p:cNvSpPr>
          <p:nvPr>
            <p:ph type="sldNum" sz="quarter" idx="5"/>
          </p:nvPr>
        </p:nvSpPr>
        <p:spPr/>
        <p:txBody>
          <a:bodyPr/>
          <a:lstStyle/>
          <a:p>
            <a:fld id="{98825B60-F2BA-46E5-8E2D-2D2B4D1E3830}" type="slidenum">
              <a:rPr lang="de-CH" smtClean="0"/>
              <a:t>24</a:t>
            </a:fld>
            <a:endParaRPr lang="de-CH"/>
          </a:p>
        </p:txBody>
      </p:sp>
    </p:spTree>
    <p:extLst>
      <p:ext uri="{BB962C8B-B14F-4D97-AF65-F5344CB8AC3E}">
        <p14:creationId xmlns:p14="http://schemas.microsoft.com/office/powerpoint/2010/main" val="3135788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DCF86-9321-4F2A-05CB-35F72AD4D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9A42C-EA23-96C4-7D17-07931E00E9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4EE816-5C9E-19A5-05A8-DEE426BFF804}"/>
              </a:ext>
            </a:extLst>
          </p:cNvPr>
          <p:cNvSpPr>
            <a:spLocks noGrp="1"/>
          </p:cNvSpPr>
          <p:nvPr>
            <p:ph type="body" idx="1"/>
          </p:nvPr>
        </p:nvSpPr>
        <p:spPr/>
        <p:txBody>
          <a:bodyPr/>
          <a:lstStyle/>
          <a:p>
            <a:r>
              <a:rPr lang="en-US" dirty="0" err="1"/>
              <a:t>Continouing</a:t>
            </a:r>
            <a:r>
              <a:rPr lang="en-US" dirty="0"/>
              <a:t> the mathematical model comparison we add 2 more discrete sizes and also we test the 2 seg. Model </a:t>
            </a:r>
            <a:endParaRPr lang="el-GR" dirty="0"/>
          </a:p>
        </p:txBody>
      </p:sp>
      <p:sp>
        <p:nvSpPr>
          <p:cNvPr id="4" name="Slide Number Placeholder 3">
            <a:extLst>
              <a:ext uri="{FF2B5EF4-FFF2-40B4-BE49-F238E27FC236}">
                <a16:creationId xmlns:a16="http://schemas.microsoft.com/office/drawing/2014/main" id="{48EEECDD-60D0-28A1-6A71-CF44C0D6A35D}"/>
              </a:ext>
            </a:extLst>
          </p:cNvPr>
          <p:cNvSpPr>
            <a:spLocks noGrp="1"/>
          </p:cNvSpPr>
          <p:nvPr>
            <p:ph type="sldNum" sz="quarter" idx="5"/>
          </p:nvPr>
        </p:nvSpPr>
        <p:spPr/>
        <p:txBody>
          <a:bodyPr/>
          <a:lstStyle/>
          <a:p>
            <a:fld id="{98825B60-F2BA-46E5-8E2D-2D2B4D1E3830}" type="slidenum">
              <a:rPr lang="de-CH" smtClean="0"/>
              <a:t>25</a:t>
            </a:fld>
            <a:endParaRPr lang="de-CH"/>
          </a:p>
        </p:txBody>
      </p:sp>
    </p:spTree>
    <p:extLst>
      <p:ext uri="{BB962C8B-B14F-4D97-AF65-F5344CB8AC3E}">
        <p14:creationId xmlns:p14="http://schemas.microsoft.com/office/powerpoint/2010/main" val="847934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A305-2235-30B2-44D4-9A85CDE60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16326-D572-7E52-EF60-2B3C49E69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CD6FE-2610-81C1-4B39-BE466FE01F73}"/>
              </a:ext>
            </a:extLst>
          </p:cNvPr>
          <p:cNvSpPr>
            <a:spLocks noGrp="1"/>
          </p:cNvSpPr>
          <p:nvPr>
            <p:ph type="body" idx="1"/>
          </p:nvPr>
        </p:nvSpPr>
        <p:spPr/>
        <p:txBody>
          <a:bodyPr/>
          <a:lstStyle/>
          <a:p>
            <a:r>
              <a:rPr lang="en-US" dirty="0"/>
              <a:t>Note for the 2 segments, the 3 segment is tighter than the 1 segment as it was expected but because the 2 segments constrains meet the bounds it approximates the curve better than the 3 segment one. But as a statement the more segments will tighten the envelope and therefore approximate the solution better.</a:t>
            </a:r>
            <a:endParaRPr lang="el-GR" dirty="0"/>
          </a:p>
        </p:txBody>
      </p:sp>
      <p:sp>
        <p:nvSpPr>
          <p:cNvPr id="4" name="Slide Number Placeholder 3">
            <a:extLst>
              <a:ext uri="{FF2B5EF4-FFF2-40B4-BE49-F238E27FC236}">
                <a16:creationId xmlns:a16="http://schemas.microsoft.com/office/drawing/2014/main" id="{0DE1F653-F77B-0BDB-6EDE-29DC4BBCC1C0}"/>
              </a:ext>
            </a:extLst>
          </p:cNvPr>
          <p:cNvSpPr>
            <a:spLocks noGrp="1"/>
          </p:cNvSpPr>
          <p:nvPr>
            <p:ph type="sldNum" sz="quarter" idx="5"/>
          </p:nvPr>
        </p:nvSpPr>
        <p:spPr/>
        <p:txBody>
          <a:bodyPr/>
          <a:lstStyle/>
          <a:p>
            <a:fld id="{98825B60-F2BA-46E5-8E2D-2D2B4D1E3830}" type="slidenum">
              <a:rPr lang="de-CH" smtClean="0"/>
              <a:t>29</a:t>
            </a:fld>
            <a:endParaRPr lang="de-CH"/>
          </a:p>
        </p:txBody>
      </p:sp>
    </p:spTree>
    <p:extLst>
      <p:ext uri="{BB962C8B-B14F-4D97-AF65-F5344CB8AC3E}">
        <p14:creationId xmlns:p14="http://schemas.microsoft.com/office/powerpoint/2010/main" val="227811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l-GR" dirty="0"/>
                  <a:t>Available </a:t>
                </a:r>
                <a:r>
                  <a:rPr lang="el-GR" dirty="0" err="1"/>
                  <a:t>waste</a:t>
                </a:r>
                <a:r>
                  <a:rPr lang="el-GR" dirty="0"/>
                  <a:t> </a:t>
                </a:r>
                <a:r>
                  <a:rPr lang="el-GR" dirty="0" err="1"/>
                  <a:t>heat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WH</m:t>
                        </m:r>
                      </m:sub>
                    </m:sSub>
                    <m:r>
                      <a:rPr lang="el-GR" i="0" dirty="0">
                        <a:latin typeface="Cambria Math" panose="02040503050406030204" pitchFamily="18" charset="0"/>
                      </a:rPr>
                      <m:t>=</m:t>
                    </m:r>
                    <m:nary>
                      <m:naryPr>
                        <m:chr m:val="∑"/>
                        <m:limLoc m:val="undOvr"/>
                        <m:subHide m:val="on"/>
                        <m:supHide m:val="on"/>
                        <m:ctrlPr>
                          <a:rPr lang="el-GR" i="1" dirty="0">
                            <a:latin typeface="Cambria Math" panose="02040503050406030204" pitchFamily="18" charset="0"/>
                          </a:rPr>
                        </m:ctrlPr>
                      </m:naryPr>
                      <m:sub/>
                      <m:sup/>
                      <m:e>
                        <m:sSub>
                          <m:sSubPr>
                            <m:ctrlPr>
                              <a:rPr lang="el-GR" i="1" dirty="0">
                                <a:latin typeface="Cambria Math" panose="02040503050406030204" pitchFamily="18" charset="0"/>
                              </a:rPr>
                            </m:ctrlPr>
                          </m:sSubPr>
                          <m:e>
                            <m:r>
                              <a:rPr lang="el-GR" i="1" dirty="0">
                                <a:latin typeface="Cambria Math" panose="02040503050406030204" pitchFamily="18" charset="0"/>
                              </a:rPr>
                              <m:t>𝑄</m:t>
                            </m:r>
                          </m:e>
                          <m:sub>
                            <m:r>
                              <m:rPr>
                                <m:sty m:val="p"/>
                              </m:rPr>
                              <a:rPr lang="el-GR" i="0" dirty="0">
                                <a:latin typeface="Cambria Math" panose="02040503050406030204" pitchFamily="18" charset="0"/>
                              </a:rPr>
                              <m:t>cool</m:t>
                            </m:r>
                          </m:sub>
                        </m:sSub>
                      </m:e>
                    </m:nary>
                    <m:d>
                      <m:dPr>
                        <m:ctrlPr>
                          <a:rPr lang="el-GR" i="0" dirty="0">
                            <a:latin typeface="Cambria Math" panose="02040503050406030204" pitchFamily="18" charset="0"/>
                          </a:rPr>
                        </m:ctrlPr>
                      </m:dPr>
                      <m:e>
                        <m:r>
                          <a:rPr lang="el-GR" i="0" dirty="0">
                            <a:latin typeface="Cambria Math" panose="02040503050406030204" pitchFamily="18" charset="0"/>
                          </a:rPr>
                          <m:t>1+</m:t>
                        </m:r>
                        <m:f>
                          <m:fPr>
                            <m:ctrlPr>
                              <a:rPr lang="el-GR" i="0" dirty="0">
                                <a:latin typeface="Cambria Math" panose="02040503050406030204" pitchFamily="18" charset="0"/>
                              </a:rPr>
                            </m:ctrlPr>
                          </m:fPr>
                          <m:num>
                            <m:r>
                              <a:rPr lang="el-GR" i="0" dirty="0">
                                <a:latin typeface="Cambria Math" panose="02040503050406030204" pitchFamily="18" charset="0"/>
                              </a:rPr>
                              <m:t>1</m:t>
                            </m:r>
                          </m:num>
                          <m:den>
                            <m:r>
                              <a:rPr lang="el-GR" i="1" dirty="0">
                                <a:latin typeface="Cambria Math" panose="02040503050406030204" pitchFamily="18" charset="0"/>
                              </a:rPr>
                              <m:t>𝐶𝑂</m:t>
                            </m:r>
                            <m:sSub>
                              <m:sSubPr>
                                <m:ctrlPr>
                                  <a:rPr lang="el-GR" i="1" dirty="0">
                                    <a:latin typeface="Cambria Math" panose="02040503050406030204" pitchFamily="18" charset="0"/>
                                  </a:rPr>
                                </m:ctrlPr>
                              </m:sSubPr>
                              <m:e>
                                <m:r>
                                  <a:rPr lang="el-GR" i="1" dirty="0">
                                    <a:latin typeface="Cambria Math" panose="02040503050406030204" pitchFamily="18" charset="0"/>
                                  </a:rPr>
                                  <m:t>𝑃</m:t>
                                </m:r>
                              </m:e>
                              <m:sub>
                                <m:r>
                                  <m:rPr>
                                    <m:sty m:val="p"/>
                                  </m:rPr>
                                  <a:rPr lang="el-GR" i="0" dirty="0">
                                    <a:latin typeface="Cambria Math" panose="02040503050406030204" pitchFamily="18" charset="0"/>
                                  </a:rPr>
                                  <m:t>chiller</m:t>
                                </m:r>
                              </m:sub>
                            </m:sSub>
                          </m:den>
                        </m:f>
                      </m:e>
                    </m:d>
                  </m:oMath>
                </a14:m>
                <a:r>
                  <a:rPr lang="en-US" dirty="0"/>
                  <a:t>, </a:t>
                </a:r>
                <a:r>
                  <a:rPr lang="el-GR" dirty="0" err="1"/>
                  <a:t>Calculates</a:t>
                </a:r>
                <a:r>
                  <a:rPr lang="el-GR" dirty="0"/>
                  <a:t> the </a:t>
                </a:r>
                <a:r>
                  <a:rPr lang="el-GR" dirty="0" err="1"/>
                  <a:t>heat</a:t>
                </a:r>
                <a:r>
                  <a:rPr lang="el-GR" dirty="0"/>
                  <a:t> </a:t>
                </a:r>
                <a:r>
                  <a:rPr lang="el-GR" dirty="0" err="1"/>
                  <a:t>available</a:t>
                </a:r>
                <a:r>
                  <a:rPr lang="el-GR" dirty="0"/>
                  <a:t> for BTES </a:t>
                </a:r>
                <a:r>
                  <a:rPr lang="el-GR" dirty="0" err="1"/>
                  <a:t>charging</a:t>
                </a:r>
                <a:r>
                  <a:rPr lang="el-GR" dirty="0"/>
                  <a:t> </a:t>
                </a:r>
                <a:r>
                  <a:rPr lang="el-GR" dirty="0" err="1"/>
                  <a:t>during</a:t>
                </a:r>
                <a:r>
                  <a:rPr lang="el-GR" dirty="0"/>
                  <a:t> </a:t>
                </a:r>
                <a:r>
                  <a:rPr lang="el-GR" dirty="0" err="1"/>
                  <a:t>summer</a:t>
                </a:r>
                <a:r>
                  <a:rPr lang="el-GR" dirty="0"/>
                  <a:t>.</a:t>
                </a:r>
                <a:endParaRPr lang="en-US" dirty="0"/>
              </a:p>
              <a:p>
                <a:r>
                  <a:rPr lang="en-US" dirty="0"/>
                  <a:t>B</a:t>
                </a:r>
                <a:r>
                  <a:rPr lang="el-GR" dirty="0"/>
                  <a:t>TES-</a:t>
                </a:r>
                <a:r>
                  <a:rPr lang="el-GR" dirty="0" err="1"/>
                  <a:t>side</a:t>
                </a:r>
                <a:r>
                  <a:rPr lang="el-GR" dirty="0"/>
                  <a:t> </a:t>
                </a:r>
                <a:r>
                  <a:rPr lang="el-GR" dirty="0" err="1"/>
                  <a:t>heating</a:t>
                </a:r>
                <a:r>
                  <a:rPr lang="el-GR" dirty="0"/>
                  <a:t> </a:t>
                </a:r>
                <a:r>
                  <a:rPr lang="el-GR" dirty="0" err="1"/>
                  <a:t>demand</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dem</m:t>
                        </m:r>
                        <m:r>
                          <a:rPr lang="el-GR" i="0" dirty="0">
                            <a:latin typeface="Cambria Math" panose="02040503050406030204" pitchFamily="18" charset="0"/>
                          </a:rPr>
                          <m:t>,</m:t>
                        </m:r>
                        <m:r>
                          <m:rPr>
                            <m:sty m:val="p"/>
                          </m:rPr>
                          <a:rPr lang="el-GR" i="0" dirty="0">
                            <a:latin typeface="Cambria Math" panose="02040503050406030204" pitchFamily="18" charset="0"/>
                          </a:rPr>
                          <m:t>BTES</m:t>
                        </m:r>
                      </m:sub>
                    </m:sSub>
                    <m:r>
                      <a:rPr lang="el-GR" i="0" dirty="0">
                        <a:latin typeface="Cambria Math" panose="02040503050406030204" pitchFamily="18" charset="0"/>
                      </a:rPr>
                      <m:t>=</m:t>
                    </m:r>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heat</m:t>
                        </m:r>
                      </m:sub>
                    </m:sSub>
                    <m:d>
                      <m:dPr>
                        <m:ctrlPr>
                          <a:rPr lang="el-GR" i="0" dirty="0">
                            <a:latin typeface="Cambria Math" panose="02040503050406030204" pitchFamily="18" charset="0"/>
                          </a:rPr>
                        </m:ctrlPr>
                      </m:dPr>
                      <m:e>
                        <m:r>
                          <a:rPr lang="el-GR" i="0" dirty="0">
                            <a:latin typeface="Cambria Math" panose="02040503050406030204" pitchFamily="18" charset="0"/>
                          </a:rPr>
                          <m:t>1−</m:t>
                        </m:r>
                        <m:f>
                          <m:fPr>
                            <m:ctrlPr>
                              <a:rPr lang="el-GR" i="0" dirty="0">
                                <a:latin typeface="Cambria Math" panose="02040503050406030204" pitchFamily="18" charset="0"/>
                              </a:rPr>
                            </m:ctrlPr>
                          </m:fPr>
                          <m:num>
                            <m:r>
                              <a:rPr lang="el-GR" i="0" dirty="0">
                                <a:latin typeface="Cambria Math" panose="02040503050406030204" pitchFamily="18" charset="0"/>
                              </a:rPr>
                              <m:t>1</m:t>
                            </m:r>
                          </m:num>
                          <m:den>
                            <m:r>
                              <a:rPr lang="el-GR" i="1" dirty="0">
                                <a:latin typeface="Cambria Math" panose="02040503050406030204" pitchFamily="18" charset="0"/>
                              </a:rPr>
                              <m:t>𝐶𝑂</m:t>
                            </m:r>
                            <m:sSub>
                              <m:sSubPr>
                                <m:ctrlPr>
                                  <a:rPr lang="el-GR" i="1" dirty="0">
                                    <a:latin typeface="Cambria Math" panose="02040503050406030204" pitchFamily="18" charset="0"/>
                                  </a:rPr>
                                </m:ctrlPr>
                              </m:sSubPr>
                              <m:e>
                                <m:r>
                                  <a:rPr lang="el-GR" i="1" dirty="0">
                                    <a:latin typeface="Cambria Math" panose="02040503050406030204" pitchFamily="18" charset="0"/>
                                  </a:rPr>
                                  <m:t>𝑃</m:t>
                                </m:r>
                              </m:e>
                              <m:sub>
                                <m:r>
                                  <m:rPr>
                                    <m:sty m:val="p"/>
                                  </m:rPr>
                                  <a:rPr lang="el-GR" i="0" dirty="0">
                                    <a:latin typeface="Cambria Math" panose="02040503050406030204" pitchFamily="18" charset="0"/>
                                  </a:rPr>
                                  <m:t>HP</m:t>
                                </m:r>
                              </m:sub>
                            </m:sSub>
                          </m:den>
                        </m:f>
                      </m:e>
                    </m:d>
                  </m:oMath>
                </a14:m>
                <a:r>
                  <a:rPr lang="en-US" dirty="0"/>
                  <a:t>, </a:t>
                </a:r>
                <a:r>
                  <a:rPr lang="el-GR" dirty="0" err="1"/>
                  <a:t>Converts</a:t>
                </a:r>
                <a:r>
                  <a:rPr lang="el-GR" dirty="0"/>
                  <a:t> </a:t>
                </a:r>
                <a:r>
                  <a:rPr lang="el-GR" dirty="0" err="1"/>
                  <a:t>winter</a:t>
                </a:r>
                <a:r>
                  <a:rPr lang="el-GR" dirty="0"/>
                  <a:t> </a:t>
                </a:r>
                <a:r>
                  <a:rPr lang="el-GR" dirty="0" err="1"/>
                  <a:t>heating</a:t>
                </a:r>
                <a:r>
                  <a:rPr lang="el-GR" dirty="0"/>
                  <a:t> </a:t>
                </a:r>
                <a:r>
                  <a:rPr lang="el-GR" dirty="0" err="1"/>
                  <a:t>demand</a:t>
                </a:r>
                <a:r>
                  <a:rPr lang="el-GR" dirty="0"/>
                  <a:t> </a:t>
                </a:r>
                <a:r>
                  <a:rPr lang="el-GR" dirty="0" err="1"/>
                  <a:t>into</a:t>
                </a:r>
                <a:r>
                  <a:rPr lang="el-GR" dirty="0"/>
                  <a:t> the </a:t>
                </a:r>
                <a:r>
                  <a:rPr lang="el-GR" dirty="0" err="1"/>
                  <a:t>required</a:t>
                </a:r>
                <a:r>
                  <a:rPr lang="el-GR" dirty="0"/>
                  <a:t> </a:t>
                </a:r>
                <a:r>
                  <a:rPr lang="el-GR" dirty="0" err="1"/>
                  <a:t>heat</a:t>
                </a:r>
                <a:r>
                  <a:rPr lang="el-GR" dirty="0"/>
                  <a:t> </a:t>
                </a:r>
                <a:r>
                  <a:rPr lang="el-GR" dirty="0" err="1"/>
                  <a:t>extraction</a:t>
                </a:r>
                <a:r>
                  <a:rPr lang="el-GR" dirty="0"/>
                  <a:t> </a:t>
                </a:r>
                <a:r>
                  <a:rPr lang="el-GR" dirty="0" err="1"/>
                  <a:t>from</a:t>
                </a:r>
                <a:r>
                  <a:rPr lang="el-GR" dirty="0"/>
                  <a:t> the BTES.</a:t>
                </a:r>
              </a:p>
              <a:p>
                <a:r>
                  <a:rPr lang="el-GR" dirty="0" err="1"/>
                  <a:t>Required</a:t>
                </a:r>
                <a:r>
                  <a:rPr lang="el-GR" dirty="0"/>
                  <a:t> </a:t>
                </a:r>
                <a:r>
                  <a:rPr lang="el-GR" dirty="0" err="1"/>
                  <a:t>storage</a:t>
                </a:r>
                <a:r>
                  <a:rPr lang="el-GR" dirty="0"/>
                  <a:t> </a:t>
                </a:r>
                <a:r>
                  <a:rPr lang="el-GR" dirty="0" err="1"/>
                  <a:t>energy</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BTES</m:t>
                        </m:r>
                      </m:sub>
                    </m:sSub>
                    <m:r>
                      <a:rPr lang="el-GR" i="0" dirty="0">
                        <a:latin typeface="Cambria Math" panose="02040503050406030204" pitchFamily="18" charset="0"/>
                      </a:rPr>
                      <m:t>=</m:t>
                    </m:r>
                    <m:func>
                      <m:funcPr>
                        <m:ctrlPr>
                          <a:rPr lang="el-GR" i="0" dirty="0">
                            <a:latin typeface="Cambria Math" panose="02040503050406030204" pitchFamily="18" charset="0"/>
                          </a:rPr>
                        </m:ctrlPr>
                      </m:funcPr>
                      <m:fName>
                        <m:r>
                          <m:rPr>
                            <m:sty m:val="p"/>
                          </m:rPr>
                          <a:rPr lang="el-GR" i="0" dirty="0">
                            <a:latin typeface="Cambria Math" panose="02040503050406030204" pitchFamily="18" charset="0"/>
                          </a:rPr>
                          <m:t>min</m:t>
                        </m:r>
                      </m:fName>
                      <m:e>
                        <m:d>
                          <m:dPr>
                            <m:ctrlPr>
                              <a:rPr lang="el-GR" i="1" dirty="0">
                                <a:latin typeface="Cambria Math" panose="02040503050406030204" pitchFamily="18" charset="0"/>
                              </a:rPr>
                            </m:ctrlPr>
                          </m:dPr>
                          <m:e>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WH</m:t>
                                </m:r>
                              </m:sub>
                            </m:sSub>
                            <m:r>
                              <a:rPr lang="el-GR" i="0" dirty="0">
                                <a:latin typeface="Cambria Math" panose="02040503050406030204" pitchFamily="18" charset="0"/>
                              </a:rPr>
                              <m:t>,</m:t>
                            </m:r>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dem</m:t>
                                </m:r>
                                <m:r>
                                  <a:rPr lang="el-GR" i="0" dirty="0">
                                    <a:latin typeface="Cambria Math" panose="02040503050406030204" pitchFamily="18" charset="0"/>
                                  </a:rPr>
                                  <m:t>,</m:t>
                                </m:r>
                                <m:r>
                                  <m:rPr>
                                    <m:sty m:val="p"/>
                                  </m:rPr>
                                  <a:rPr lang="el-GR" i="0" dirty="0">
                                    <a:latin typeface="Cambria Math" panose="02040503050406030204" pitchFamily="18" charset="0"/>
                                  </a:rPr>
                                  <m:t>BTES</m:t>
                                </m:r>
                              </m:sub>
                            </m:sSub>
                          </m:e>
                        </m:d>
                      </m:e>
                    </m:func>
                  </m:oMath>
                </a14:m>
                <a:r>
                  <a:rPr lang="en-US" dirty="0"/>
                  <a:t>, </a:t>
                </a:r>
                <a:r>
                  <a:rPr lang="el-GR" dirty="0" err="1"/>
                  <a:t>Sets</a:t>
                </a:r>
                <a:r>
                  <a:rPr lang="el-GR" dirty="0"/>
                  <a:t> the </a:t>
                </a:r>
                <a:r>
                  <a:rPr lang="el-GR" dirty="0" err="1"/>
                  <a:t>storage</a:t>
                </a:r>
                <a:r>
                  <a:rPr lang="el-GR" dirty="0"/>
                  <a:t> </a:t>
                </a:r>
                <a:r>
                  <a:rPr lang="el-GR" dirty="0" err="1"/>
                  <a:t>size</a:t>
                </a:r>
                <a:r>
                  <a:rPr lang="el-GR" dirty="0"/>
                  <a:t> </a:t>
                </a:r>
                <a:r>
                  <a:rPr lang="el-GR" dirty="0" err="1"/>
                  <a:t>based</a:t>
                </a:r>
                <a:r>
                  <a:rPr lang="el-GR" dirty="0"/>
                  <a:t> on the </a:t>
                </a:r>
                <a:r>
                  <a:rPr lang="el-GR" dirty="0" err="1"/>
                  <a:t>limiting</a:t>
                </a:r>
                <a:r>
                  <a:rPr lang="el-GR" dirty="0"/>
                  <a:t> </a:t>
                </a:r>
                <a:r>
                  <a:rPr lang="el-GR" dirty="0" err="1"/>
                  <a:t>energy</a:t>
                </a:r>
                <a:r>
                  <a:rPr lang="el-GR" dirty="0"/>
                  <a:t> </a:t>
                </a:r>
                <a:r>
                  <a:rPr lang="el-GR" dirty="0" err="1"/>
                  <a:t>quantity</a:t>
                </a:r>
                <a:r>
                  <a:rPr lang="el-GR" dirty="0"/>
                  <a:t>.</a:t>
                </a:r>
              </a:p>
              <a:p>
                <a:r>
                  <a:rPr lang="el-GR" dirty="0"/>
                  <a:t>Number of </a:t>
                </a:r>
                <a:r>
                  <a:rPr lang="el-GR" dirty="0" err="1"/>
                  <a:t>boreholes</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𝑁</m:t>
                        </m:r>
                      </m:e>
                      <m:sub>
                        <m:r>
                          <m:rPr>
                            <m:sty m:val="p"/>
                          </m:rPr>
                          <a:rPr lang="el-GR" i="0" dirty="0">
                            <a:latin typeface="Cambria Math" panose="02040503050406030204" pitchFamily="18" charset="0"/>
                          </a:rPr>
                          <m:t>BH</m:t>
                        </m:r>
                      </m:sub>
                    </m:sSub>
                    <m:r>
                      <a:rPr lang="el-GR" i="0" dirty="0">
                        <a:latin typeface="Cambria Math" panose="02040503050406030204" pitchFamily="18" charset="0"/>
                      </a:rPr>
                      <m:t>=</m:t>
                    </m:r>
                    <m:d>
                      <m:dPr>
                        <m:begChr m:val="⌈"/>
                        <m:endChr m:val="⌉"/>
                        <m:ctrlPr>
                          <a:rPr lang="el-GR" i="1" dirty="0">
                            <a:latin typeface="Cambria Math" panose="02040503050406030204" pitchFamily="18" charset="0"/>
                          </a:rPr>
                        </m:ctrlPr>
                      </m:dPr>
                      <m:e>
                        <m:f>
                          <m:fPr>
                            <m:ctrlPr>
                              <a:rPr lang="el-GR" i="1" dirty="0">
                                <a:latin typeface="Cambria Math" panose="02040503050406030204" pitchFamily="18" charset="0"/>
                              </a:rPr>
                            </m:ctrlPr>
                          </m:fPr>
                          <m:num>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BTES</m:t>
                                </m:r>
                              </m:sub>
                            </m:sSub>
                          </m:num>
                          <m:den>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capacity</m:t>
                                </m:r>
                                <m:r>
                                  <a:rPr lang="el-GR" i="0" dirty="0">
                                    <a:latin typeface="Cambria Math" panose="02040503050406030204" pitchFamily="18" charset="0"/>
                                  </a:rPr>
                                  <m:t>,</m:t>
                                </m:r>
                                <m:r>
                                  <m:rPr>
                                    <m:sty m:val="p"/>
                                  </m:rPr>
                                  <a:rPr lang="el-GR" i="0" dirty="0">
                                    <a:latin typeface="Cambria Math" panose="02040503050406030204" pitchFamily="18" charset="0"/>
                                  </a:rPr>
                                  <m:t>BH</m:t>
                                </m:r>
                              </m:sub>
                            </m:sSub>
                          </m:den>
                        </m:f>
                      </m:e>
                    </m:d>
                  </m:oMath>
                </a14:m>
                <a:r>
                  <a:rPr lang="en-US" dirty="0"/>
                  <a:t>, </a:t>
                </a:r>
                <a:r>
                  <a:rPr lang="el-GR" dirty="0" err="1"/>
                  <a:t>Estimates</a:t>
                </a:r>
                <a:r>
                  <a:rPr lang="el-GR" dirty="0"/>
                  <a:t> the </a:t>
                </a:r>
                <a:r>
                  <a:rPr lang="el-GR" dirty="0" err="1"/>
                  <a:t>required</a:t>
                </a:r>
                <a:r>
                  <a:rPr lang="el-GR" dirty="0"/>
                  <a:t> </a:t>
                </a:r>
                <a:r>
                  <a:rPr lang="el-GR" dirty="0" err="1"/>
                  <a:t>number</a:t>
                </a:r>
                <a:r>
                  <a:rPr lang="el-GR" dirty="0"/>
                  <a:t> of </a:t>
                </a:r>
                <a:r>
                  <a:rPr lang="el-GR" dirty="0" err="1"/>
                  <a:t>boreholes</a:t>
                </a:r>
                <a:endParaRPr lang="en-US" dirty="0"/>
              </a:p>
              <a:p>
                <a:r>
                  <a:rPr lang="el-GR" dirty="0" err="1"/>
                  <a:t>Daily</a:t>
                </a:r>
                <a:r>
                  <a:rPr lang="el-GR" dirty="0"/>
                  <a:t> BTES </a:t>
                </a:r>
                <a:r>
                  <a:rPr lang="el-GR" dirty="0" err="1"/>
                  <a:t>temperature</a:t>
                </a:r>
                <a:r>
                  <a:rPr lang="el-GR" dirty="0"/>
                  <a:t>:</a:t>
                </a:r>
                <a:r>
                  <a:rPr lang="en-US" dirty="0"/>
                  <a:t> </a:t>
                </a:r>
                <a14:m>
                  <m:oMath xmlns:m="http://schemas.openxmlformats.org/officeDocument/2006/math">
                    <m:sSub>
                      <m:sSubPr>
                        <m:ctrlPr>
                          <a:rPr lang="el-GR" b="1" i="1" dirty="0">
                            <a:latin typeface="Cambria Math" panose="02040503050406030204" pitchFamily="18" charset="0"/>
                          </a:rPr>
                        </m:ctrlPr>
                      </m:sSubPr>
                      <m:e>
                        <m:r>
                          <a:rPr lang="el-GR" b="1" i="1" dirty="0">
                            <a:latin typeface="Cambria Math" panose="02040503050406030204" pitchFamily="18" charset="0"/>
                          </a:rPr>
                          <m:t>𝑇</m:t>
                        </m:r>
                      </m:e>
                      <m:sub>
                        <m:r>
                          <a:rPr lang="el-GR" b="1" i="1" dirty="0">
                            <a:latin typeface="Cambria Math" panose="02040503050406030204" pitchFamily="18" charset="0"/>
                          </a:rPr>
                          <m:t>𝑡</m:t>
                        </m:r>
                        <m:r>
                          <a:rPr lang="el-GR" b="1" i="0" dirty="0">
                            <a:latin typeface="Cambria Math" panose="02040503050406030204" pitchFamily="18" charset="0"/>
                          </a:rPr>
                          <m:t>+1</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𝑇</m:t>
                        </m:r>
                      </m:e>
                      <m:sub>
                        <m:r>
                          <a:rPr lang="el-GR" b="1" i="1" dirty="0">
                            <a:latin typeface="Cambria Math" panose="02040503050406030204" pitchFamily="18" charset="0"/>
                          </a:rPr>
                          <m:t>𝑡</m:t>
                        </m:r>
                      </m:sub>
                    </m:sSub>
                    <m:r>
                      <a:rPr lang="el-GR" b="1" i="0" dirty="0">
                        <a:latin typeface="Cambria Math" panose="02040503050406030204" pitchFamily="18" charset="0"/>
                      </a:rPr>
                      <m:t>+</m:t>
                    </m:r>
                    <m:f>
                      <m:fPr>
                        <m:ctrlPr>
                          <a:rPr lang="el-GR" b="1" i="1" dirty="0">
                            <a:latin typeface="Cambria Math" panose="02040503050406030204" pitchFamily="18" charset="0"/>
                          </a:rPr>
                        </m:ctrlPr>
                      </m:fPr>
                      <m:num>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charge</m:t>
                            </m:r>
                            <m:r>
                              <a:rPr lang="el-GR" b="1" i="0" dirty="0">
                                <a:latin typeface="Cambria Math" panose="02040503050406030204" pitchFamily="18" charset="0"/>
                              </a:rPr>
                              <m:t>,</m:t>
                            </m:r>
                            <m:r>
                              <a:rPr lang="el-GR" b="1" i="1" dirty="0">
                                <a:latin typeface="Cambria Math" panose="02040503050406030204" pitchFamily="18" charset="0"/>
                              </a:rPr>
                              <m:t>𝑡</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discharge</m:t>
                            </m:r>
                            <m:r>
                              <a:rPr lang="el-GR" b="1" i="0" dirty="0">
                                <a:latin typeface="Cambria Math" panose="02040503050406030204" pitchFamily="18" charset="0"/>
                              </a:rPr>
                              <m:t>,</m:t>
                            </m:r>
                            <m:r>
                              <a:rPr lang="el-GR" b="1" i="1" dirty="0">
                                <a:latin typeface="Cambria Math" panose="02040503050406030204" pitchFamily="18" charset="0"/>
                              </a:rPr>
                              <m:t>𝑡</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loss</m:t>
                            </m:r>
                            <m:r>
                              <a:rPr lang="el-GR" b="1" i="0" dirty="0">
                                <a:latin typeface="Cambria Math" panose="02040503050406030204" pitchFamily="18" charset="0"/>
                              </a:rPr>
                              <m:t>,</m:t>
                            </m:r>
                            <m:r>
                              <a:rPr lang="el-GR" b="1" i="1" dirty="0">
                                <a:latin typeface="Cambria Math" panose="02040503050406030204" pitchFamily="18" charset="0"/>
                              </a:rPr>
                              <m:t>𝑡</m:t>
                            </m:r>
                          </m:sub>
                        </m:sSub>
                      </m:num>
                      <m:den>
                        <m:sSub>
                          <m:sSubPr>
                            <m:ctrlPr>
                              <a:rPr lang="el-GR" b="1" i="1" dirty="0">
                                <a:latin typeface="Cambria Math" panose="02040503050406030204" pitchFamily="18" charset="0"/>
                              </a:rPr>
                            </m:ctrlPr>
                          </m:sSubPr>
                          <m:e>
                            <m:r>
                              <a:rPr lang="el-GR" b="1" i="1" dirty="0">
                                <a:latin typeface="Cambria Math" panose="02040503050406030204" pitchFamily="18" charset="0"/>
                              </a:rPr>
                              <m:t>𝐶</m:t>
                            </m:r>
                          </m:e>
                          <m:sub>
                            <m:r>
                              <m:rPr>
                                <m:sty m:val="p"/>
                              </m:rPr>
                              <a:rPr lang="el-GR" b="1" i="0" dirty="0">
                                <a:latin typeface="Cambria Math" panose="02040503050406030204" pitchFamily="18" charset="0"/>
                              </a:rPr>
                              <m:t>BTES</m:t>
                            </m:r>
                          </m:sub>
                        </m:sSub>
                      </m:den>
                    </m:f>
                  </m:oMath>
                </a14:m>
                <a:endParaRPr lang="en-US" b="1" dirty="0"/>
              </a:p>
              <a:p>
                <a:r>
                  <a:rPr lang="el-GR" dirty="0" err="1"/>
                  <a:t>Useful</a:t>
                </a:r>
                <a:r>
                  <a:rPr lang="el-GR" dirty="0"/>
                  <a:t> </a:t>
                </a:r>
                <a:r>
                  <a:rPr lang="el-GR" dirty="0" err="1"/>
                  <a:t>heat</a:t>
                </a:r>
                <a:r>
                  <a:rPr lang="el-GR" dirty="0"/>
                  <a:t> </a:t>
                </a:r>
                <a:r>
                  <a:rPr lang="el-GR" dirty="0" err="1"/>
                  <a:t>delivered</a:t>
                </a:r>
                <a:r>
                  <a:rPr lang="el-GR" dirty="0"/>
                  <a:t>:</a:t>
                </a:r>
                <a:r>
                  <a:rPr lang="en-US" dirty="0"/>
                  <a:t> </a:t>
                </a:r>
                <a14:m>
                  <m:oMath xmlns:m="http://schemas.openxmlformats.org/officeDocument/2006/math">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useful</m:t>
                        </m:r>
                      </m:sub>
                    </m:sSub>
                    <m:r>
                      <a:rPr lang="el-GR" b="1" i="0" dirty="0">
                        <a:latin typeface="Cambria Math" panose="02040503050406030204" pitchFamily="18" charset="0"/>
                      </a:rPr>
                      <m:t>=</m:t>
                    </m:r>
                    <m:f>
                      <m:fPr>
                        <m:ctrlPr>
                          <a:rPr lang="el-GR" b="1" i="1" dirty="0">
                            <a:latin typeface="Cambria Math" panose="02040503050406030204" pitchFamily="18" charset="0"/>
                          </a:rPr>
                        </m:ctrlPr>
                      </m:fPr>
                      <m:num>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BTES</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loss</m:t>
                            </m:r>
                          </m:sub>
                        </m:sSub>
                      </m:num>
                      <m:den>
                        <m:r>
                          <a:rPr lang="el-GR" b="1" i="0" dirty="0">
                            <a:latin typeface="Cambria Math" panose="02040503050406030204" pitchFamily="18" charset="0"/>
                          </a:rPr>
                          <m:t>1−</m:t>
                        </m:r>
                        <m:f>
                          <m:fPr>
                            <m:ctrlPr>
                              <a:rPr lang="el-GR" b="1" i="0" dirty="0">
                                <a:latin typeface="Cambria Math" panose="02040503050406030204" pitchFamily="18" charset="0"/>
                              </a:rPr>
                            </m:ctrlPr>
                          </m:fPr>
                          <m:num>
                            <m:r>
                              <a:rPr lang="el-GR" b="1" i="0" dirty="0">
                                <a:latin typeface="Cambria Math" panose="02040503050406030204" pitchFamily="18" charset="0"/>
                              </a:rPr>
                              <m:t>1</m:t>
                            </m:r>
                          </m:num>
                          <m:den>
                            <m:r>
                              <a:rPr lang="el-GR" b="1" i="1" dirty="0">
                                <a:latin typeface="Cambria Math" panose="02040503050406030204" pitchFamily="18" charset="0"/>
                              </a:rPr>
                              <m:t>𝐶𝑂</m:t>
                            </m:r>
                            <m:sSub>
                              <m:sSubPr>
                                <m:ctrlPr>
                                  <a:rPr lang="el-GR" b="1" i="1" dirty="0">
                                    <a:latin typeface="Cambria Math" panose="02040503050406030204" pitchFamily="18" charset="0"/>
                                  </a:rPr>
                                </m:ctrlPr>
                              </m:sSubPr>
                              <m:e>
                                <m:r>
                                  <a:rPr lang="el-GR" b="1" i="1" dirty="0">
                                    <a:latin typeface="Cambria Math" panose="02040503050406030204" pitchFamily="18" charset="0"/>
                                  </a:rPr>
                                  <m:t>𝑃</m:t>
                                </m:r>
                              </m:e>
                              <m:sub>
                                <m:r>
                                  <m:rPr>
                                    <m:sty m:val="p"/>
                                  </m:rPr>
                                  <a:rPr lang="el-GR" b="1" i="0" dirty="0">
                                    <a:latin typeface="Cambria Math" panose="02040503050406030204" pitchFamily="18" charset="0"/>
                                  </a:rPr>
                                  <m:t>HP</m:t>
                                </m:r>
                              </m:sub>
                            </m:sSub>
                          </m:den>
                        </m:f>
                      </m:den>
                    </m:f>
                  </m:oMath>
                </a14:m>
                <a:r>
                  <a:rPr lang="en-US" b="1" dirty="0"/>
                  <a:t>, </a:t>
                </a:r>
                <a:r>
                  <a:rPr lang="el-GR" dirty="0" err="1"/>
                  <a:t>Calculates</a:t>
                </a:r>
                <a:r>
                  <a:rPr lang="el-GR" dirty="0"/>
                  <a:t> the </a:t>
                </a:r>
                <a:r>
                  <a:rPr lang="el-GR" dirty="0" err="1"/>
                  <a:t>final</a:t>
                </a:r>
                <a:r>
                  <a:rPr lang="el-GR" dirty="0"/>
                  <a:t> </a:t>
                </a:r>
                <a:r>
                  <a:rPr lang="el-GR" dirty="0" err="1"/>
                  <a:t>building</a:t>
                </a:r>
                <a:r>
                  <a:rPr lang="el-GR" dirty="0"/>
                  <a:t> </a:t>
                </a:r>
                <a:r>
                  <a:rPr lang="el-GR" dirty="0" err="1"/>
                  <a:t>heat</a:t>
                </a:r>
                <a:r>
                  <a:rPr lang="el-GR" dirty="0"/>
                  <a:t> </a:t>
                </a:r>
                <a:r>
                  <a:rPr lang="el-GR" dirty="0" err="1"/>
                  <a:t>supplied</a:t>
                </a:r>
                <a:r>
                  <a:rPr lang="el-GR" dirty="0"/>
                  <a:t> </a:t>
                </a:r>
                <a:r>
                  <a:rPr lang="el-GR" dirty="0" err="1"/>
                  <a:t>after</a:t>
                </a:r>
                <a:r>
                  <a:rPr lang="el-GR" dirty="0"/>
                  <a:t> </a:t>
                </a:r>
                <a:r>
                  <a:rPr lang="el-GR" dirty="0" err="1"/>
                  <a:t>storage</a:t>
                </a:r>
                <a:r>
                  <a:rPr lang="el-GR" dirty="0"/>
                  <a:t> </a:t>
                </a:r>
                <a:r>
                  <a:rPr lang="el-GR" dirty="0" err="1"/>
                  <a:t>losses</a:t>
                </a:r>
                <a:r>
                  <a:rPr lang="el-GR" dirty="0"/>
                  <a:t>.</a:t>
                </a:r>
                <a:endParaRPr lang="el-GR" b="1" dirty="0"/>
              </a:p>
              <a:p>
                <a:endParaRPr lang="el-GR" dirty="0"/>
              </a:p>
            </p:txBody>
          </p:sp>
        </mc:Choice>
        <mc:Fallback xmlns="">
          <p:sp>
            <p:nvSpPr>
              <p:cNvPr id="3" name="Notes Placeholder 2"/>
              <p:cNvSpPr>
                <a:spLocks noGrp="1"/>
              </p:cNvSpPr>
              <p:nvPr>
                <p:ph type="body" idx="1"/>
              </p:nvPr>
            </p:nvSpPr>
            <p:spPr/>
            <p:txBody>
              <a:bodyPr/>
              <a:lstStyle/>
              <a:p>
                <a:r>
                  <a:rPr lang="el-GR" dirty="0"/>
                  <a:t>Available </a:t>
                </a:r>
                <a:r>
                  <a:rPr lang="el-GR" dirty="0" err="1"/>
                  <a:t>waste</a:t>
                </a:r>
                <a:r>
                  <a:rPr lang="el-GR" dirty="0"/>
                  <a:t> </a:t>
                </a:r>
                <a:r>
                  <a:rPr lang="el-GR" dirty="0" err="1"/>
                  <a:t>heat</a:t>
                </a:r>
                <a:r>
                  <a:rPr lang="en-US" dirty="0"/>
                  <a:t>: </a:t>
                </a:r>
                <a:r>
                  <a:rPr lang="el-GR" i="0" dirty="0">
                    <a:latin typeface="Cambria Math" panose="02040503050406030204" pitchFamily="18" charset="0"/>
                  </a:rPr>
                  <a:t>𝐸_WH=∑1▒𝑄_cool  (1+1/(𝐶𝑂𝑃_chiller ))</a:t>
                </a:r>
                <a:r>
                  <a:rPr lang="en-US" dirty="0"/>
                  <a:t>, </a:t>
                </a:r>
                <a:r>
                  <a:rPr lang="el-GR" dirty="0" err="1"/>
                  <a:t>Calculates</a:t>
                </a:r>
                <a:r>
                  <a:rPr lang="el-GR" dirty="0"/>
                  <a:t> the </a:t>
                </a:r>
                <a:r>
                  <a:rPr lang="el-GR" dirty="0" err="1"/>
                  <a:t>heat</a:t>
                </a:r>
                <a:r>
                  <a:rPr lang="el-GR" dirty="0"/>
                  <a:t> </a:t>
                </a:r>
                <a:r>
                  <a:rPr lang="el-GR" dirty="0" err="1"/>
                  <a:t>available</a:t>
                </a:r>
                <a:r>
                  <a:rPr lang="el-GR" dirty="0"/>
                  <a:t> for BTES </a:t>
                </a:r>
                <a:r>
                  <a:rPr lang="el-GR" dirty="0" err="1"/>
                  <a:t>charging</a:t>
                </a:r>
                <a:r>
                  <a:rPr lang="el-GR" dirty="0"/>
                  <a:t> </a:t>
                </a:r>
                <a:r>
                  <a:rPr lang="el-GR" dirty="0" err="1"/>
                  <a:t>during</a:t>
                </a:r>
                <a:r>
                  <a:rPr lang="el-GR" dirty="0"/>
                  <a:t> </a:t>
                </a:r>
                <a:r>
                  <a:rPr lang="el-GR" dirty="0" err="1"/>
                  <a:t>summer</a:t>
                </a:r>
                <a:r>
                  <a:rPr lang="el-GR" dirty="0"/>
                  <a:t>.</a:t>
                </a:r>
                <a:endParaRPr lang="en-US" dirty="0"/>
              </a:p>
              <a:p>
                <a:r>
                  <a:rPr lang="en-US" dirty="0"/>
                  <a:t>B</a:t>
                </a:r>
                <a:r>
                  <a:rPr lang="el-GR" dirty="0"/>
                  <a:t>TES-</a:t>
                </a:r>
                <a:r>
                  <a:rPr lang="el-GR" dirty="0" err="1"/>
                  <a:t>side</a:t>
                </a:r>
                <a:r>
                  <a:rPr lang="el-GR" dirty="0"/>
                  <a:t> </a:t>
                </a:r>
                <a:r>
                  <a:rPr lang="el-GR" dirty="0" err="1"/>
                  <a:t>heating</a:t>
                </a:r>
                <a:r>
                  <a:rPr lang="el-GR" dirty="0"/>
                  <a:t> </a:t>
                </a:r>
                <a:r>
                  <a:rPr lang="el-GR" dirty="0" err="1"/>
                  <a:t>demand</a:t>
                </a:r>
                <a:r>
                  <a:rPr lang="el-GR" dirty="0"/>
                  <a:t>:</a:t>
                </a:r>
                <a:r>
                  <a:rPr lang="en-US" dirty="0"/>
                  <a:t> </a:t>
                </a:r>
                <a:r>
                  <a:rPr lang="el-GR" i="0" dirty="0">
                    <a:latin typeface="Cambria Math" panose="02040503050406030204" pitchFamily="18" charset="0"/>
                  </a:rPr>
                  <a:t>𝐸_(dem,BTES)=𝐸_heat (1−1/(𝐶𝑂𝑃_HP ))</a:t>
                </a:r>
                <a:r>
                  <a:rPr lang="en-US" dirty="0"/>
                  <a:t>, </a:t>
                </a:r>
                <a:r>
                  <a:rPr lang="el-GR" dirty="0" err="1"/>
                  <a:t>Converts</a:t>
                </a:r>
                <a:r>
                  <a:rPr lang="el-GR" dirty="0"/>
                  <a:t> </a:t>
                </a:r>
                <a:r>
                  <a:rPr lang="el-GR" dirty="0" err="1"/>
                  <a:t>winter</a:t>
                </a:r>
                <a:r>
                  <a:rPr lang="el-GR" dirty="0"/>
                  <a:t> </a:t>
                </a:r>
                <a:r>
                  <a:rPr lang="el-GR" dirty="0" err="1"/>
                  <a:t>heating</a:t>
                </a:r>
                <a:r>
                  <a:rPr lang="el-GR" dirty="0"/>
                  <a:t> </a:t>
                </a:r>
                <a:r>
                  <a:rPr lang="el-GR" dirty="0" err="1"/>
                  <a:t>demand</a:t>
                </a:r>
                <a:r>
                  <a:rPr lang="el-GR" dirty="0"/>
                  <a:t> </a:t>
                </a:r>
                <a:r>
                  <a:rPr lang="el-GR" dirty="0" err="1"/>
                  <a:t>into</a:t>
                </a:r>
                <a:r>
                  <a:rPr lang="el-GR" dirty="0"/>
                  <a:t> the </a:t>
                </a:r>
                <a:r>
                  <a:rPr lang="el-GR" dirty="0" err="1"/>
                  <a:t>required</a:t>
                </a:r>
                <a:r>
                  <a:rPr lang="el-GR" dirty="0"/>
                  <a:t> </a:t>
                </a:r>
                <a:r>
                  <a:rPr lang="el-GR" dirty="0" err="1"/>
                  <a:t>heat</a:t>
                </a:r>
                <a:r>
                  <a:rPr lang="el-GR" dirty="0"/>
                  <a:t> </a:t>
                </a:r>
                <a:r>
                  <a:rPr lang="el-GR" dirty="0" err="1"/>
                  <a:t>extraction</a:t>
                </a:r>
                <a:r>
                  <a:rPr lang="el-GR" dirty="0"/>
                  <a:t> </a:t>
                </a:r>
                <a:r>
                  <a:rPr lang="el-GR" dirty="0" err="1"/>
                  <a:t>from</a:t>
                </a:r>
                <a:r>
                  <a:rPr lang="el-GR" dirty="0"/>
                  <a:t> the BTES.</a:t>
                </a:r>
              </a:p>
              <a:p>
                <a:r>
                  <a:rPr lang="el-GR" dirty="0" err="1"/>
                  <a:t>Required</a:t>
                </a:r>
                <a:r>
                  <a:rPr lang="el-GR" dirty="0"/>
                  <a:t> </a:t>
                </a:r>
                <a:r>
                  <a:rPr lang="el-GR" dirty="0" err="1"/>
                  <a:t>storage</a:t>
                </a:r>
                <a:r>
                  <a:rPr lang="el-GR" dirty="0"/>
                  <a:t> </a:t>
                </a:r>
                <a:r>
                  <a:rPr lang="el-GR" dirty="0" err="1"/>
                  <a:t>energy</a:t>
                </a:r>
                <a:r>
                  <a:rPr lang="el-GR" dirty="0"/>
                  <a:t>:</a:t>
                </a:r>
                <a:r>
                  <a:rPr lang="en-US" dirty="0"/>
                  <a:t> </a:t>
                </a:r>
                <a:r>
                  <a:rPr lang="el-GR" i="0" dirty="0">
                    <a:latin typeface="Cambria Math" panose="02040503050406030204" pitchFamily="18" charset="0"/>
                  </a:rPr>
                  <a:t>𝐸_BTES=min⁡(𝐸_WH,𝐸_(dem,BTES) )</a:t>
                </a:r>
                <a:r>
                  <a:rPr lang="en-US" dirty="0"/>
                  <a:t>, </a:t>
                </a:r>
                <a:r>
                  <a:rPr lang="el-GR" dirty="0" err="1"/>
                  <a:t>Sets</a:t>
                </a:r>
                <a:r>
                  <a:rPr lang="el-GR" dirty="0"/>
                  <a:t> the </a:t>
                </a:r>
                <a:r>
                  <a:rPr lang="el-GR" dirty="0" err="1"/>
                  <a:t>storage</a:t>
                </a:r>
                <a:r>
                  <a:rPr lang="el-GR" dirty="0"/>
                  <a:t> </a:t>
                </a:r>
                <a:r>
                  <a:rPr lang="el-GR" dirty="0" err="1"/>
                  <a:t>size</a:t>
                </a:r>
                <a:r>
                  <a:rPr lang="el-GR" dirty="0"/>
                  <a:t> </a:t>
                </a:r>
                <a:r>
                  <a:rPr lang="el-GR" dirty="0" err="1"/>
                  <a:t>based</a:t>
                </a:r>
                <a:r>
                  <a:rPr lang="el-GR" dirty="0"/>
                  <a:t> on the </a:t>
                </a:r>
                <a:r>
                  <a:rPr lang="el-GR" dirty="0" err="1"/>
                  <a:t>limiting</a:t>
                </a:r>
                <a:r>
                  <a:rPr lang="el-GR" dirty="0"/>
                  <a:t> </a:t>
                </a:r>
                <a:r>
                  <a:rPr lang="el-GR" dirty="0" err="1"/>
                  <a:t>energy</a:t>
                </a:r>
                <a:r>
                  <a:rPr lang="el-GR" dirty="0"/>
                  <a:t> </a:t>
                </a:r>
                <a:r>
                  <a:rPr lang="el-GR" dirty="0" err="1"/>
                  <a:t>quantity</a:t>
                </a:r>
                <a:r>
                  <a:rPr lang="el-GR" dirty="0"/>
                  <a:t>.</a:t>
                </a:r>
              </a:p>
              <a:p>
                <a:r>
                  <a:rPr lang="el-GR" dirty="0"/>
                  <a:t>Number of </a:t>
                </a:r>
                <a:r>
                  <a:rPr lang="el-GR" dirty="0" err="1"/>
                  <a:t>boreholes</a:t>
                </a:r>
                <a:r>
                  <a:rPr lang="el-GR" dirty="0"/>
                  <a:t>:</a:t>
                </a:r>
                <a:r>
                  <a:rPr lang="en-US" dirty="0"/>
                  <a:t> </a:t>
                </a:r>
                <a:r>
                  <a:rPr lang="el-GR" i="0" dirty="0">
                    <a:latin typeface="Cambria Math" panose="02040503050406030204" pitchFamily="18" charset="0"/>
                  </a:rPr>
                  <a:t>𝑁_BH=⌈𝐸_BTES/𝐸_(capacity,BH) ⌉</a:t>
                </a:r>
                <a:r>
                  <a:rPr lang="en-US" dirty="0"/>
                  <a:t>, </a:t>
                </a:r>
                <a:r>
                  <a:rPr lang="el-GR" dirty="0" err="1"/>
                  <a:t>Estimates</a:t>
                </a:r>
                <a:r>
                  <a:rPr lang="el-GR" dirty="0"/>
                  <a:t> the </a:t>
                </a:r>
                <a:r>
                  <a:rPr lang="el-GR" dirty="0" err="1"/>
                  <a:t>required</a:t>
                </a:r>
                <a:r>
                  <a:rPr lang="el-GR" dirty="0"/>
                  <a:t> </a:t>
                </a:r>
                <a:r>
                  <a:rPr lang="el-GR" dirty="0" err="1"/>
                  <a:t>number</a:t>
                </a:r>
                <a:r>
                  <a:rPr lang="el-GR" dirty="0"/>
                  <a:t> of </a:t>
                </a:r>
                <a:r>
                  <a:rPr lang="el-GR" dirty="0" err="1"/>
                  <a:t>boreholes</a:t>
                </a:r>
                <a:endParaRPr lang="en-US" dirty="0"/>
              </a:p>
              <a:p>
                <a:r>
                  <a:rPr lang="el-GR" dirty="0" err="1"/>
                  <a:t>Daily</a:t>
                </a:r>
                <a:r>
                  <a:rPr lang="el-GR" dirty="0"/>
                  <a:t> BTES </a:t>
                </a:r>
                <a:r>
                  <a:rPr lang="el-GR" dirty="0" err="1"/>
                  <a:t>temperature</a:t>
                </a:r>
                <a:r>
                  <a:rPr lang="el-GR" dirty="0"/>
                  <a:t>:</a:t>
                </a:r>
                <a:r>
                  <a:rPr lang="en-US" dirty="0"/>
                  <a:t> </a:t>
                </a:r>
                <a:r>
                  <a:rPr lang="el-GR" b="1" i="0" dirty="0">
                    <a:latin typeface="Cambria Math" panose="02040503050406030204" pitchFamily="18" charset="0"/>
                  </a:rPr>
                  <a:t>𝑇_(𝑡+1)=𝑇_𝑡+(𝑄_(charge,𝑡)−𝑄_(discharge,𝑡)−𝑄_(loss,𝑡))/𝐶_BTES </a:t>
                </a:r>
                <a:endParaRPr lang="en-US" b="1" dirty="0"/>
              </a:p>
              <a:p>
                <a:r>
                  <a:rPr lang="el-GR" dirty="0" err="1"/>
                  <a:t>Useful</a:t>
                </a:r>
                <a:r>
                  <a:rPr lang="el-GR" dirty="0"/>
                  <a:t> </a:t>
                </a:r>
                <a:r>
                  <a:rPr lang="el-GR" dirty="0" err="1"/>
                  <a:t>heat</a:t>
                </a:r>
                <a:r>
                  <a:rPr lang="el-GR" dirty="0"/>
                  <a:t> </a:t>
                </a:r>
                <a:r>
                  <a:rPr lang="el-GR" dirty="0" err="1"/>
                  <a:t>delivered</a:t>
                </a:r>
                <a:r>
                  <a:rPr lang="el-GR" dirty="0"/>
                  <a:t>:</a:t>
                </a:r>
                <a:r>
                  <a:rPr lang="en-US" dirty="0"/>
                  <a:t> </a:t>
                </a:r>
                <a:r>
                  <a:rPr lang="el-GR" b="1" i="0" dirty="0">
                    <a:latin typeface="Cambria Math" panose="02040503050406030204" pitchFamily="18" charset="0"/>
                  </a:rPr>
                  <a:t>𝐸_useful=(𝐸_BTES−𝐸_loss)/(1−1/(𝐶𝑂𝑃_HP ))</a:t>
                </a:r>
                <a:r>
                  <a:rPr lang="en-US" b="1" dirty="0"/>
                  <a:t>, </a:t>
                </a:r>
                <a:r>
                  <a:rPr lang="el-GR" dirty="0" err="1"/>
                  <a:t>Calculates</a:t>
                </a:r>
                <a:r>
                  <a:rPr lang="el-GR" dirty="0"/>
                  <a:t> the </a:t>
                </a:r>
                <a:r>
                  <a:rPr lang="el-GR" dirty="0" err="1"/>
                  <a:t>final</a:t>
                </a:r>
                <a:r>
                  <a:rPr lang="el-GR" dirty="0"/>
                  <a:t> </a:t>
                </a:r>
                <a:r>
                  <a:rPr lang="el-GR" dirty="0" err="1"/>
                  <a:t>building</a:t>
                </a:r>
                <a:r>
                  <a:rPr lang="el-GR" dirty="0"/>
                  <a:t> </a:t>
                </a:r>
                <a:r>
                  <a:rPr lang="el-GR" dirty="0" err="1"/>
                  <a:t>heat</a:t>
                </a:r>
                <a:r>
                  <a:rPr lang="el-GR" dirty="0"/>
                  <a:t> </a:t>
                </a:r>
                <a:r>
                  <a:rPr lang="el-GR" dirty="0" err="1"/>
                  <a:t>supplied</a:t>
                </a:r>
                <a:r>
                  <a:rPr lang="el-GR" dirty="0"/>
                  <a:t> </a:t>
                </a:r>
                <a:r>
                  <a:rPr lang="el-GR" dirty="0" err="1"/>
                  <a:t>after</a:t>
                </a:r>
                <a:r>
                  <a:rPr lang="el-GR" dirty="0"/>
                  <a:t> </a:t>
                </a:r>
                <a:r>
                  <a:rPr lang="el-GR" dirty="0" err="1"/>
                  <a:t>storage</a:t>
                </a:r>
                <a:r>
                  <a:rPr lang="el-GR" dirty="0"/>
                  <a:t> </a:t>
                </a:r>
                <a:r>
                  <a:rPr lang="el-GR" dirty="0" err="1"/>
                  <a:t>losses</a:t>
                </a:r>
                <a:r>
                  <a:rPr lang="el-GR" dirty="0"/>
                  <a:t>.</a:t>
                </a:r>
                <a:endParaRPr lang="el-GR" b="1" dirty="0"/>
              </a:p>
              <a:p>
                <a:endParaRPr lang="el-GR" dirty="0"/>
              </a:p>
            </p:txBody>
          </p:sp>
        </mc:Fallback>
      </mc:AlternateContent>
      <p:sp>
        <p:nvSpPr>
          <p:cNvPr id="4" name="Slide Number Placeholder 3"/>
          <p:cNvSpPr>
            <a:spLocks noGrp="1"/>
          </p:cNvSpPr>
          <p:nvPr>
            <p:ph type="sldNum" sz="quarter" idx="5"/>
          </p:nvPr>
        </p:nvSpPr>
        <p:spPr/>
        <p:txBody>
          <a:bodyPr/>
          <a:lstStyle/>
          <a:p>
            <a:fld id="{98825B60-F2BA-46E5-8E2D-2D2B4D1E3830}" type="slidenum">
              <a:rPr lang="de-CH" smtClean="0"/>
              <a:t>30</a:t>
            </a:fld>
            <a:endParaRPr lang="de-CH"/>
          </a:p>
        </p:txBody>
      </p:sp>
    </p:spTree>
    <p:extLst>
      <p:ext uri="{BB962C8B-B14F-4D97-AF65-F5344CB8AC3E}">
        <p14:creationId xmlns:p14="http://schemas.microsoft.com/office/powerpoint/2010/main" val="1187613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pic>
        <p:nvPicPr>
          <p:cNvPr id="7" name="Grafik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5439" y="589720"/>
            <a:ext cx="2272961" cy="607032"/>
          </a:xfrm>
          <a:prstGeom prst="rect">
            <a:avLst/>
          </a:prstGeom>
        </p:spPr>
      </p:pic>
      <p:sp>
        <p:nvSpPr>
          <p:cNvPr id="8" name="Textfeld 7"/>
          <p:cNvSpPr txBox="1"/>
          <p:nvPr userDrawn="1"/>
        </p:nvSpPr>
        <p:spPr>
          <a:xfrm>
            <a:off x="1231200" y="374400"/>
            <a:ext cx="1872208" cy="923330"/>
          </a:xfrm>
          <a:prstGeom prst="rect">
            <a:avLst/>
          </a:prstGeom>
          <a:noFill/>
        </p:spPr>
        <p:txBody>
          <a:bodyPr wrap="square" rtlCol="0">
            <a:spAutoFit/>
          </a:bodyPr>
          <a:lstStyle/>
          <a:p>
            <a:r>
              <a:rPr lang="de-CH" dirty="0"/>
              <a:t>Willkommen</a:t>
            </a:r>
          </a:p>
          <a:p>
            <a:r>
              <a:rPr lang="de-CH" dirty="0"/>
              <a:t>Welcome</a:t>
            </a:r>
          </a:p>
          <a:p>
            <a:r>
              <a:rPr lang="de-CH" dirty="0" err="1"/>
              <a:t>Bienvenue</a:t>
            </a:r>
            <a:endParaRPr lang="de-CH" dirty="0"/>
          </a:p>
        </p:txBody>
      </p:sp>
      <p:sp>
        <p:nvSpPr>
          <p:cNvPr id="14" name="Titel 13"/>
          <p:cNvSpPr>
            <a:spLocks noGrp="1"/>
          </p:cNvSpPr>
          <p:nvPr>
            <p:ph type="title"/>
          </p:nvPr>
        </p:nvSpPr>
        <p:spPr>
          <a:xfrm>
            <a:off x="515797" y="2132856"/>
            <a:ext cx="8244000" cy="1143000"/>
          </a:xfrm>
        </p:spPr>
        <p:txBody>
          <a:bodyPr/>
          <a:lstStyle>
            <a:lvl1pPr>
              <a:defRPr sz="2400"/>
            </a:lvl1pPr>
          </a:lstStyle>
          <a:p>
            <a:r>
              <a:rPr lang="en-US"/>
              <a:t>Click to edit Master title style</a:t>
            </a:r>
            <a:endParaRPr lang="de-CH" dirty="0"/>
          </a:p>
        </p:txBody>
      </p:sp>
      <p:sp>
        <p:nvSpPr>
          <p:cNvPr id="3" name="Textplatzhalter 2"/>
          <p:cNvSpPr>
            <a:spLocks noGrp="1"/>
          </p:cNvSpPr>
          <p:nvPr>
            <p:ph type="body" sz="quarter" idx="13" hasCustomPrompt="1"/>
          </p:nvPr>
        </p:nvSpPr>
        <p:spPr>
          <a:xfrm>
            <a:off x="515796" y="3356992"/>
            <a:ext cx="8244000" cy="806450"/>
          </a:xfrm>
        </p:spPr>
        <p:txBody>
          <a:bodyPr anchor="t">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de-DE" dirty="0"/>
              <a:t>Untertitel</a:t>
            </a:r>
          </a:p>
        </p:txBody>
      </p:sp>
      <p:sp>
        <p:nvSpPr>
          <p:cNvPr id="10" name="Textplatzhalter 9"/>
          <p:cNvSpPr>
            <a:spLocks noGrp="1"/>
          </p:cNvSpPr>
          <p:nvPr>
            <p:ph type="body" sz="quarter" idx="14" hasCustomPrompt="1"/>
          </p:nvPr>
        </p:nvSpPr>
        <p:spPr>
          <a:xfrm>
            <a:off x="515797" y="4221088"/>
            <a:ext cx="8244000" cy="504825"/>
          </a:xfrm>
        </p:spPr>
        <p:txBody>
          <a:bodyPr anchor="t">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de-DE" dirty="0"/>
              <a:t>Autor</a:t>
            </a:r>
          </a:p>
        </p:txBody>
      </p:sp>
      <p:sp>
        <p:nvSpPr>
          <p:cNvPr id="2" name="Slide Number Placeholder 4">
            <a:extLst>
              <a:ext uri="{FF2B5EF4-FFF2-40B4-BE49-F238E27FC236}">
                <a16:creationId xmlns:a16="http://schemas.microsoft.com/office/drawing/2014/main" id="{7A9F1BCA-B1AB-54BA-4D30-7CACA34993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345225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sz="2400"/>
            </a:lvl1pPr>
          </a:lstStyle>
          <a:p>
            <a:r>
              <a:rPr lang="en-US"/>
              <a:t>Click to edit Master title style</a:t>
            </a:r>
            <a:endParaRPr lang="de-CH" dirty="0"/>
          </a:p>
        </p:txBody>
      </p:sp>
      <p:sp>
        <p:nvSpPr>
          <p:cNvPr id="3" name="Inhaltsplatzhalt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Slide Number Placeholder 4">
            <a:extLst>
              <a:ext uri="{FF2B5EF4-FFF2-40B4-BE49-F238E27FC236}">
                <a16:creationId xmlns:a16="http://schemas.microsoft.com/office/drawing/2014/main" id="{884C5228-8F84-B375-03D0-78A004B8AC0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961641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CH"/>
          </a:p>
        </p:txBody>
      </p:sp>
      <p:sp>
        <p:nvSpPr>
          <p:cNvPr id="3" name="Inhaltsplatzhalter 2"/>
          <p:cNvSpPr>
            <a:spLocks noGrp="1"/>
          </p:cNvSpPr>
          <p:nvPr>
            <p:ph sz="half" idx="1"/>
          </p:nvPr>
        </p:nvSpPr>
        <p:spPr>
          <a:xfrm>
            <a:off x="457200" y="1600200"/>
            <a:ext cx="4038600" cy="4525963"/>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Inhaltsplatzhalter 3"/>
          <p:cNvSpPr>
            <a:spLocks noGrp="1"/>
          </p:cNvSpPr>
          <p:nvPr>
            <p:ph sz="half" idx="2"/>
          </p:nvPr>
        </p:nvSpPr>
        <p:spPr>
          <a:xfrm>
            <a:off x="4648200" y="1600200"/>
            <a:ext cx="4038600" cy="4525963"/>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5" name="Slide Number Placeholder 4">
            <a:extLst>
              <a:ext uri="{FF2B5EF4-FFF2-40B4-BE49-F238E27FC236}">
                <a16:creationId xmlns:a16="http://schemas.microsoft.com/office/drawing/2014/main" id="{F45D6B98-5690-478E-7F43-CE2E8F1A716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3783961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t>Click to edit Master title style</a:t>
            </a:r>
            <a:endParaRPr lang="de-CH" dirty="0"/>
          </a:p>
        </p:txBody>
      </p:sp>
      <p:sp>
        <p:nvSpPr>
          <p:cNvPr id="3" name="Textplatzhalter 2"/>
          <p:cNvSpPr>
            <a:spLocks noGrp="1"/>
          </p:cNvSpPr>
          <p:nvPr>
            <p:ph type="body" idx="1"/>
          </p:nvPr>
        </p:nvSpPr>
        <p:spPr>
          <a:xfrm>
            <a:off x="457200" y="1535113"/>
            <a:ext cx="4040188" cy="639762"/>
          </a:xfrm>
        </p:spPr>
        <p:txBody>
          <a:bodyPr anchor="ctr">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p:cNvSpPr>
            <a:spLocks noGrp="1"/>
          </p:cNvSpPr>
          <p:nvPr>
            <p:ph sz="half" idx="2"/>
          </p:nvPr>
        </p:nvSpPr>
        <p:spPr>
          <a:xfrm>
            <a:off x="457200" y="2174875"/>
            <a:ext cx="4040188" cy="39512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5" name="Textplatzhalter 4"/>
          <p:cNvSpPr>
            <a:spLocks noGrp="1"/>
          </p:cNvSpPr>
          <p:nvPr>
            <p:ph type="body" sz="quarter" idx="3"/>
          </p:nvPr>
        </p:nvSpPr>
        <p:spPr>
          <a:xfrm>
            <a:off x="4645025" y="1535113"/>
            <a:ext cx="4041775" cy="639762"/>
          </a:xfrm>
        </p:spPr>
        <p:txBody>
          <a:bodyPr anchor="ctr">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p:cNvSpPr>
            <a:spLocks noGrp="1"/>
          </p:cNvSpPr>
          <p:nvPr>
            <p:ph sz="quarter" idx="4"/>
          </p:nvPr>
        </p:nvSpPr>
        <p:spPr>
          <a:xfrm>
            <a:off x="4645025" y="2174875"/>
            <a:ext cx="4041775" cy="3951288"/>
          </a:xfrm>
        </p:spPr>
        <p:txBody>
          <a:bodyPr/>
          <a:lstStyle>
            <a:lvl1pPr>
              <a:defRPr sz="2000"/>
            </a:lvl1pPr>
            <a:lvl2pPr>
              <a:defRPr sz="1800"/>
            </a:lvl2pPr>
            <a:lvl3pPr>
              <a:defRPr sz="18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Slide Number Placeholder 4">
            <a:extLst>
              <a:ext uri="{FF2B5EF4-FFF2-40B4-BE49-F238E27FC236}">
                <a16:creationId xmlns:a16="http://schemas.microsoft.com/office/drawing/2014/main" id="{88EB8FD9-10AF-2895-4A54-E5B3151F3987}"/>
              </a:ext>
            </a:extLst>
          </p:cNvPr>
          <p:cNvSpPr>
            <a:spLocks noGrp="1"/>
          </p:cNvSpPr>
          <p:nvPr>
            <p:ph type="sldNum" sz="quarter" idx="10"/>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2419294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CH"/>
          </a:p>
        </p:txBody>
      </p:sp>
      <p:sp>
        <p:nvSpPr>
          <p:cNvPr id="3" name="Slide Number Placeholder 4">
            <a:extLst>
              <a:ext uri="{FF2B5EF4-FFF2-40B4-BE49-F238E27FC236}">
                <a16:creationId xmlns:a16="http://schemas.microsoft.com/office/drawing/2014/main" id="{15FA38AB-052E-6794-FC8A-312900E0079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2789655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BF400FE-0542-7C1C-797B-E005B8713D8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2771883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t"/>
          <a:lstStyle>
            <a:lvl1pPr algn="l">
              <a:defRPr sz="2000" b="1"/>
            </a:lvl1pPr>
          </a:lstStyle>
          <a:p>
            <a:r>
              <a:rPr lang="en-US"/>
              <a:t>Click to edit Master title style</a:t>
            </a:r>
            <a:endParaRPr lang="de-CH" dirty="0"/>
          </a:p>
        </p:txBody>
      </p:sp>
      <p:sp>
        <p:nvSpPr>
          <p:cNvPr id="3" name="Inhaltsplatzhalter 2"/>
          <p:cNvSpPr>
            <a:spLocks noGrp="1"/>
          </p:cNvSpPr>
          <p:nvPr>
            <p:ph idx="1"/>
          </p:nvPr>
        </p:nvSpPr>
        <p:spPr>
          <a:xfrm>
            <a:off x="3575050" y="1435363"/>
            <a:ext cx="5111750" cy="4690800"/>
          </a:xfrm>
        </p:spPr>
        <p:txBody>
          <a:bodyPr anchor="t"/>
          <a:lstStyle>
            <a:lvl1pPr>
              <a:defRPr sz="20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Textplatzhalter 3"/>
          <p:cNvSpPr>
            <a:spLocks noGrp="1"/>
          </p:cNvSpPr>
          <p:nvPr>
            <p:ph type="body" sz="half" idx="2"/>
          </p:nvPr>
        </p:nvSpPr>
        <p:spPr>
          <a:xfrm>
            <a:off x="457200" y="1435100"/>
            <a:ext cx="3008313" cy="4691063"/>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a:extLst>
              <a:ext uri="{FF2B5EF4-FFF2-40B4-BE49-F238E27FC236}">
                <a16:creationId xmlns:a16="http://schemas.microsoft.com/office/drawing/2014/main" id="{C2805252-6173-AFDA-DEC7-2D3CA232A37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609289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tertitel, Bi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CH"/>
          </a:p>
        </p:txBody>
      </p:sp>
      <p:sp>
        <p:nvSpPr>
          <p:cNvPr id="3" name="Bildplatzhalter 2"/>
          <p:cNvSpPr>
            <a:spLocks noGrp="1"/>
          </p:cNvSpPr>
          <p:nvPr>
            <p:ph type="pic" idx="1"/>
          </p:nvPr>
        </p:nvSpPr>
        <p:spPr>
          <a:xfrm>
            <a:off x="453752" y="1988840"/>
            <a:ext cx="6408712" cy="388843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CH" dirty="0"/>
          </a:p>
        </p:txBody>
      </p:sp>
      <p:sp>
        <p:nvSpPr>
          <p:cNvPr id="4" name="Textplatzhalter 3"/>
          <p:cNvSpPr>
            <a:spLocks noGrp="1"/>
          </p:cNvSpPr>
          <p:nvPr>
            <p:ph type="body" sz="half" idx="10"/>
          </p:nvPr>
        </p:nvSpPr>
        <p:spPr>
          <a:xfrm>
            <a:off x="457200" y="1334890"/>
            <a:ext cx="5486400" cy="437926"/>
          </a:xfrm>
        </p:spPr>
        <p:txBody>
          <a:bodyPr anchor="t"/>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platzhalter 3"/>
          <p:cNvSpPr>
            <a:spLocks noGrp="1"/>
          </p:cNvSpPr>
          <p:nvPr>
            <p:ph type="body" sz="half" idx="11"/>
          </p:nvPr>
        </p:nvSpPr>
        <p:spPr>
          <a:xfrm>
            <a:off x="453752" y="5877272"/>
            <a:ext cx="5486400" cy="437926"/>
          </a:xfrm>
        </p:spPr>
        <p:txBody>
          <a:bodyPr anchor="t"/>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Slide Number Placeholder 4">
            <a:extLst>
              <a:ext uri="{FF2B5EF4-FFF2-40B4-BE49-F238E27FC236}">
                <a16:creationId xmlns:a16="http://schemas.microsoft.com/office/drawing/2014/main" id="{90F72358-A508-0886-9013-BF7BB2B78F6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1947767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Bi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CH" dirty="0"/>
          </a:p>
        </p:txBody>
      </p:sp>
      <p:sp>
        <p:nvSpPr>
          <p:cNvPr id="4" name="Bildplatzhalter 3"/>
          <p:cNvSpPr>
            <a:spLocks noGrp="1"/>
          </p:cNvSpPr>
          <p:nvPr>
            <p:ph type="pic" sz="quarter" idx="10"/>
          </p:nvPr>
        </p:nvSpPr>
        <p:spPr>
          <a:xfrm>
            <a:off x="0" y="1844675"/>
            <a:ext cx="9144000" cy="5013325"/>
          </a:xfrm>
        </p:spPr>
        <p:txBody>
          <a:bodyPr/>
          <a:lstStyle>
            <a:lvl1pPr marL="0" indent="0">
              <a:buNone/>
              <a:defRPr/>
            </a:lvl1pPr>
          </a:lstStyle>
          <a:p>
            <a:r>
              <a:rPr lang="en-US"/>
              <a:t>Click icon to add picture</a:t>
            </a:r>
            <a:endParaRPr lang="de-CH" dirty="0"/>
          </a:p>
        </p:txBody>
      </p:sp>
      <p:sp>
        <p:nvSpPr>
          <p:cNvPr id="3" name="Slide Number Placeholder 4">
            <a:extLst>
              <a:ext uri="{FF2B5EF4-FFF2-40B4-BE49-F238E27FC236}">
                <a16:creationId xmlns:a16="http://schemas.microsoft.com/office/drawing/2014/main" id="{01559096-72A5-C137-D87E-7F00BAEDC9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1040698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548879" y="1016000"/>
            <a:ext cx="8046244"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4428000" cy="2772000"/>
          </a:xfrm>
          <a:solidFill>
            <a:schemeClr val="accent1"/>
          </a:solidFill>
        </p:spPr>
        <p:txBody>
          <a:bodyPr lIns="1080000" tIns="252000" anchor="t" anchorCtr="0"/>
          <a:lstStyle>
            <a:lvl1pPr algn="l">
              <a:lnSpc>
                <a:spcPct val="100000"/>
              </a:lnSpc>
              <a:defRPr sz="27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8879" y="360538"/>
            <a:ext cx="1324174"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7650122" y="6489088"/>
            <a:ext cx="945000" cy="180000"/>
          </a:xfrm>
        </p:spPr>
        <p:txBody>
          <a:bodyPr/>
          <a:lstStyle>
            <a:lvl1pPr marL="0" indent="0" algn="l">
              <a:buNone/>
              <a:defRPr sz="525"/>
            </a:lvl1pPr>
          </a:lstStyle>
          <a:p>
            <a:r>
              <a:rPr lang="en-US"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808887" y="3860495"/>
            <a:ext cx="3510000" cy="1008000"/>
          </a:xfrm>
        </p:spPr>
        <p:txBody>
          <a:bodyPr/>
          <a:lstStyle>
            <a:lvl1pPr marL="0" indent="0">
              <a:lnSpc>
                <a:spcPct val="100000"/>
              </a:lnSpc>
              <a:spcBef>
                <a:spcPts val="0"/>
              </a:spcBef>
              <a:buNone/>
              <a:defRPr>
                <a:solidFill>
                  <a:schemeClr val="bg1"/>
                </a:solidFill>
              </a:defRPr>
            </a:lvl1pPr>
            <a:lvl2pPr marL="200025" indent="0">
              <a:lnSpc>
                <a:spcPct val="100000"/>
              </a:lnSpc>
              <a:spcBef>
                <a:spcPts val="0"/>
              </a:spcBef>
              <a:buNone/>
              <a:defRPr>
                <a:solidFill>
                  <a:schemeClr val="bg1"/>
                </a:solidFill>
              </a:defRPr>
            </a:lvl2pPr>
            <a:lvl3pPr marL="403622" indent="0">
              <a:lnSpc>
                <a:spcPct val="100000"/>
              </a:lnSpc>
              <a:spcBef>
                <a:spcPts val="0"/>
              </a:spcBef>
              <a:buNone/>
              <a:defRPr>
                <a:solidFill>
                  <a:schemeClr val="bg1"/>
                </a:solidFill>
              </a:defRPr>
            </a:lvl3pPr>
            <a:lvl4pPr marL="603647" indent="0">
              <a:lnSpc>
                <a:spcPct val="100000"/>
              </a:lnSpc>
              <a:spcBef>
                <a:spcPts val="0"/>
              </a:spcBef>
              <a:buNone/>
              <a:defRPr>
                <a:solidFill>
                  <a:schemeClr val="bg1"/>
                </a:solidFill>
              </a:defRPr>
            </a:lvl4pPr>
            <a:lvl5pPr marL="807244" indent="0">
              <a:lnSpc>
                <a:spcPct val="100000"/>
              </a:lnSpc>
              <a:spcBef>
                <a:spcPts val="0"/>
              </a:spcBef>
              <a:buNone/>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46551246"/>
      </p:ext>
    </p:extLst>
  </p:cSld>
  <p:clrMapOvr>
    <a:masterClrMapping/>
  </p:clrMapOvr>
  <p:extLst>
    <p:ext uri="{DCECCB84-F9BA-43D5-87BE-67443E8EF086}">
      <p15:sldGuideLst xmlns:p15="http://schemas.microsoft.com/office/powerpoint/2012/main">
        <p15:guide id="2" pos="3840">
          <p15:clr>
            <a:srgbClr val="FBAE40"/>
          </p15:clr>
        </p15:guide>
        <p15:guide id="3" orient="horz" pos="640">
          <p15:clr>
            <a:srgbClr val="FBAE40"/>
          </p15:clr>
        </p15:guide>
        <p15:guide id="4" orient="horz" pos="3952">
          <p15:clr>
            <a:srgbClr val="FBAE40"/>
          </p15:clr>
        </p15:guide>
        <p15:guide id="5" pos="61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197768"/>
            <a:ext cx="7139136" cy="1143000"/>
          </a:xfrm>
          <a:prstGeom prst="rect">
            <a:avLst/>
          </a:prstGeom>
        </p:spPr>
        <p:txBody>
          <a:bodyPr vert="horz" lIns="91440" tIns="45720" rIns="91440" bIns="45720" rtlCol="0" anchor="t">
            <a:normAutofit/>
          </a:bodyPr>
          <a:lstStyle/>
          <a:p>
            <a:r>
              <a:rPr lang="de-DE" dirty="0"/>
              <a:t>Titelmasterformat durch Klicken bearbeiten</a:t>
            </a:r>
            <a:endParaRPr lang="de-CH" dirty="0"/>
          </a:p>
        </p:txBody>
      </p:sp>
      <p:sp>
        <p:nvSpPr>
          <p:cNvPr id="3" name="Textplatzhalter 2"/>
          <p:cNvSpPr>
            <a:spLocks noGrp="1"/>
          </p:cNvSpPr>
          <p:nvPr>
            <p:ph type="body" idx="1"/>
          </p:nvPr>
        </p:nvSpPr>
        <p:spPr>
          <a:xfrm>
            <a:off x="457200" y="1600200"/>
            <a:ext cx="8229600" cy="4853136"/>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pic>
        <p:nvPicPr>
          <p:cNvPr id="7" name="Grafik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164288" y="197768"/>
            <a:ext cx="1907704" cy="638944"/>
          </a:xfrm>
          <a:prstGeom prst="rect">
            <a:avLst/>
          </a:prstGeom>
        </p:spPr>
      </p:pic>
      <p:pic>
        <p:nvPicPr>
          <p:cNvPr id="6" name="Grafik 6">
            <a:extLst>
              <a:ext uri="{FF2B5EF4-FFF2-40B4-BE49-F238E27FC236}">
                <a16:creationId xmlns:a16="http://schemas.microsoft.com/office/drawing/2014/main" id="{2D0BB5DD-CF82-0B44-5589-73A28F042A22}"/>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4918364" y="78289"/>
            <a:ext cx="2277200" cy="877901"/>
          </a:xfrm>
          <a:prstGeom prst="rect">
            <a:avLst/>
          </a:prstGeom>
        </p:spPr>
      </p:pic>
      <p:sp>
        <p:nvSpPr>
          <p:cNvPr id="5" name="Slide Number Placeholder 4">
            <a:extLst>
              <a:ext uri="{FF2B5EF4-FFF2-40B4-BE49-F238E27FC236}">
                <a16:creationId xmlns:a16="http://schemas.microsoft.com/office/drawing/2014/main" id="{4E241466-64A0-79C6-4227-BE392BA884E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E3F2E-5E17-4E15-9E32-D4A7BBAEA187}" type="slidenum">
              <a:rPr lang="el-GR" smtClean="0"/>
              <a:t>‹#›</a:t>
            </a:fld>
            <a:endParaRPr lang="el-GR"/>
          </a:p>
        </p:txBody>
      </p:sp>
    </p:spTree>
    <p:extLst>
      <p:ext uri="{BB962C8B-B14F-4D97-AF65-F5344CB8AC3E}">
        <p14:creationId xmlns:p14="http://schemas.microsoft.com/office/powerpoint/2010/main" val="126491613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6" r:id="rId3"/>
    <p:sldLayoutId id="2147483687" r:id="rId4"/>
    <p:sldLayoutId id="2147483688" r:id="rId5"/>
    <p:sldLayoutId id="2147483689" r:id="rId6"/>
    <p:sldLayoutId id="2147483690" r:id="rId7"/>
    <p:sldLayoutId id="2147483693" r:id="rId8"/>
    <p:sldLayoutId id="2147483694" r:id="rId9"/>
    <p:sldLayoutId id="2147483695" r:id="rId10"/>
  </p:sldLayoutIdLst>
  <p:hf hdr="0" ft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FF0000"/>
        </a:buClr>
        <a:buSzPct val="80000"/>
        <a:buFont typeface="Wingdings" pitchFamily="2" charset="2"/>
        <a:buChar char=""/>
        <a:defRPr sz="2000" kern="1200">
          <a:solidFill>
            <a:schemeClr val="tx1"/>
          </a:solidFill>
          <a:latin typeface="+mn-lt"/>
          <a:ea typeface="+mn-ea"/>
          <a:cs typeface="+mn-cs"/>
        </a:defRPr>
      </a:lvl1pPr>
      <a:lvl2pPr marL="742950" indent="-285750" algn="l" defTabSz="914400" rtl="0" eaLnBrk="1" latinLnBrk="0" hangingPunct="1">
        <a:spcBef>
          <a:spcPct val="20000"/>
        </a:spcBef>
        <a:buClr>
          <a:srgbClr val="FF0000"/>
        </a:buClr>
        <a:buSzPct val="80000"/>
        <a:buFont typeface="Wingdings" pitchFamily="2" charset="2"/>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Clr>
          <a:srgbClr val="FF0000"/>
        </a:buClr>
        <a:buSzPct val="80000"/>
        <a:buFont typeface="Wingdings" pitchFamily="2" charset="2"/>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Clr>
          <a:srgbClr val="FF0000"/>
        </a:buClr>
        <a:buSzPct val="80000"/>
        <a:buFont typeface="Wingdings" pitchFamily="2" charset="2"/>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Clr>
          <a:srgbClr val="FF0000"/>
        </a:buClr>
        <a:buSzPct val="80000"/>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nstantinospaschalis.github.io/" TargetMode="External"/><Relationship Id="rId2" Type="http://schemas.openxmlformats.org/officeDocument/2006/relationships/image" Target="../media/image5.jpg"/><Relationship Id="rId1" Type="http://schemas.openxmlformats.org/officeDocument/2006/relationships/slideLayout" Target="../slideLayouts/slideLayout10.xml"/><Relationship Id="rId4" Type="http://schemas.openxmlformats.org/officeDocument/2006/relationships/hyperlink" Target="mailto:cpaschalis@ethz.ch"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www.publicdomainpictures.net/view-image.php?image=16468" TargetMode="External"/><Relationship Id="rId3" Type="http://schemas.openxmlformats.org/officeDocument/2006/relationships/image" Target="../media/image6.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https://www.futurebridge.com/industry/perspectives-energy/renewable-based-heating-and-cooling-in-europe-by-2030/" TargetMode="External"/><Relationship Id="rId4" Type="http://schemas.openxmlformats.org/officeDocument/2006/relationships/hyperlink" Target="https://ec.europa.eu/eurostat/statistics-explained/index.php?title=Renewable_energy_statistic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461" b="461"/>
          <a:stretch>
            <a:fillRect/>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a:xfrm>
            <a:off x="0" y="1916832"/>
            <a:ext cx="5220072" cy="3024336"/>
          </a:xfrm>
          <a:solidFill>
            <a:srgbClr val="0070C0"/>
          </a:solidFill>
          <a:ln>
            <a:solidFill>
              <a:srgbClr val="0070C0"/>
            </a:solidFill>
          </a:ln>
        </p:spPr>
        <p:txBody>
          <a:bodyPr/>
          <a:lstStyle/>
          <a:p>
            <a:endParaRPr lang="de-CH" sz="1875" dirty="0">
              <a:noFill/>
            </a:endParaRPr>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a:xfrm>
            <a:off x="323528" y="3263579"/>
            <a:ext cx="4104457" cy="1096348"/>
          </a:xfrm>
        </p:spPr>
        <p:txBody>
          <a:bodyPr>
            <a:noAutofit/>
          </a:bodyPr>
          <a:lstStyle/>
          <a:p>
            <a:r>
              <a:rPr lang="de-CH" sz="1200" i="1" dirty="0">
                <a:effectLst>
                  <a:outerShdw blurRad="38100" dist="38100" dir="2700000" algn="tl">
                    <a:srgbClr val="000000">
                      <a:alpha val="43137"/>
                    </a:srgbClr>
                  </a:outerShdw>
                </a:effectLst>
              </a:rPr>
              <a:t>Constantinos Paschalis</a:t>
            </a:r>
          </a:p>
          <a:p>
            <a:r>
              <a:rPr lang="de-CH" sz="1200" dirty="0">
                <a:effectLst>
                  <a:outerShdw blurRad="38100" dist="38100" dir="2700000" algn="tl">
                    <a:srgbClr val="000000">
                      <a:alpha val="43137"/>
                    </a:srgbClr>
                  </a:outerShdw>
                </a:effectLst>
              </a:rPr>
              <a:t>Website: </a:t>
            </a:r>
            <a:r>
              <a:rPr lang="de-CH" sz="1200" dirty="0">
                <a:effectLst>
                  <a:outerShdw blurRad="38100" dist="38100" dir="2700000" algn="tl">
                    <a:srgbClr val="000000">
                      <a:alpha val="43137"/>
                    </a:srgbClr>
                  </a:outerShdw>
                </a:effectLst>
                <a:hlinkClick r:id="rId3">
                  <a:extLst>
                    <a:ext uri="{A12FA001-AC4F-418D-AE19-62706E023703}">
                      <ahyp:hlinkClr xmlns:ahyp="http://schemas.microsoft.com/office/drawing/2018/hyperlinkcolor" val="tx"/>
                    </a:ext>
                  </a:extLst>
                </a:hlinkClick>
              </a:rPr>
              <a:t>https://constantinospaschalis.github.io/</a:t>
            </a:r>
            <a:endParaRPr lang="de-CH" sz="1200" dirty="0">
              <a:hlinkClick r:id="rId4">
                <a:extLst>
                  <a:ext uri="{A12FA001-AC4F-418D-AE19-62706E023703}">
                    <ahyp:hlinkClr xmlns:ahyp="http://schemas.microsoft.com/office/drawing/2018/hyperlinkcolor" val="tx"/>
                  </a:ext>
                </a:extLst>
              </a:hlinkClick>
            </a:endParaRPr>
          </a:p>
          <a:p>
            <a:r>
              <a:rPr lang="de-CH" sz="1200" dirty="0">
                <a:effectLst>
                  <a:outerShdw blurRad="38100" dist="38100" dir="2700000" algn="tl">
                    <a:srgbClr val="000000">
                      <a:alpha val="43137"/>
                    </a:srgbClr>
                  </a:outerShdw>
                </a:effectLst>
              </a:rPr>
              <a:t>Contact: con.paschalis@gmail.com</a:t>
            </a:r>
            <a:endParaRPr lang="de-CH" sz="1200" dirty="0"/>
          </a:p>
          <a:p>
            <a:endParaRPr lang="en-US" sz="1200" i="1" dirty="0">
              <a:effectLst>
                <a:outerShdw blurRad="38100" dist="38100" dir="2700000" algn="tl">
                  <a:srgbClr val="000000">
                    <a:alpha val="43137"/>
                  </a:srgbClr>
                </a:outerShdw>
              </a:effectLst>
            </a:endParaRPr>
          </a:p>
          <a:p>
            <a:r>
              <a:rPr lang="en-US" sz="1200" i="1" dirty="0">
                <a:effectLst>
                  <a:outerShdw blurRad="38100" dist="38100" dir="2700000" algn="tl">
                    <a:srgbClr val="000000">
                      <a:alpha val="43137"/>
                    </a:srgbClr>
                  </a:outerShdw>
                </a:effectLst>
              </a:rPr>
              <a:t>Supervisors: </a:t>
            </a:r>
            <a:r>
              <a:rPr lang="de-DE" sz="1200" i="1" dirty="0">
                <a:effectLst>
                  <a:outerShdw blurRad="38100" dist="38100" dir="2700000" algn="tl">
                    <a:srgbClr val="000000">
                      <a:alpha val="43137"/>
                    </a:srgbClr>
                  </a:outerShdw>
                </a:effectLst>
              </a:rPr>
              <a:t>Professor Dr. </a:t>
            </a:r>
            <a:r>
              <a:rPr lang="el-GR" sz="1200" i="1" dirty="0" err="1">
                <a:effectLst>
                  <a:outerShdw blurRad="38100" dist="38100" dir="2700000" algn="tl">
                    <a:srgbClr val="000000">
                      <a:alpha val="43137"/>
                    </a:srgbClr>
                  </a:outerShdw>
                </a:effectLst>
              </a:rPr>
              <a:t>André</a:t>
            </a:r>
            <a:r>
              <a:rPr lang="el-GR" sz="1200" i="1" dirty="0">
                <a:effectLst>
                  <a:outerShdw blurRad="38100" dist="38100" dir="2700000" algn="tl">
                    <a:srgbClr val="000000">
                      <a:alpha val="43137"/>
                    </a:srgbClr>
                  </a:outerShdw>
                </a:effectLst>
              </a:rPr>
              <a:t> </a:t>
            </a:r>
            <a:r>
              <a:rPr lang="el-GR" sz="1200" i="1" dirty="0" err="1">
                <a:effectLst>
                  <a:outerShdw blurRad="38100" dist="38100" dir="2700000" algn="tl">
                    <a:srgbClr val="000000">
                      <a:alpha val="43137"/>
                    </a:srgbClr>
                  </a:outerShdw>
                </a:effectLst>
              </a:rPr>
              <a:t>Bardow</a:t>
            </a:r>
            <a:endParaRPr lang="en-US" sz="1200" i="1" dirty="0">
              <a:effectLst>
                <a:outerShdw blurRad="38100" dist="38100" dir="2700000" algn="tl">
                  <a:srgbClr val="000000">
                    <a:alpha val="43137"/>
                  </a:srgbClr>
                </a:outerShdw>
              </a:effectLst>
            </a:endParaRPr>
          </a:p>
          <a:p>
            <a:r>
              <a:rPr lang="en-US" sz="1200" i="1" dirty="0">
                <a:effectLst>
                  <a:outerShdw blurRad="38100" dist="38100" dir="2700000" algn="tl">
                    <a:srgbClr val="000000">
                      <a:alpha val="43137"/>
                    </a:srgbClr>
                  </a:outerShdw>
                </a:effectLst>
              </a:rPr>
              <a:t> 	Dr. Gabriele Humbert</a:t>
            </a:r>
          </a:p>
          <a:p>
            <a:r>
              <a:rPr lang="en-US" sz="1200" i="1" dirty="0">
                <a:effectLst>
                  <a:outerShdw blurRad="38100" dist="38100" dir="2700000" algn="tl">
                    <a:srgbClr val="000000">
                      <a:alpha val="43137"/>
                    </a:srgbClr>
                  </a:outerShdw>
                </a:effectLst>
              </a:rPr>
              <a:t>	Dr. Casati Emiliano</a:t>
            </a:r>
          </a:p>
          <a:p>
            <a:r>
              <a:rPr lang="de-DE" sz="1200" dirty="0"/>
              <a:t>02 September 2026, </a:t>
            </a:r>
            <a:r>
              <a:rPr lang="de-DE" sz="1200" dirty="0" err="1"/>
              <a:t>Zurich</a:t>
            </a:r>
            <a:endParaRPr lang="de-CH" sz="1200" dirty="0"/>
          </a:p>
        </p:txBody>
      </p:sp>
      <p:sp>
        <p:nvSpPr>
          <p:cNvPr id="4" name="TextBox 3">
            <a:extLst>
              <a:ext uri="{FF2B5EF4-FFF2-40B4-BE49-F238E27FC236}">
                <a16:creationId xmlns:a16="http://schemas.microsoft.com/office/drawing/2014/main" id="{B9AC55C0-9B66-6D88-2D17-43D947DE4A70}"/>
              </a:ext>
            </a:extLst>
          </p:cNvPr>
          <p:cNvSpPr txBox="1"/>
          <p:nvPr/>
        </p:nvSpPr>
        <p:spPr>
          <a:xfrm>
            <a:off x="323528" y="1928486"/>
            <a:ext cx="4824535" cy="1323439"/>
          </a:xfrm>
          <a:prstGeom prst="rect">
            <a:avLst/>
          </a:prstGeom>
          <a:noFill/>
        </p:spPr>
        <p:txBody>
          <a:bodyPr wrap="square" rtlCol="0">
            <a:spAutoFit/>
          </a:bodyPr>
          <a:lstStyle/>
          <a:p>
            <a:r>
              <a:rPr lang="en-US" sz="2000" i="1" dirty="0">
                <a:solidFill>
                  <a:schemeClr val="bg1"/>
                </a:solidFill>
                <a:effectLst>
                  <a:outerShdw blurRad="38100" dist="38100" dir="2700000" algn="tl">
                    <a:srgbClr val="000000">
                      <a:alpha val="43137"/>
                    </a:srgbClr>
                  </a:outerShdw>
                </a:effectLst>
              </a:rPr>
              <a:t>Facilitating the Integration of Borehole Thermal Energy Storage in District Energy Systems: Improving the Fidelity of Design Tools</a:t>
            </a:r>
            <a:endParaRPr lang="el-GR" sz="2000" dirty="0">
              <a:solidFill>
                <a:schemeClr val="bg1"/>
              </a:solidFill>
            </a:endParaRPr>
          </a:p>
        </p:txBody>
      </p:sp>
    </p:spTree>
    <p:extLst>
      <p:ext uri="{BB962C8B-B14F-4D97-AF65-F5344CB8AC3E}">
        <p14:creationId xmlns:p14="http://schemas.microsoft.com/office/powerpoint/2010/main" val="35361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A5A2A-7B63-8DC3-AE46-E5ADF159D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77A89-CBAE-3197-FA3E-EF7A29A22DE2}"/>
              </a:ext>
            </a:extLst>
          </p:cNvPr>
          <p:cNvSpPr>
            <a:spLocks noGrp="1"/>
          </p:cNvSpPr>
          <p:nvPr>
            <p:ph type="title"/>
          </p:nvPr>
        </p:nvSpPr>
        <p:spPr>
          <a:xfrm>
            <a:off x="457200" y="197768"/>
            <a:ext cx="7139136" cy="1143000"/>
          </a:xfrm>
        </p:spPr>
        <p:txBody>
          <a:bodyPr anchor="t">
            <a:normAutofit/>
          </a:bodyPr>
          <a:lstStyle/>
          <a:p>
            <a:r>
              <a:rPr lang="en-US" i="1" dirty="0">
                <a:effectLst>
                  <a:outerShdw blurRad="38100" dist="38100" dir="2700000" algn="tl">
                    <a:srgbClr val="000000">
                      <a:alpha val="43137"/>
                    </a:srgbClr>
                  </a:outerShdw>
                </a:effectLst>
              </a:rPr>
              <a:t>Motivation – Share of Renewables</a:t>
            </a:r>
            <a:endParaRPr lang="el-GR" i="1" dirty="0">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191762A7-1629-513A-3F14-B134EC93E887}"/>
              </a:ext>
            </a:extLst>
          </p:cNvPr>
          <p:cNvSpPr>
            <a:spLocks noGrp="1"/>
          </p:cNvSpPr>
          <p:nvPr>
            <p:ph idx="1"/>
          </p:nvPr>
        </p:nvSpPr>
        <p:spPr>
          <a:xfrm>
            <a:off x="425105" y="1252119"/>
            <a:ext cx="8229600" cy="4697161"/>
          </a:xfrm>
        </p:spPr>
        <p:txBody>
          <a:bodyPr>
            <a:normAutofit/>
          </a:bodyPr>
          <a:lstStyle/>
          <a:p>
            <a:r>
              <a:rPr lang="en-US" sz="1800" dirty="0"/>
              <a:t>In the EU 49.3% of net electricity generated comes from renewable energies</a:t>
            </a:r>
            <a:r>
              <a:rPr lang="en-US" sz="1800" baseline="30000" dirty="0"/>
              <a:t>1</a:t>
            </a:r>
          </a:p>
          <a:p>
            <a:r>
              <a:rPr lang="en-US" sz="1800" dirty="0"/>
              <a:t>For heating and cooling only 26.1%</a:t>
            </a:r>
            <a:r>
              <a:rPr lang="en-US" sz="1800" baseline="30000" dirty="0"/>
              <a:t>1</a:t>
            </a:r>
          </a:p>
          <a:p>
            <a:pPr marL="0" indent="0">
              <a:buNone/>
            </a:pPr>
            <a:endParaRPr lang="en-US" sz="1800" dirty="0"/>
          </a:p>
        </p:txBody>
      </p:sp>
      <p:pic>
        <p:nvPicPr>
          <p:cNvPr id="11" name="Picture 10">
            <a:extLst>
              <a:ext uri="{FF2B5EF4-FFF2-40B4-BE49-F238E27FC236}">
                <a16:creationId xmlns:a16="http://schemas.microsoft.com/office/drawing/2014/main" id="{181B0ADB-3A37-56E6-64B7-573593AF3902}"/>
              </a:ext>
            </a:extLst>
          </p:cNvPr>
          <p:cNvPicPr>
            <a:picLocks noChangeAspect="1"/>
          </p:cNvPicPr>
          <p:nvPr/>
        </p:nvPicPr>
        <p:blipFill>
          <a:blip r:embed="rId3" cstate="print">
            <a:extLst>
              <a:ext uri="{28A0092B-C50C-407E-A947-70E740481C1C}">
                <a14:useLocalDpi xmlns:a14="http://schemas.microsoft.com/office/drawing/2010/main" val="0"/>
              </a:ext>
            </a:extLst>
          </a:blip>
          <a:srcRect l="9837" r="21926" b="5561"/>
          <a:stretch>
            <a:fillRect/>
          </a:stretch>
        </p:blipFill>
        <p:spPr>
          <a:xfrm>
            <a:off x="2240316" y="2557760"/>
            <a:ext cx="4663368" cy="3048121"/>
          </a:xfrm>
          <a:prstGeom prst="rect">
            <a:avLst/>
          </a:prstGeom>
        </p:spPr>
      </p:pic>
      <p:sp>
        <p:nvSpPr>
          <p:cNvPr id="3" name="TextBox 2">
            <a:extLst>
              <a:ext uri="{FF2B5EF4-FFF2-40B4-BE49-F238E27FC236}">
                <a16:creationId xmlns:a16="http://schemas.microsoft.com/office/drawing/2014/main" id="{7D99CB4F-7E17-E428-7A9F-3027F7812FD4}"/>
              </a:ext>
            </a:extLst>
          </p:cNvPr>
          <p:cNvSpPr txBox="1"/>
          <p:nvPr/>
        </p:nvSpPr>
        <p:spPr>
          <a:xfrm>
            <a:off x="14117" y="6522941"/>
            <a:ext cx="8795320" cy="338554"/>
          </a:xfrm>
          <a:prstGeom prst="rect">
            <a:avLst/>
          </a:prstGeom>
          <a:noFill/>
        </p:spPr>
        <p:txBody>
          <a:bodyPr wrap="square" rtlCol="0">
            <a:spAutoFit/>
          </a:bodyPr>
          <a:lstStyle/>
          <a:p>
            <a:r>
              <a:rPr lang="en-US" sz="800" dirty="0">
                <a:hlinkClick r:id="rId4">
                  <a:extLst>
                    <a:ext uri="{A12FA001-AC4F-418D-AE19-62706E023703}">
                      <ahyp:hlinkClr xmlns:ahyp="http://schemas.microsoft.com/office/drawing/2018/hyperlinkcolor" val="tx"/>
                    </a:ext>
                  </a:extLst>
                </a:hlinkClick>
              </a:rPr>
              <a:t>[1] https://ec.europa.eu/eurostat/statistics-explained/index.php?title=Renewable_energy_statistics</a:t>
            </a:r>
            <a:endParaRPr lang="en-US" sz="800" dirty="0"/>
          </a:p>
          <a:p>
            <a:r>
              <a:rPr lang="en-US" sz="800" dirty="0">
                <a:hlinkClick r:id="rId5">
                  <a:extLst>
                    <a:ext uri="{A12FA001-AC4F-418D-AE19-62706E023703}">
                      <ahyp:hlinkClr xmlns:ahyp="http://schemas.microsoft.com/office/drawing/2018/hyperlinkcolor" val="tx"/>
                    </a:ext>
                  </a:extLst>
                </a:hlinkClick>
              </a:rPr>
              <a:t>[2] https://www.futurebridge.com/industry/perspectives-energy/renewable-based-heating-and-cooling-in-europe-by-2030/</a:t>
            </a:r>
            <a:endParaRPr lang="en-US" sz="800" dirty="0"/>
          </a:p>
        </p:txBody>
      </p:sp>
      <p:sp>
        <p:nvSpPr>
          <p:cNvPr id="5" name="TextBox 4">
            <a:extLst>
              <a:ext uri="{FF2B5EF4-FFF2-40B4-BE49-F238E27FC236}">
                <a16:creationId xmlns:a16="http://schemas.microsoft.com/office/drawing/2014/main" id="{E453BA6D-DF88-DBBD-A144-056940732E29}"/>
              </a:ext>
            </a:extLst>
          </p:cNvPr>
          <p:cNvSpPr txBox="1"/>
          <p:nvPr/>
        </p:nvSpPr>
        <p:spPr>
          <a:xfrm>
            <a:off x="6696379" y="5351793"/>
            <a:ext cx="514134" cy="276999"/>
          </a:xfrm>
          <a:prstGeom prst="rect">
            <a:avLst/>
          </a:prstGeom>
          <a:noFill/>
        </p:spPr>
        <p:txBody>
          <a:bodyPr wrap="square" rtlCol="0">
            <a:spAutoFit/>
          </a:bodyPr>
          <a:lstStyle/>
          <a:p>
            <a:r>
              <a:rPr lang="en-US" baseline="30000" dirty="0"/>
              <a:t>2</a:t>
            </a:r>
            <a:endParaRPr lang="el-GR" baseline="30000" dirty="0"/>
          </a:p>
        </p:txBody>
      </p:sp>
      <p:pic>
        <p:nvPicPr>
          <p:cNvPr id="7" name="Picture 6" descr="Wood human figure">
            <a:extLst>
              <a:ext uri="{FF2B5EF4-FFF2-40B4-BE49-F238E27FC236}">
                <a16:creationId xmlns:a16="http://schemas.microsoft.com/office/drawing/2014/main" id="{6D449650-2DDF-3154-A9BD-4A0648ACD7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4455" y="3429000"/>
            <a:ext cx="1403648" cy="1305644"/>
          </a:xfrm>
          <a:prstGeom prst="rect">
            <a:avLst/>
          </a:prstGeom>
        </p:spPr>
      </p:pic>
      <p:pic>
        <p:nvPicPr>
          <p:cNvPr id="12" name="Picture 11">
            <a:extLst>
              <a:ext uri="{FF2B5EF4-FFF2-40B4-BE49-F238E27FC236}">
                <a16:creationId xmlns:a16="http://schemas.microsoft.com/office/drawing/2014/main" id="{E65FFF0B-EC8E-0DE7-CE46-00A3A2BE6545}"/>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385897" y="3429000"/>
            <a:ext cx="1400426" cy="1305643"/>
          </a:xfrm>
          <a:prstGeom prst="rect">
            <a:avLst/>
          </a:prstGeom>
        </p:spPr>
      </p:pic>
      <p:sp>
        <p:nvSpPr>
          <p:cNvPr id="6" name="Slide Number Placeholder 5">
            <a:extLst>
              <a:ext uri="{FF2B5EF4-FFF2-40B4-BE49-F238E27FC236}">
                <a16:creationId xmlns:a16="http://schemas.microsoft.com/office/drawing/2014/main" id="{444C5561-6365-F1DC-3253-54A9BB7CB3B7}"/>
              </a:ext>
            </a:extLst>
          </p:cNvPr>
          <p:cNvSpPr>
            <a:spLocks noGrp="1"/>
          </p:cNvSpPr>
          <p:nvPr>
            <p:ph type="sldNum" sz="quarter" idx="4"/>
          </p:nvPr>
        </p:nvSpPr>
        <p:spPr/>
        <p:txBody>
          <a:bodyPr/>
          <a:lstStyle/>
          <a:p>
            <a:fld id="{CC7E3F2E-5E17-4E15-9E32-D4A7BBAEA187}" type="slidenum">
              <a:rPr lang="el-GR" smtClean="0"/>
              <a:t>2</a:t>
            </a:fld>
            <a:endParaRPr lang="el-GR"/>
          </a:p>
        </p:txBody>
      </p:sp>
    </p:spTree>
    <p:extLst>
      <p:ext uri="{BB962C8B-B14F-4D97-AF65-F5344CB8AC3E}">
        <p14:creationId xmlns:p14="http://schemas.microsoft.com/office/powerpoint/2010/main" val="375177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D892D-81C5-0A7A-FF92-A1A60DB376B8}"/>
              </a:ext>
            </a:extLst>
          </p:cNvPr>
          <p:cNvSpPr>
            <a:spLocks noGrp="1"/>
          </p:cNvSpPr>
          <p:nvPr>
            <p:ph type="title"/>
          </p:nvPr>
        </p:nvSpPr>
        <p:spPr>
          <a:xfrm>
            <a:off x="457200" y="197768"/>
            <a:ext cx="7139136" cy="1143000"/>
          </a:xfrm>
        </p:spPr>
        <p:txBody>
          <a:bodyPr anchor="t">
            <a:normAutofit/>
          </a:bodyPr>
          <a:lstStyle/>
          <a:p>
            <a:r>
              <a:rPr lang="en-US" i="1" dirty="0">
                <a:effectLst>
                  <a:outerShdw blurRad="38100" dist="38100" dir="2700000" algn="tl">
                    <a:srgbClr val="000000">
                      <a:alpha val="43137"/>
                    </a:srgbClr>
                  </a:outerShdw>
                </a:effectLst>
              </a:rPr>
              <a:t>Why is Borehole Thermal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Energy Storage (BTES)?</a:t>
            </a:r>
            <a:endParaRPr lang="el-GR" i="1" dirty="0">
              <a:effectLst>
                <a:outerShdw blurRad="38100" dist="38100" dir="2700000" algn="tl">
                  <a:srgbClr val="000000">
                    <a:alpha val="43137"/>
                  </a:srgbClr>
                </a:outerShdw>
              </a:effectLst>
            </a:endParaRPr>
          </a:p>
        </p:txBody>
      </p:sp>
      <p:pic>
        <p:nvPicPr>
          <p:cNvPr id="11" name="Picture 10">
            <a:extLst>
              <a:ext uri="{FF2B5EF4-FFF2-40B4-BE49-F238E27FC236}">
                <a16:creationId xmlns:a16="http://schemas.microsoft.com/office/drawing/2014/main" id="{38F014F7-250F-8B1A-8282-18B2AE64A335}"/>
              </a:ext>
            </a:extLst>
          </p:cNvPr>
          <p:cNvPicPr>
            <a:picLocks noChangeAspect="1"/>
          </p:cNvPicPr>
          <p:nvPr/>
        </p:nvPicPr>
        <p:blipFill>
          <a:blip r:embed="rId3"/>
          <a:stretch>
            <a:fillRect/>
          </a:stretch>
        </p:blipFill>
        <p:spPr>
          <a:xfrm>
            <a:off x="3491880" y="1212940"/>
            <a:ext cx="5652120" cy="4586808"/>
          </a:xfrm>
          <a:prstGeom prst="rect">
            <a:avLst/>
          </a:prstGeom>
          <a:noFill/>
        </p:spPr>
      </p:pic>
      <p:sp>
        <p:nvSpPr>
          <p:cNvPr id="12" name="TextBox 11">
            <a:extLst>
              <a:ext uri="{FF2B5EF4-FFF2-40B4-BE49-F238E27FC236}">
                <a16:creationId xmlns:a16="http://schemas.microsoft.com/office/drawing/2014/main" id="{37E0B60D-688A-374D-FB38-DF2D7720BC50}"/>
              </a:ext>
            </a:extLst>
          </p:cNvPr>
          <p:cNvSpPr txBox="1"/>
          <p:nvPr/>
        </p:nvSpPr>
        <p:spPr>
          <a:xfrm>
            <a:off x="-27919" y="6165304"/>
            <a:ext cx="9252520" cy="830997"/>
          </a:xfrm>
          <a:prstGeom prst="rect">
            <a:avLst/>
          </a:prstGeom>
          <a:noFill/>
        </p:spPr>
        <p:txBody>
          <a:bodyPr wrap="square" rtlCol="0">
            <a:spAutoFit/>
          </a:bodyPr>
          <a:lstStyle/>
          <a:p>
            <a:r>
              <a:rPr lang="en-US" sz="800" dirty="0"/>
              <a:t>[3] </a:t>
            </a:r>
            <a:r>
              <a:rPr lang="el-GR" sz="800" dirty="0" err="1"/>
              <a:t>Pourahmadiyan</a:t>
            </a:r>
            <a:r>
              <a:rPr lang="el-GR" sz="800" dirty="0"/>
              <a:t>, A., </a:t>
            </a:r>
            <a:r>
              <a:rPr lang="el-GR" sz="800" dirty="0" err="1"/>
              <a:t>Sadi</a:t>
            </a:r>
            <a:r>
              <a:rPr lang="el-GR" sz="800" dirty="0"/>
              <a:t>, M., &amp; </a:t>
            </a:r>
            <a:r>
              <a:rPr lang="el-GR" sz="800" dirty="0" err="1"/>
              <a:t>Arabkoohsar</a:t>
            </a:r>
            <a:r>
              <a:rPr lang="el-GR" sz="800" dirty="0"/>
              <a:t>, A. (2023). </a:t>
            </a:r>
            <a:r>
              <a:rPr lang="el-GR" sz="800" i="1" dirty="0" err="1"/>
              <a:t>Seasonal</a:t>
            </a:r>
            <a:r>
              <a:rPr lang="el-GR" sz="800" i="1" dirty="0"/>
              <a:t> Thermal Energy </a:t>
            </a:r>
            <a:r>
              <a:rPr lang="el-GR" sz="800" i="1" dirty="0" err="1"/>
              <a:t>Storage</a:t>
            </a:r>
            <a:r>
              <a:rPr lang="el-GR" sz="800" dirty="0"/>
              <a:t>. In A. </a:t>
            </a:r>
            <a:r>
              <a:rPr lang="el-GR" sz="800" dirty="0" err="1"/>
              <a:t>Arabkoohsar</a:t>
            </a:r>
            <a:r>
              <a:rPr lang="el-GR" sz="800" dirty="0"/>
              <a:t> (</a:t>
            </a:r>
            <a:r>
              <a:rPr lang="el-GR" sz="800" dirty="0" err="1"/>
              <a:t>Ed</a:t>
            </a:r>
            <a:r>
              <a:rPr lang="el-GR" sz="800" dirty="0"/>
              <a:t>.), </a:t>
            </a:r>
            <a:r>
              <a:rPr lang="el-GR" sz="800" dirty="0" err="1"/>
              <a:t>Future</a:t>
            </a:r>
            <a:r>
              <a:rPr lang="el-GR" sz="800" dirty="0"/>
              <a:t> </a:t>
            </a:r>
            <a:r>
              <a:rPr lang="el-GR" sz="800" dirty="0" err="1"/>
              <a:t>Grid-Scale</a:t>
            </a:r>
            <a:r>
              <a:rPr lang="el-GR" sz="800" dirty="0"/>
              <a:t> Energy </a:t>
            </a:r>
            <a:r>
              <a:rPr lang="el-GR" sz="800" dirty="0" err="1"/>
              <a:t>Storage</a:t>
            </a:r>
            <a:r>
              <a:rPr lang="el-GR" sz="800" dirty="0"/>
              <a:t> </a:t>
            </a:r>
            <a:r>
              <a:rPr lang="el-GR" sz="800" dirty="0" err="1"/>
              <a:t>Solutions</a:t>
            </a:r>
            <a:r>
              <a:rPr lang="el-GR" sz="800" dirty="0"/>
              <a:t>: </a:t>
            </a:r>
            <a:r>
              <a:rPr lang="el-GR" sz="800" dirty="0" err="1"/>
              <a:t>Mechanical</a:t>
            </a:r>
            <a:r>
              <a:rPr lang="el-GR" sz="800" dirty="0"/>
              <a:t> and Chemical Technologies and </a:t>
            </a:r>
            <a:r>
              <a:rPr lang="el-GR" sz="800" dirty="0" err="1"/>
              <a:t>Principles</a:t>
            </a:r>
            <a:r>
              <a:rPr lang="el-GR" sz="800" dirty="0"/>
              <a:t> (</a:t>
            </a:r>
            <a:r>
              <a:rPr lang="el-GR" sz="800" dirty="0" err="1"/>
              <a:t>pp</a:t>
            </a:r>
            <a:r>
              <a:rPr lang="el-GR" sz="800" dirty="0"/>
              <a:t>. 215–257)</a:t>
            </a:r>
            <a:endParaRPr lang="en-US" sz="800" dirty="0"/>
          </a:p>
          <a:p>
            <a:r>
              <a:rPr lang="en-US" sz="800" dirty="0"/>
              <a:t>[4] </a:t>
            </a:r>
            <a:r>
              <a:rPr lang="en-US" sz="800" dirty="0" err="1"/>
              <a:t>Mohammadamin</a:t>
            </a:r>
            <a:r>
              <a:rPr lang="en-US" sz="800" dirty="0"/>
              <a:t> </a:t>
            </a:r>
            <a:r>
              <a:rPr lang="en-US" sz="800" dirty="0" err="1"/>
              <a:t>Ahmadfard</a:t>
            </a:r>
            <a:r>
              <a:rPr lang="en-US" sz="800" dirty="0"/>
              <a:t> and Ehsan </a:t>
            </a:r>
            <a:r>
              <a:rPr lang="en-US" sz="800" dirty="0" err="1"/>
              <a:t>Baniasadi</a:t>
            </a:r>
            <a:r>
              <a:rPr lang="en-US" sz="800" dirty="0"/>
              <a:t>. Borehole thermal energy </a:t>
            </a:r>
            <a:r>
              <a:rPr lang="en-US" sz="800" dirty="0" err="1"/>
              <a:t>stor</a:t>
            </a:r>
            <a:r>
              <a:rPr lang="en-US" sz="800" dirty="0"/>
              <a:t>-age systems: A comprehensive review using bibliometric and qualitative tools.</a:t>
            </a:r>
          </a:p>
          <a:p>
            <a:r>
              <a:rPr lang="en-US" sz="800" dirty="0"/>
              <a:t>[5] https://dewesoft.com/blog/solar-borehole-thermal-energy-storage</a:t>
            </a:r>
          </a:p>
          <a:p>
            <a:r>
              <a:rPr lang="en-US" sz="800" dirty="0"/>
              <a:t>[6] Cynthia Ann Cruickshank and Christopher Baldwin. Sensible thermal energy </a:t>
            </a:r>
            <a:r>
              <a:rPr lang="en-US" sz="800" dirty="0" err="1"/>
              <a:t>storage:Diurnal</a:t>
            </a:r>
            <a:r>
              <a:rPr lang="en-US" sz="800" dirty="0"/>
              <a:t> and seasonal. In Storing Energy, pages 291–311. Elsevier.</a:t>
            </a:r>
            <a:endParaRPr lang="el-GR" sz="800" dirty="0"/>
          </a:p>
          <a:p>
            <a:endParaRPr lang="el-GR" sz="800" dirty="0"/>
          </a:p>
        </p:txBody>
      </p:sp>
      <p:sp>
        <p:nvSpPr>
          <p:cNvPr id="13" name="TextBox 12">
            <a:extLst>
              <a:ext uri="{FF2B5EF4-FFF2-40B4-BE49-F238E27FC236}">
                <a16:creationId xmlns:a16="http://schemas.microsoft.com/office/drawing/2014/main" id="{0A714A46-6D0B-86B6-22AD-EF57D5210644}"/>
              </a:ext>
            </a:extLst>
          </p:cNvPr>
          <p:cNvSpPr txBox="1"/>
          <p:nvPr/>
        </p:nvSpPr>
        <p:spPr>
          <a:xfrm>
            <a:off x="8460432" y="5368061"/>
            <a:ext cx="360040" cy="276999"/>
          </a:xfrm>
          <a:prstGeom prst="rect">
            <a:avLst/>
          </a:prstGeom>
          <a:noFill/>
        </p:spPr>
        <p:txBody>
          <a:bodyPr wrap="square" rtlCol="0">
            <a:spAutoFit/>
          </a:bodyPr>
          <a:lstStyle/>
          <a:p>
            <a:r>
              <a:rPr lang="en-US" sz="1200" dirty="0"/>
              <a:t>[3]</a:t>
            </a:r>
            <a:endParaRPr lang="el-GR" sz="1200" dirty="0"/>
          </a:p>
        </p:txBody>
      </p:sp>
      <p:sp>
        <p:nvSpPr>
          <p:cNvPr id="14" name="Content Placeholder 3">
            <a:extLst>
              <a:ext uri="{FF2B5EF4-FFF2-40B4-BE49-F238E27FC236}">
                <a16:creationId xmlns:a16="http://schemas.microsoft.com/office/drawing/2014/main" id="{0C4A5371-5DDC-F57A-D342-79D65A4A72A2}"/>
              </a:ext>
            </a:extLst>
          </p:cNvPr>
          <p:cNvSpPr txBox="1">
            <a:spLocks/>
          </p:cNvSpPr>
          <p:nvPr/>
        </p:nvSpPr>
        <p:spPr>
          <a:xfrm>
            <a:off x="97160" y="1520788"/>
            <a:ext cx="3394720" cy="2232248"/>
          </a:xfrm>
          <a:prstGeom prst="rect">
            <a:avLst/>
          </a:prstGeom>
          <a:ln w="38100">
            <a:solidFill>
              <a:srgbClr val="0070C0"/>
            </a:solidFill>
          </a:ln>
        </p:spPr>
        <p:txBody>
          <a:bodyPr vert="horz" lIns="91440" tIns="45720" rIns="91440" bIns="45720" rtlCol="0">
            <a:noAutofit/>
          </a:bodyPr>
          <a:lstStyle>
            <a:lvl1pPr marL="342900" indent="-342900" algn="l" defTabSz="914400" rtl="0" eaLnBrk="1" latinLnBrk="0" hangingPunct="1">
              <a:spcBef>
                <a:spcPct val="20000"/>
              </a:spcBef>
              <a:buClr>
                <a:srgbClr val="FF0000"/>
              </a:buClr>
              <a:buSzPct val="80000"/>
              <a:buFont typeface="Wingdings" pitchFamily="2" charset="2"/>
              <a:buChar char=""/>
              <a:defRPr sz="2000" kern="1200">
                <a:solidFill>
                  <a:schemeClr val="tx1"/>
                </a:solidFill>
                <a:latin typeface="+mn-lt"/>
                <a:ea typeface="+mn-ea"/>
                <a:cs typeface="+mn-cs"/>
              </a:defRPr>
            </a:lvl1pPr>
            <a:lvl2pPr marL="742950" indent="-285750" algn="l" defTabSz="914400" rtl="0" eaLnBrk="1" latinLnBrk="0" hangingPunct="1">
              <a:spcBef>
                <a:spcPct val="20000"/>
              </a:spcBef>
              <a:buClr>
                <a:srgbClr val="FF0000"/>
              </a:buClr>
              <a:buSzPct val="80000"/>
              <a:buFont typeface="Wingdings" pitchFamily="2" charset="2"/>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Clr>
                <a:srgbClr val="FF0000"/>
              </a:buClr>
              <a:buSzPct val="80000"/>
              <a:buFont typeface="Wingdings" pitchFamily="2" charset="2"/>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Clr>
                <a:srgbClr val="FF0000"/>
              </a:buClr>
              <a:buSzPct val="80000"/>
              <a:buFont typeface="Wingdings" pitchFamily="2" charset="2"/>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Clr>
                <a:srgbClr val="FF0000"/>
              </a:buClr>
              <a:buSzPct val="80000"/>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BTES to contribute to the transition</a:t>
            </a:r>
            <a:r>
              <a:rPr lang="en-US" sz="1400" baseline="30000" dirty="0"/>
              <a:t>4</a:t>
            </a:r>
          </a:p>
          <a:p>
            <a:r>
              <a:rPr lang="en-US" sz="1400" dirty="0"/>
              <a:t>Utilize the ground as a thermal storage medium by injecting and extracting heat through the borehole heat exchangers</a:t>
            </a:r>
            <a:r>
              <a:rPr lang="en-US" sz="1400" baseline="30000" dirty="0"/>
              <a:t>5</a:t>
            </a:r>
          </a:p>
          <a:p>
            <a:r>
              <a:rPr lang="en-US" sz="1400" dirty="0"/>
              <a:t>Enable seasonal thermal energy storage, allowing surplus heat generated during one period of the year to be utilized at a later time</a:t>
            </a:r>
            <a:r>
              <a:rPr lang="en-US" sz="1400" baseline="30000" dirty="0"/>
              <a:t>6</a:t>
            </a:r>
          </a:p>
          <a:p>
            <a:endParaRPr lang="en-US" sz="1400" dirty="0"/>
          </a:p>
          <a:p>
            <a:endParaRPr lang="en-US" sz="1400" dirty="0"/>
          </a:p>
        </p:txBody>
      </p:sp>
      <p:sp>
        <p:nvSpPr>
          <p:cNvPr id="15" name="Content Placeholder 3">
            <a:extLst>
              <a:ext uri="{FF2B5EF4-FFF2-40B4-BE49-F238E27FC236}">
                <a16:creationId xmlns:a16="http://schemas.microsoft.com/office/drawing/2014/main" id="{B89DB56F-9BF6-8D67-A68E-DD6CEAA6548C}"/>
              </a:ext>
            </a:extLst>
          </p:cNvPr>
          <p:cNvSpPr txBox="1">
            <a:spLocks/>
          </p:cNvSpPr>
          <p:nvPr/>
        </p:nvSpPr>
        <p:spPr>
          <a:xfrm>
            <a:off x="97160" y="3921075"/>
            <a:ext cx="3394720" cy="1143000"/>
          </a:xfrm>
          <a:prstGeom prst="rect">
            <a:avLst/>
          </a:prstGeom>
          <a:ln w="38100">
            <a:solidFill>
              <a:srgbClr val="FF0000"/>
            </a:solidFill>
          </a:ln>
        </p:spPr>
        <p:txBody>
          <a:bodyPr vert="horz" lIns="91440" tIns="45720" rIns="91440" bIns="45720" rtlCol="0">
            <a:noAutofit/>
          </a:bodyPr>
          <a:lstStyle>
            <a:lvl1pPr marL="342900" indent="-342900" algn="l" defTabSz="914400" rtl="0" eaLnBrk="1" latinLnBrk="0" hangingPunct="1">
              <a:spcBef>
                <a:spcPct val="20000"/>
              </a:spcBef>
              <a:buClr>
                <a:srgbClr val="FF0000"/>
              </a:buClr>
              <a:buSzPct val="80000"/>
              <a:buFont typeface="Wingdings" pitchFamily="2" charset="2"/>
              <a:buChar char=""/>
              <a:defRPr sz="2000" kern="1200">
                <a:solidFill>
                  <a:schemeClr val="tx1"/>
                </a:solidFill>
                <a:latin typeface="+mn-lt"/>
                <a:ea typeface="+mn-ea"/>
                <a:cs typeface="+mn-cs"/>
              </a:defRPr>
            </a:lvl1pPr>
            <a:lvl2pPr marL="742950" indent="-285750" algn="l" defTabSz="914400" rtl="0" eaLnBrk="1" latinLnBrk="0" hangingPunct="1">
              <a:spcBef>
                <a:spcPct val="20000"/>
              </a:spcBef>
              <a:buClr>
                <a:srgbClr val="FF0000"/>
              </a:buClr>
              <a:buSzPct val="80000"/>
              <a:buFont typeface="Wingdings" pitchFamily="2" charset="2"/>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Clr>
                <a:srgbClr val="FF0000"/>
              </a:buClr>
              <a:buSzPct val="80000"/>
              <a:buFont typeface="Wingdings" pitchFamily="2" charset="2"/>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Clr>
                <a:srgbClr val="FF0000"/>
              </a:buClr>
              <a:buSzPct val="80000"/>
              <a:buFont typeface="Wingdings" pitchFamily="2" charset="2"/>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Clr>
                <a:srgbClr val="FF0000"/>
              </a:buClr>
              <a:buSzPct val="80000"/>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t>BTES limitations</a:t>
            </a:r>
            <a:endParaRPr lang="en-US" sz="1400" baseline="30000" dirty="0"/>
          </a:p>
          <a:p>
            <a:r>
              <a:rPr lang="en-US" sz="1400" dirty="0"/>
              <a:t>High initial investment</a:t>
            </a:r>
            <a:endParaRPr lang="en-US" sz="1400" baseline="30000" dirty="0"/>
          </a:p>
          <a:p>
            <a:r>
              <a:rPr lang="en-US" sz="1400" dirty="0"/>
              <a:t>Large land requirement</a:t>
            </a:r>
          </a:p>
          <a:p>
            <a:r>
              <a:rPr lang="en-US" sz="1400" dirty="0"/>
              <a:t>Site-dependent</a:t>
            </a:r>
            <a:r>
              <a:rPr lang="el-GR" sz="1400" dirty="0"/>
              <a:t> </a:t>
            </a:r>
            <a:r>
              <a:rPr lang="en-US" sz="1400" dirty="0"/>
              <a:t>performance</a:t>
            </a:r>
          </a:p>
          <a:p>
            <a:endParaRPr lang="en-US" sz="1400" dirty="0"/>
          </a:p>
        </p:txBody>
      </p:sp>
      <p:sp>
        <p:nvSpPr>
          <p:cNvPr id="3" name="Slide Number Placeholder 2">
            <a:extLst>
              <a:ext uri="{FF2B5EF4-FFF2-40B4-BE49-F238E27FC236}">
                <a16:creationId xmlns:a16="http://schemas.microsoft.com/office/drawing/2014/main" id="{DDE91F8F-A492-9A4C-6AC5-58FE05A0AF2A}"/>
              </a:ext>
            </a:extLst>
          </p:cNvPr>
          <p:cNvSpPr>
            <a:spLocks noGrp="1"/>
          </p:cNvSpPr>
          <p:nvPr>
            <p:ph type="sldNum" sz="quarter" idx="4"/>
          </p:nvPr>
        </p:nvSpPr>
        <p:spPr/>
        <p:txBody>
          <a:bodyPr/>
          <a:lstStyle/>
          <a:p>
            <a:fld id="{CC7E3F2E-5E17-4E15-9E32-D4A7BBAEA187}" type="slidenum">
              <a:rPr lang="el-GR" smtClean="0"/>
              <a:t>3</a:t>
            </a:fld>
            <a:endParaRPr lang="el-GR"/>
          </a:p>
        </p:txBody>
      </p:sp>
    </p:spTree>
    <p:extLst>
      <p:ext uri="{BB962C8B-B14F-4D97-AF65-F5344CB8AC3E}">
        <p14:creationId xmlns:p14="http://schemas.microsoft.com/office/powerpoint/2010/main" val="398409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04E9-65FD-7E0A-612F-E04A5EAEC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16AEC-6212-2D9D-4A7D-6AD914C6F5E4}"/>
              </a:ext>
            </a:extLst>
          </p:cNvPr>
          <p:cNvSpPr>
            <a:spLocks noGrp="1"/>
          </p:cNvSpPr>
          <p:nvPr>
            <p:ph type="title"/>
          </p:nvPr>
        </p:nvSpPr>
        <p:spPr>
          <a:xfrm>
            <a:off x="169416" y="0"/>
            <a:ext cx="7139136" cy="1143000"/>
          </a:xfrm>
        </p:spPr>
        <p:txBody>
          <a:bodyPr/>
          <a:lstStyle/>
          <a:p>
            <a:r>
              <a:rPr lang="en-US" i="1" dirty="0">
                <a:effectLst>
                  <a:outerShdw blurRad="38100" dist="38100" dir="2700000" algn="tl">
                    <a:srgbClr val="000000">
                      <a:alpha val="43137"/>
                    </a:srgbClr>
                  </a:outerShdw>
                </a:effectLst>
              </a:rPr>
              <a:t>State of the Art</a:t>
            </a:r>
            <a:endParaRPr lang="el-GR" i="1"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B6AA5947-A74A-80BB-8748-663087C062FC}"/>
              </a:ext>
            </a:extLst>
          </p:cNvPr>
          <p:cNvSpPr/>
          <p:nvPr/>
        </p:nvSpPr>
        <p:spPr>
          <a:xfrm>
            <a:off x="169416" y="981158"/>
            <a:ext cx="7139136" cy="854886"/>
          </a:xfrm>
          <a:prstGeom prst="rect">
            <a:avLst/>
          </a:prstGeom>
          <a:noFill/>
          <a:ln w="38100">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t>Modern BTES Research</a:t>
            </a:r>
          </a:p>
          <a:p>
            <a:pPr marL="285750" indent="-285750">
              <a:buFont typeface="Wingdings" panose="05000000000000000000" pitchFamily="2" charset="2"/>
              <a:buChar char="q"/>
            </a:pPr>
            <a:r>
              <a:rPr lang="en-US" dirty="0"/>
              <a:t>Overview of BTES operation</a:t>
            </a:r>
            <a:r>
              <a:rPr lang="en-US" baseline="30000" dirty="0"/>
              <a:t>7</a:t>
            </a:r>
          </a:p>
          <a:p>
            <a:pPr marL="285750" indent="-285750">
              <a:buFont typeface="Wingdings" panose="05000000000000000000" pitchFamily="2" charset="2"/>
              <a:buChar char="q"/>
            </a:pPr>
            <a:r>
              <a:rPr lang="en-US" dirty="0"/>
              <a:t>MES sizing and operation optimization</a:t>
            </a:r>
            <a:r>
              <a:rPr lang="en-US" baseline="30000" dirty="0"/>
              <a:t>8</a:t>
            </a:r>
          </a:p>
        </p:txBody>
      </p:sp>
      <p:grpSp>
        <p:nvGrpSpPr>
          <p:cNvPr id="13" name="Group 12">
            <a:extLst>
              <a:ext uri="{FF2B5EF4-FFF2-40B4-BE49-F238E27FC236}">
                <a16:creationId xmlns:a16="http://schemas.microsoft.com/office/drawing/2014/main" id="{A36E4D3F-8251-CACB-D6B2-9E338A1535AE}"/>
              </a:ext>
            </a:extLst>
          </p:cNvPr>
          <p:cNvGrpSpPr/>
          <p:nvPr/>
        </p:nvGrpSpPr>
        <p:grpSpPr>
          <a:xfrm>
            <a:off x="169416" y="3234191"/>
            <a:ext cx="7139136" cy="2705894"/>
            <a:chOff x="169416" y="2131296"/>
            <a:chExt cx="7139136" cy="2705894"/>
          </a:xfrm>
        </p:grpSpPr>
        <p:sp>
          <p:nvSpPr>
            <p:cNvPr id="5" name="Rectangle 4">
              <a:extLst>
                <a:ext uri="{FF2B5EF4-FFF2-40B4-BE49-F238E27FC236}">
                  <a16:creationId xmlns:a16="http://schemas.microsoft.com/office/drawing/2014/main" id="{C6CBAAF1-0214-9C44-0164-CC996907F69F}"/>
                </a:ext>
              </a:extLst>
            </p:cNvPr>
            <p:cNvSpPr/>
            <p:nvPr/>
          </p:nvSpPr>
          <p:spPr>
            <a:xfrm>
              <a:off x="169416" y="2131296"/>
              <a:ext cx="7139136" cy="2522510"/>
            </a:xfrm>
            <a:prstGeom prst="rect">
              <a:avLst/>
            </a:prstGeom>
            <a:noFill/>
            <a:ln w="38100">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l-GR" dirty="0"/>
            </a:p>
          </p:txBody>
        </p:sp>
        <p:sp>
          <p:nvSpPr>
            <p:cNvPr id="10" name="TextBox 9">
              <a:extLst>
                <a:ext uri="{FF2B5EF4-FFF2-40B4-BE49-F238E27FC236}">
                  <a16:creationId xmlns:a16="http://schemas.microsoft.com/office/drawing/2014/main" id="{D34E685D-8B49-7D2D-41E7-D0637B20BD61}"/>
                </a:ext>
              </a:extLst>
            </p:cNvPr>
            <p:cNvSpPr txBox="1"/>
            <p:nvPr/>
          </p:nvSpPr>
          <p:spPr>
            <a:xfrm>
              <a:off x="201072" y="2159534"/>
              <a:ext cx="6994872" cy="2677656"/>
            </a:xfrm>
            <a:prstGeom prst="rect">
              <a:avLst/>
            </a:prstGeom>
            <a:noFill/>
          </p:spPr>
          <p:txBody>
            <a:bodyPr wrap="square" rtlCol="0">
              <a:spAutoFit/>
            </a:bodyPr>
            <a:lstStyle/>
            <a:p>
              <a:r>
                <a:rPr lang="en-US" b="1" dirty="0"/>
                <a:t>Trade-Off</a:t>
              </a:r>
            </a:p>
            <a:p>
              <a:pPr marL="285750" indent="-285750">
                <a:buFont typeface="Wingdings" panose="05000000000000000000" pitchFamily="2" charset="2"/>
                <a:buChar char="q"/>
              </a:pPr>
              <a:r>
                <a:rPr lang="en-US" b="1" dirty="0"/>
                <a:t>High-Fidelity Models, </a:t>
              </a:r>
              <a:r>
                <a:rPr lang="en-US" b="1" dirty="0" err="1"/>
                <a:t>e.g</a:t>
              </a:r>
              <a:r>
                <a:rPr lang="en-US" b="1" dirty="0"/>
                <a:t> </a:t>
              </a:r>
              <a:r>
                <a:rPr lang="en-US" b="1" dirty="0" err="1"/>
                <a:t>Modelica</a:t>
              </a:r>
              <a:r>
                <a:rPr lang="en-US" b="1" dirty="0"/>
                <a:t> Models</a:t>
              </a:r>
              <a:r>
                <a:rPr lang="en-US" b="1" baseline="30000" dirty="0"/>
                <a:t>9,10</a:t>
              </a:r>
            </a:p>
            <a:p>
              <a:pPr marL="742950" lvl="1" indent="-285750">
                <a:buFont typeface="Courier New" panose="02070309020205020404" pitchFamily="49" charset="0"/>
                <a:buChar char="o"/>
              </a:pPr>
              <a:r>
                <a:rPr lang="en-US" sz="1600" dirty="0"/>
                <a:t>Used for operation modeling</a:t>
              </a:r>
            </a:p>
            <a:p>
              <a:pPr marL="742950" lvl="1" indent="-285750">
                <a:buFont typeface="Courier New" panose="02070309020205020404" pitchFamily="49" charset="0"/>
                <a:buChar char="o"/>
              </a:pPr>
              <a:r>
                <a:rPr lang="en-US" sz="1600" dirty="0"/>
                <a:t>Better thermal representation </a:t>
              </a:r>
            </a:p>
            <a:p>
              <a:pPr marL="742950" lvl="1" indent="-285750">
                <a:buFont typeface="Courier New" panose="02070309020205020404" pitchFamily="49" charset="0"/>
                <a:buChar char="o"/>
              </a:pPr>
              <a:r>
                <a:rPr lang="en-US" sz="1600" dirty="0"/>
                <a:t>Very high computational cost </a:t>
              </a:r>
            </a:p>
            <a:p>
              <a:pPr marL="285750" indent="-285750">
                <a:buFont typeface="Wingdings" panose="05000000000000000000" pitchFamily="2" charset="2"/>
                <a:buChar char="q"/>
              </a:pPr>
              <a:r>
                <a:rPr lang="en-US" b="1" dirty="0"/>
                <a:t>Simplified Models, e.g. MINLP, MILP</a:t>
              </a:r>
              <a:r>
                <a:rPr lang="en-US" b="1" baseline="30000" dirty="0"/>
                <a:t>11</a:t>
              </a:r>
            </a:p>
            <a:p>
              <a:pPr marL="742950" lvl="1" indent="-285750">
                <a:buFont typeface="Courier New" panose="02070309020205020404" pitchFamily="49" charset="0"/>
                <a:buChar char="o"/>
              </a:pPr>
              <a:r>
                <a:rPr lang="en-US" sz="1600" dirty="0"/>
                <a:t>Sizing tools</a:t>
              </a:r>
            </a:p>
            <a:p>
              <a:pPr marL="742950" lvl="1" indent="-285750">
                <a:buFont typeface="Courier New" panose="02070309020205020404" pitchFamily="49" charset="0"/>
                <a:buChar char="o"/>
              </a:pPr>
              <a:r>
                <a:rPr lang="en-US" sz="1600" dirty="0"/>
                <a:t>Faster optimization </a:t>
              </a:r>
            </a:p>
            <a:p>
              <a:pPr marL="742950" lvl="1" indent="-285750">
                <a:buFont typeface="Courier New" panose="02070309020205020404" pitchFamily="49" charset="0"/>
                <a:buChar char="o"/>
              </a:pPr>
              <a:r>
                <a:rPr lang="en-US" sz="1600" dirty="0"/>
                <a:t>Reduced physical realism</a:t>
              </a:r>
            </a:p>
            <a:p>
              <a:endParaRPr lang="el-GR" dirty="0"/>
            </a:p>
          </p:txBody>
        </p:sp>
      </p:grpSp>
      <p:grpSp>
        <p:nvGrpSpPr>
          <p:cNvPr id="12" name="Group 11">
            <a:extLst>
              <a:ext uri="{FF2B5EF4-FFF2-40B4-BE49-F238E27FC236}">
                <a16:creationId xmlns:a16="http://schemas.microsoft.com/office/drawing/2014/main" id="{2A222659-A4F1-A3A5-C42F-7BB438427E90}"/>
              </a:ext>
            </a:extLst>
          </p:cNvPr>
          <p:cNvGrpSpPr/>
          <p:nvPr/>
        </p:nvGrpSpPr>
        <p:grpSpPr>
          <a:xfrm>
            <a:off x="169416" y="1919386"/>
            <a:ext cx="7139136" cy="1230434"/>
            <a:chOff x="169416" y="5085184"/>
            <a:chExt cx="7139136" cy="1513324"/>
          </a:xfrm>
        </p:grpSpPr>
        <p:sp>
          <p:nvSpPr>
            <p:cNvPr id="6" name="Rectangle 5">
              <a:extLst>
                <a:ext uri="{FF2B5EF4-FFF2-40B4-BE49-F238E27FC236}">
                  <a16:creationId xmlns:a16="http://schemas.microsoft.com/office/drawing/2014/main" id="{061A19BD-990F-6B06-7195-0C1F39B72604}"/>
                </a:ext>
              </a:extLst>
            </p:cNvPr>
            <p:cNvSpPr/>
            <p:nvPr/>
          </p:nvSpPr>
          <p:spPr>
            <a:xfrm>
              <a:off x="169416" y="5085184"/>
              <a:ext cx="7139136" cy="1513324"/>
            </a:xfrm>
            <a:prstGeom prst="rect">
              <a:avLst/>
            </a:prstGeom>
            <a:noFill/>
            <a:ln w="38100">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l-GR"/>
            </a:p>
          </p:txBody>
        </p:sp>
        <p:sp>
          <p:nvSpPr>
            <p:cNvPr id="11" name="TextBox 10">
              <a:extLst>
                <a:ext uri="{FF2B5EF4-FFF2-40B4-BE49-F238E27FC236}">
                  <a16:creationId xmlns:a16="http://schemas.microsoft.com/office/drawing/2014/main" id="{7403D1A0-4405-08C6-6B71-73C3E2624765}"/>
                </a:ext>
              </a:extLst>
            </p:cNvPr>
            <p:cNvSpPr txBox="1"/>
            <p:nvPr/>
          </p:nvSpPr>
          <p:spPr>
            <a:xfrm>
              <a:off x="169416" y="5121180"/>
              <a:ext cx="7139136" cy="1200329"/>
            </a:xfrm>
            <a:prstGeom prst="rect">
              <a:avLst/>
            </a:prstGeom>
            <a:noFill/>
          </p:spPr>
          <p:txBody>
            <a:bodyPr wrap="square" rtlCol="0">
              <a:spAutoFit/>
            </a:bodyPr>
            <a:lstStyle/>
            <a:p>
              <a:r>
                <a:rPr lang="en-US" b="1" dirty="0"/>
                <a:t>Existing literature does not clearly quantify:</a:t>
              </a:r>
              <a:endParaRPr lang="en-US" dirty="0"/>
            </a:p>
            <a:p>
              <a:pPr marL="285750" indent="-285750">
                <a:buFont typeface="Wingdings" panose="05000000000000000000" pitchFamily="2" charset="2"/>
                <a:buChar char="q"/>
              </a:pPr>
              <a:r>
                <a:rPr lang="en-US" dirty="0"/>
                <a:t>Which parameters most affect BTES model fidelity </a:t>
              </a:r>
            </a:p>
            <a:p>
              <a:pPr marL="285750" indent="-285750">
                <a:buFont typeface="Wingdings" panose="05000000000000000000" pitchFamily="2" charset="2"/>
                <a:buChar char="q"/>
              </a:pPr>
              <a:r>
                <a:rPr lang="en-US" dirty="0"/>
                <a:t>Whether simplified models remain suitable for system-level optimization </a:t>
              </a:r>
            </a:p>
          </p:txBody>
        </p:sp>
      </p:grpSp>
      <p:sp>
        <p:nvSpPr>
          <p:cNvPr id="4" name="TextBox 3">
            <a:extLst>
              <a:ext uri="{FF2B5EF4-FFF2-40B4-BE49-F238E27FC236}">
                <a16:creationId xmlns:a16="http://schemas.microsoft.com/office/drawing/2014/main" id="{B6B82D75-8FA3-016C-782D-30A72D91FB59}"/>
              </a:ext>
            </a:extLst>
          </p:cNvPr>
          <p:cNvSpPr txBox="1"/>
          <p:nvPr/>
        </p:nvSpPr>
        <p:spPr>
          <a:xfrm>
            <a:off x="0" y="6165304"/>
            <a:ext cx="8352928" cy="830997"/>
          </a:xfrm>
          <a:prstGeom prst="rect">
            <a:avLst/>
          </a:prstGeom>
          <a:noFill/>
        </p:spPr>
        <p:txBody>
          <a:bodyPr wrap="square" rtlCol="0">
            <a:spAutoFit/>
          </a:bodyPr>
          <a:lstStyle/>
          <a:p>
            <a:r>
              <a:rPr lang="en-US" sz="800" dirty="0"/>
              <a:t>[7] Manfred Reuss. The use of borehole thermal energy storage systems. In Advances </a:t>
            </a:r>
            <a:r>
              <a:rPr lang="en-US" sz="800" dirty="0" err="1"/>
              <a:t>inThermal</a:t>
            </a:r>
            <a:r>
              <a:rPr lang="en-US" sz="800" dirty="0"/>
              <a:t> Energy Storage Systems.</a:t>
            </a:r>
          </a:p>
          <a:p>
            <a:r>
              <a:rPr lang="en-US" sz="800" dirty="0"/>
              <a:t>[8] Pierluigi Mancarella. MES (multi-energy systems): An overview of concepts </a:t>
            </a:r>
            <a:r>
              <a:rPr lang="en-US" sz="800" dirty="0" err="1"/>
              <a:t>andevaluation</a:t>
            </a:r>
            <a:r>
              <a:rPr lang="en-US" sz="800" dirty="0"/>
              <a:t> models</a:t>
            </a:r>
          </a:p>
          <a:p>
            <a:r>
              <a:rPr lang="en-US" sz="800" dirty="0"/>
              <a:t>[9] Mohamed T. Bahr, Piyush Kumar Kumawat, Palash Panja, and Kody M. Powell. A dynamic 2d borehole thermal energy storage (BTES) model </a:t>
            </a:r>
            <a:r>
              <a:rPr lang="en-US" sz="800" dirty="0" err="1"/>
              <a:t>forenhanced</a:t>
            </a:r>
            <a:r>
              <a:rPr lang="en-US" sz="800" dirty="0"/>
              <a:t> computational efficiency. </a:t>
            </a:r>
          </a:p>
          <a:p>
            <a:r>
              <a:rPr lang="en-US" sz="800" dirty="0"/>
              <a:t>[10] Mohamed T. Bahr, Ali Khosravani, </a:t>
            </a:r>
            <a:r>
              <a:rPr lang="en-US" sz="800" dirty="0" err="1"/>
              <a:t>Dynamicsimulation</a:t>
            </a:r>
            <a:r>
              <a:rPr lang="en-US" sz="800" dirty="0"/>
              <a:t> and economic evaluation of dual-mode borehole thermal energy </a:t>
            </a:r>
            <a:r>
              <a:rPr lang="en-US" sz="800" dirty="0" err="1"/>
              <a:t>storagein</a:t>
            </a:r>
            <a:r>
              <a:rPr lang="en-US" sz="800" dirty="0"/>
              <a:t> electrified district energy systems. </a:t>
            </a:r>
          </a:p>
          <a:p>
            <a:r>
              <a:rPr lang="en-US" sz="800" dirty="0"/>
              <a:t>[11] Massimo Fiorentini, Philipp Heer, and Luca Baldini. Design optimization of a dis-</a:t>
            </a:r>
            <a:r>
              <a:rPr lang="en-US" sz="800" dirty="0" err="1"/>
              <a:t>trict</a:t>
            </a:r>
            <a:r>
              <a:rPr lang="en-US" sz="800" dirty="0"/>
              <a:t> heating and cooling system with a borehole seasonal thermal energy storage.</a:t>
            </a:r>
          </a:p>
          <a:p>
            <a:endParaRPr lang="el-GR" sz="800" dirty="0"/>
          </a:p>
        </p:txBody>
      </p:sp>
      <p:sp>
        <p:nvSpPr>
          <p:cNvPr id="7" name="Slide Number Placeholder 6">
            <a:extLst>
              <a:ext uri="{FF2B5EF4-FFF2-40B4-BE49-F238E27FC236}">
                <a16:creationId xmlns:a16="http://schemas.microsoft.com/office/drawing/2014/main" id="{DF44252C-885A-C597-180D-25BA916A7CD0}"/>
              </a:ext>
            </a:extLst>
          </p:cNvPr>
          <p:cNvSpPr>
            <a:spLocks noGrp="1"/>
          </p:cNvSpPr>
          <p:nvPr>
            <p:ph type="sldNum" sz="quarter" idx="4"/>
          </p:nvPr>
        </p:nvSpPr>
        <p:spPr/>
        <p:txBody>
          <a:bodyPr/>
          <a:lstStyle/>
          <a:p>
            <a:fld id="{CC7E3F2E-5E17-4E15-9E32-D4A7BBAEA187}" type="slidenum">
              <a:rPr lang="el-GR" smtClean="0"/>
              <a:t>4</a:t>
            </a:fld>
            <a:endParaRPr lang="el-GR"/>
          </a:p>
        </p:txBody>
      </p:sp>
    </p:spTree>
    <p:extLst>
      <p:ext uri="{BB962C8B-B14F-4D97-AF65-F5344CB8AC3E}">
        <p14:creationId xmlns:p14="http://schemas.microsoft.com/office/powerpoint/2010/main" val="466746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562B9-C5E9-76CE-94D2-C907C1C54101}"/>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Research Idea – Research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Question</a:t>
            </a:r>
            <a:endParaRPr lang="el-GR" i="1" dirty="0">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619B79A2-483B-4B40-BD34-D15C55661EA5}"/>
              </a:ext>
            </a:extLst>
          </p:cNvPr>
          <p:cNvSpPr txBox="1"/>
          <p:nvPr/>
        </p:nvSpPr>
        <p:spPr>
          <a:xfrm>
            <a:off x="457200" y="1628800"/>
            <a:ext cx="7992888" cy="3693319"/>
          </a:xfrm>
          <a:prstGeom prst="rect">
            <a:avLst/>
          </a:prstGeom>
          <a:noFill/>
        </p:spPr>
        <p:txBody>
          <a:bodyPr wrap="square" rtlCol="0">
            <a:spAutoFit/>
          </a:bodyPr>
          <a:lstStyle/>
          <a:p>
            <a:r>
              <a:rPr lang="en-US" b="1" dirty="0">
                <a:solidFill>
                  <a:srgbClr val="0070C0"/>
                </a:solidFill>
              </a:rPr>
              <a:t>How different modeling assumptions influence the optimal design, operation, and computational performance of BTES-integrated energy systems?</a:t>
            </a:r>
          </a:p>
          <a:p>
            <a:endParaRPr lang="en-US" b="1" dirty="0"/>
          </a:p>
          <a:p>
            <a:pPr marL="342900" indent="-342900">
              <a:buClr>
                <a:srgbClr val="0070C0"/>
              </a:buClr>
              <a:buFont typeface="+mj-lt"/>
              <a:buAutoNum type="arabicPeriod"/>
            </a:pPr>
            <a:r>
              <a:rPr lang="en-US" dirty="0"/>
              <a:t>Quantify how different operational assumptions influence technology sizing, system operation, annual system cost and computational performance?</a:t>
            </a:r>
          </a:p>
          <a:p>
            <a:pPr marL="342900" indent="-342900">
              <a:buClr>
                <a:srgbClr val="0070C0"/>
              </a:buClr>
              <a:buFont typeface="+mj-lt"/>
              <a:buAutoNum type="arabicPeriod"/>
            </a:pPr>
            <a:endParaRPr lang="en-US" dirty="0"/>
          </a:p>
          <a:p>
            <a:pPr marL="342900" indent="-342900">
              <a:buClr>
                <a:srgbClr val="0070C0"/>
              </a:buClr>
              <a:buFont typeface="+mj-lt"/>
              <a:buAutoNum type="arabicPeriod"/>
            </a:pPr>
            <a:r>
              <a:rPr lang="en-US" dirty="0"/>
              <a:t>How does the level of detail of the mathematical formulation affect the results?</a:t>
            </a:r>
          </a:p>
          <a:p>
            <a:pPr marL="342900" indent="-342900">
              <a:buClr>
                <a:srgbClr val="0070C0"/>
              </a:buClr>
              <a:buFont typeface="+mj-lt"/>
              <a:buAutoNum type="arabicPeriod"/>
            </a:pPr>
            <a:endParaRPr lang="en-US" dirty="0"/>
          </a:p>
          <a:p>
            <a:pPr marL="342900" indent="-342900">
              <a:buClr>
                <a:srgbClr val="0070C0"/>
              </a:buClr>
              <a:buFont typeface="+mj-lt"/>
              <a:buAutoNum type="arabicPeriod"/>
            </a:pPr>
            <a:r>
              <a:rPr lang="en-US" dirty="0"/>
              <a:t>Is the level of system complexity an important aspect of model selection?</a:t>
            </a:r>
          </a:p>
          <a:p>
            <a:pPr marL="285750" indent="-285750">
              <a:buFont typeface="Arial" panose="020B0604020202020204" pitchFamily="34" charset="0"/>
              <a:buChar char="•"/>
            </a:pPr>
            <a:endParaRPr lang="el-GR" dirty="0"/>
          </a:p>
        </p:txBody>
      </p:sp>
      <p:sp>
        <p:nvSpPr>
          <p:cNvPr id="3" name="Slide Number Placeholder 2">
            <a:extLst>
              <a:ext uri="{FF2B5EF4-FFF2-40B4-BE49-F238E27FC236}">
                <a16:creationId xmlns:a16="http://schemas.microsoft.com/office/drawing/2014/main" id="{791AAF6D-4B2C-5ACB-5B5E-74FE7FE13EAB}"/>
              </a:ext>
            </a:extLst>
          </p:cNvPr>
          <p:cNvSpPr>
            <a:spLocks noGrp="1"/>
          </p:cNvSpPr>
          <p:nvPr>
            <p:ph type="sldNum" sz="quarter" idx="4"/>
          </p:nvPr>
        </p:nvSpPr>
        <p:spPr/>
        <p:txBody>
          <a:bodyPr/>
          <a:lstStyle/>
          <a:p>
            <a:fld id="{CC7E3F2E-5E17-4E15-9E32-D4A7BBAEA187}" type="slidenum">
              <a:rPr lang="el-GR" smtClean="0"/>
              <a:t>5</a:t>
            </a:fld>
            <a:endParaRPr lang="el-GR"/>
          </a:p>
        </p:txBody>
      </p:sp>
    </p:spTree>
    <p:extLst>
      <p:ext uri="{BB962C8B-B14F-4D97-AF65-F5344CB8AC3E}">
        <p14:creationId xmlns:p14="http://schemas.microsoft.com/office/powerpoint/2010/main" val="75282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8CBA241E-FE97-0614-A63B-13066F005B98}"/>
              </a:ext>
            </a:extLst>
          </p:cNvPr>
          <p:cNvSpPr>
            <a:spLocks noGrp="1"/>
          </p:cNvSpPr>
          <p:nvPr>
            <p:ph type="title"/>
          </p:nvPr>
        </p:nvSpPr>
        <p:spPr>
          <a:xfrm>
            <a:off x="179512" y="9832"/>
            <a:ext cx="7139136" cy="1143000"/>
          </a:xfrm>
        </p:spPr>
        <p:txBody>
          <a:bodyPr>
            <a:normAutofit/>
          </a:bodyPr>
          <a:lstStyle/>
          <a:p>
            <a:r>
              <a:rPr lang="en-US" sz="2400" i="1" dirty="0">
                <a:effectLst>
                  <a:outerShdw blurRad="38100" dist="38100" dir="2700000" algn="tl">
                    <a:srgbClr val="000000">
                      <a:alpha val="43137"/>
                    </a:srgbClr>
                  </a:outerShdw>
                </a:effectLst>
              </a:rPr>
              <a:t>Research Idea  </a:t>
            </a:r>
            <a:endParaRPr lang="el-GR" sz="2400" i="1"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61600878-F452-A8A4-7FC6-952A0A6EC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062028"/>
            <a:ext cx="7776864" cy="4877710"/>
          </a:xfrm>
          <a:prstGeom prst="rect">
            <a:avLst/>
          </a:prstGeom>
        </p:spPr>
      </p:pic>
      <p:sp>
        <p:nvSpPr>
          <p:cNvPr id="2" name="TextBox 1">
            <a:extLst>
              <a:ext uri="{FF2B5EF4-FFF2-40B4-BE49-F238E27FC236}">
                <a16:creationId xmlns:a16="http://schemas.microsoft.com/office/drawing/2014/main" id="{A4A4257F-9F77-C8AB-B9F7-23AB2C77CFDD}"/>
              </a:ext>
            </a:extLst>
          </p:cNvPr>
          <p:cNvSpPr txBox="1"/>
          <p:nvPr/>
        </p:nvSpPr>
        <p:spPr>
          <a:xfrm>
            <a:off x="6526413" y="1062028"/>
            <a:ext cx="2523969" cy="954107"/>
          </a:xfrm>
          <a:prstGeom prst="rect">
            <a:avLst/>
          </a:prstGeom>
          <a:noFill/>
          <a:ln w="38100">
            <a:solidFill>
              <a:srgbClr val="7030A0"/>
            </a:solidFill>
          </a:ln>
        </p:spPr>
        <p:txBody>
          <a:bodyPr wrap="square" rtlCol="0">
            <a:spAutoFit/>
          </a:bodyPr>
          <a:lstStyle/>
          <a:p>
            <a:pPr lvl="0"/>
            <a:r>
              <a:rPr lang="el-GR" sz="1400" dirty="0"/>
              <a:t>MILP</a:t>
            </a:r>
            <a:r>
              <a:rPr lang="en-US" sz="1400" dirty="0"/>
              <a:t>: </a:t>
            </a:r>
            <a:r>
              <a:rPr lang="el-GR" sz="1400" dirty="0" err="1"/>
              <a:t>Mixed-Integer</a:t>
            </a:r>
            <a:r>
              <a:rPr lang="el-GR" sz="1400" dirty="0"/>
              <a:t> </a:t>
            </a:r>
            <a:r>
              <a:rPr lang="el-GR" sz="1400" dirty="0" err="1"/>
              <a:t>Linear</a:t>
            </a:r>
            <a:r>
              <a:rPr lang="el-GR" sz="1400" dirty="0"/>
              <a:t> </a:t>
            </a:r>
            <a:r>
              <a:rPr lang="el-GR" sz="1400" dirty="0" err="1"/>
              <a:t>Programming</a:t>
            </a:r>
            <a:r>
              <a:rPr lang="el-GR" sz="1400" dirty="0"/>
              <a:t> </a:t>
            </a:r>
          </a:p>
          <a:p>
            <a:pPr lvl="0"/>
            <a:r>
              <a:rPr lang="el-GR" sz="1400" dirty="0"/>
              <a:t>MINLP</a:t>
            </a:r>
            <a:r>
              <a:rPr lang="en-US" sz="1400" dirty="0"/>
              <a:t>:</a:t>
            </a:r>
            <a:r>
              <a:rPr lang="el-GR" sz="1400" dirty="0"/>
              <a:t> </a:t>
            </a:r>
            <a:r>
              <a:rPr lang="el-GR" sz="1400" dirty="0" err="1"/>
              <a:t>Mixed-Integer</a:t>
            </a:r>
            <a:r>
              <a:rPr lang="el-GR" sz="1400" dirty="0"/>
              <a:t> </a:t>
            </a:r>
            <a:r>
              <a:rPr lang="el-GR" sz="1400" dirty="0" err="1"/>
              <a:t>Nonlinear</a:t>
            </a:r>
            <a:r>
              <a:rPr lang="el-GR" sz="1400" dirty="0"/>
              <a:t> </a:t>
            </a:r>
            <a:r>
              <a:rPr lang="el-GR" sz="1400" dirty="0" err="1"/>
              <a:t>Programming</a:t>
            </a:r>
            <a:r>
              <a:rPr lang="el-GR" sz="1400" dirty="0"/>
              <a:t> </a:t>
            </a:r>
          </a:p>
        </p:txBody>
      </p:sp>
      <p:sp>
        <p:nvSpPr>
          <p:cNvPr id="3" name="Slide Number Placeholder 2">
            <a:extLst>
              <a:ext uri="{FF2B5EF4-FFF2-40B4-BE49-F238E27FC236}">
                <a16:creationId xmlns:a16="http://schemas.microsoft.com/office/drawing/2014/main" id="{38C59B09-DB46-85C8-2347-ACAB671A8E6A}"/>
              </a:ext>
            </a:extLst>
          </p:cNvPr>
          <p:cNvSpPr>
            <a:spLocks noGrp="1"/>
          </p:cNvSpPr>
          <p:nvPr>
            <p:ph type="sldNum" sz="quarter" idx="4"/>
          </p:nvPr>
        </p:nvSpPr>
        <p:spPr/>
        <p:txBody>
          <a:bodyPr/>
          <a:lstStyle/>
          <a:p>
            <a:fld id="{CC7E3F2E-5E17-4E15-9E32-D4A7BBAEA187}" type="slidenum">
              <a:rPr lang="el-GR" smtClean="0"/>
              <a:t>6</a:t>
            </a:fld>
            <a:endParaRPr lang="el-GR"/>
          </a:p>
        </p:txBody>
      </p:sp>
    </p:spTree>
    <p:extLst>
      <p:ext uri="{BB962C8B-B14F-4D97-AF65-F5344CB8AC3E}">
        <p14:creationId xmlns:p14="http://schemas.microsoft.com/office/powerpoint/2010/main" val="486610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9D6A-ED54-4A97-498C-394D9877F77E}"/>
              </a:ext>
            </a:extLst>
          </p:cNvPr>
          <p:cNvSpPr>
            <a:spLocks noGrp="1"/>
          </p:cNvSpPr>
          <p:nvPr>
            <p:ph type="title"/>
          </p:nvPr>
        </p:nvSpPr>
        <p:spPr/>
        <p:txBody>
          <a:bodyPr>
            <a:normAutofit/>
          </a:bodyPr>
          <a:lstStyle/>
          <a:p>
            <a:r>
              <a:rPr lang="en-US" sz="2400" i="1" dirty="0">
                <a:effectLst>
                  <a:outerShdw blurRad="38100" dist="38100" dir="2700000" algn="tl">
                    <a:srgbClr val="000000">
                      <a:alpha val="43137"/>
                    </a:srgbClr>
                  </a:outerShdw>
                </a:effectLst>
              </a:rPr>
              <a:t>Methodology - Case Study </a:t>
            </a:r>
            <a:br>
              <a:rPr lang="en-US" sz="2400" i="1" dirty="0">
                <a:effectLst>
                  <a:outerShdw blurRad="38100" dist="38100" dir="2700000" algn="tl">
                    <a:srgbClr val="000000">
                      <a:alpha val="43137"/>
                    </a:srgbClr>
                  </a:outerShdw>
                </a:effectLst>
              </a:rPr>
            </a:br>
            <a:r>
              <a:rPr lang="en-US" sz="2400" i="1" dirty="0">
                <a:effectLst>
                  <a:outerShdw blurRad="38100" dist="38100" dir="2700000" algn="tl">
                    <a:srgbClr val="000000">
                      <a:alpha val="43137"/>
                    </a:srgbClr>
                  </a:outerShdw>
                </a:effectLst>
              </a:rPr>
              <a:t>Definition</a:t>
            </a:r>
            <a:endParaRPr lang="el-GR" sz="2400"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722C318-5BF4-D435-85CE-5458898F85EF}"/>
              </a:ext>
            </a:extLst>
          </p:cNvPr>
          <p:cNvSpPr>
            <a:spLocks noGrp="1"/>
          </p:cNvSpPr>
          <p:nvPr>
            <p:ph sz="half" idx="1"/>
          </p:nvPr>
        </p:nvSpPr>
        <p:spPr>
          <a:xfrm>
            <a:off x="457200" y="1166018"/>
            <a:ext cx="4038600" cy="4525963"/>
          </a:xfrm>
        </p:spPr>
        <p:txBody>
          <a:bodyPr/>
          <a:lstStyle/>
          <a:p>
            <a:r>
              <a:rPr lang="en-US" dirty="0"/>
              <a:t>EMPA campus case study</a:t>
            </a:r>
            <a:endParaRPr lang="el-GR" dirty="0"/>
          </a:p>
        </p:txBody>
      </p:sp>
      <p:pic>
        <p:nvPicPr>
          <p:cNvPr id="5" name="Picture 4">
            <a:extLst>
              <a:ext uri="{FF2B5EF4-FFF2-40B4-BE49-F238E27FC236}">
                <a16:creationId xmlns:a16="http://schemas.microsoft.com/office/drawing/2014/main" id="{E3A7AAB6-7586-E85D-8A48-A21838151C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25218"/>
            <a:ext cx="9144000" cy="4935013"/>
          </a:xfrm>
          <a:prstGeom prst="rect">
            <a:avLst/>
          </a:prstGeom>
        </p:spPr>
      </p:pic>
      <p:sp>
        <p:nvSpPr>
          <p:cNvPr id="4" name="Slide Number Placeholder 3">
            <a:extLst>
              <a:ext uri="{FF2B5EF4-FFF2-40B4-BE49-F238E27FC236}">
                <a16:creationId xmlns:a16="http://schemas.microsoft.com/office/drawing/2014/main" id="{29881D28-A562-BAE1-12A9-6FAD39BD7D7B}"/>
              </a:ext>
            </a:extLst>
          </p:cNvPr>
          <p:cNvSpPr>
            <a:spLocks noGrp="1"/>
          </p:cNvSpPr>
          <p:nvPr>
            <p:ph type="sldNum" sz="quarter" idx="4"/>
          </p:nvPr>
        </p:nvSpPr>
        <p:spPr/>
        <p:txBody>
          <a:bodyPr/>
          <a:lstStyle/>
          <a:p>
            <a:fld id="{CC7E3F2E-5E17-4E15-9E32-D4A7BBAEA187}" type="slidenum">
              <a:rPr lang="el-GR" smtClean="0"/>
              <a:t>7</a:t>
            </a:fld>
            <a:endParaRPr lang="el-GR"/>
          </a:p>
        </p:txBody>
      </p:sp>
    </p:spTree>
    <p:extLst>
      <p:ext uri="{BB962C8B-B14F-4D97-AF65-F5344CB8AC3E}">
        <p14:creationId xmlns:p14="http://schemas.microsoft.com/office/powerpoint/2010/main" val="1298772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DDAC395-9E3E-12FF-F83C-5A311CE8433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88376" y="692696"/>
            <a:ext cx="6767248" cy="2952328"/>
          </a:xfrm>
          <a:prstGeom prst="rect">
            <a:avLst/>
          </a:prstGeom>
        </p:spPr>
      </p:pic>
      <p:sp>
        <p:nvSpPr>
          <p:cNvPr id="2" name="Title 1">
            <a:extLst>
              <a:ext uri="{FF2B5EF4-FFF2-40B4-BE49-F238E27FC236}">
                <a16:creationId xmlns:a16="http://schemas.microsoft.com/office/drawing/2014/main" id="{A05ECE6F-05C3-8043-F4A4-ACA9639658BC}"/>
              </a:ext>
            </a:extLst>
          </p:cNvPr>
          <p:cNvSpPr>
            <a:spLocks noGrp="1"/>
          </p:cNvSpPr>
          <p:nvPr>
            <p:ph type="title"/>
          </p:nvPr>
        </p:nvSpPr>
        <p:spPr/>
        <p:txBody>
          <a:bodyPr>
            <a:normAutofit/>
          </a:bodyPr>
          <a:lstStyle/>
          <a:p>
            <a:r>
              <a:rPr lang="en-US" i="1" dirty="0">
                <a:effectLst>
                  <a:outerShdw blurRad="38100" dist="38100" dir="2700000" algn="tl">
                    <a:srgbClr val="000000">
                      <a:alpha val="43137"/>
                    </a:srgbClr>
                  </a:outerShdw>
                </a:effectLst>
              </a:rPr>
              <a:t>Methodology- Operational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Strategies</a:t>
            </a:r>
            <a:endParaRPr lang="el-GR" i="1" dirty="0">
              <a:effectLst>
                <a:outerShdw blurRad="38100" dist="38100" dir="2700000" algn="tl">
                  <a:srgbClr val="000000">
                    <a:alpha val="43137"/>
                  </a:srgbClr>
                </a:outerShdw>
              </a:effectLst>
            </a:endParaRPr>
          </a:p>
        </p:txBody>
      </p:sp>
      <p:graphicFrame>
        <p:nvGraphicFramePr>
          <p:cNvPr id="6" name="Table 5">
            <a:extLst>
              <a:ext uri="{FF2B5EF4-FFF2-40B4-BE49-F238E27FC236}">
                <a16:creationId xmlns:a16="http://schemas.microsoft.com/office/drawing/2014/main" id="{C3BE5983-8C6D-A482-7E89-FC739DEA0811}"/>
              </a:ext>
            </a:extLst>
          </p:cNvPr>
          <p:cNvGraphicFramePr>
            <a:graphicFrameLocks noGrp="1"/>
          </p:cNvGraphicFramePr>
          <p:nvPr>
            <p:extLst>
              <p:ext uri="{D42A27DB-BD31-4B8C-83A1-F6EECF244321}">
                <p14:modId xmlns:p14="http://schemas.microsoft.com/office/powerpoint/2010/main" val="3321736526"/>
              </p:ext>
            </p:extLst>
          </p:nvPr>
        </p:nvGraphicFramePr>
        <p:xfrm>
          <a:off x="1524000" y="4682832"/>
          <a:ext cx="6096000" cy="15544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82292466"/>
                    </a:ext>
                  </a:extLst>
                </a:gridCol>
                <a:gridCol w="2032000">
                  <a:extLst>
                    <a:ext uri="{9D8B030D-6E8A-4147-A177-3AD203B41FA5}">
                      <a16:colId xmlns:a16="http://schemas.microsoft.com/office/drawing/2014/main" val="1786247970"/>
                    </a:ext>
                  </a:extLst>
                </a:gridCol>
                <a:gridCol w="2032000">
                  <a:extLst>
                    <a:ext uri="{9D8B030D-6E8A-4147-A177-3AD203B41FA5}">
                      <a16:colId xmlns:a16="http://schemas.microsoft.com/office/drawing/2014/main" val="343331994"/>
                    </a:ext>
                  </a:extLst>
                </a:gridCol>
              </a:tblGrid>
              <a:tr h="370840">
                <a:tc>
                  <a:txBody>
                    <a:bodyPr/>
                    <a:lstStyle/>
                    <a:p>
                      <a:r>
                        <a:rPr lang="en-US" dirty="0"/>
                        <a:t>Strategy I</a:t>
                      </a:r>
                      <a:endParaRPr lang="el-G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Strategy II</a:t>
                      </a:r>
                      <a:endParaRPr lang="el-G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Strategy III</a:t>
                      </a:r>
                      <a:endParaRPr lang="el-GR" dirty="0"/>
                    </a:p>
                    <a:p>
                      <a:endParaRPr lang="el-GR" dirty="0"/>
                    </a:p>
                  </a:txBody>
                  <a:tcPr/>
                </a:tc>
                <a:extLst>
                  <a:ext uri="{0D108BD9-81ED-4DB2-BD59-A6C34878D82A}">
                    <a16:rowId xmlns:a16="http://schemas.microsoft.com/office/drawing/2014/main" val="373692591"/>
                  </a:ext>
                </a:extLst>
              </a:tr>
              <a:tr h="370840">
                <a:tc>
                  <a:txBody>
                    <a:bodyPr/>
                    <a:lstStyle/>
                    <a:p>
                      <a:r>
                        <a:rPr lang="el-GR" dirty="0"/>
                        <a:t>Δ</a:t>
                      </a:r>
                      <a:r>
                        <a:rPr lang="en-US" dirty="0"/>
                        <a:t>T as scalar decision variable</a:t>
                      </a:r>
                      <a:endParaRPr lang="el-GR" dirty="0"/>
                    </a:p>
                  </a:txBody>
                  <a:tcPr/>
                </a:tc>
                <a:tc>
                  <a:txBody>
                    <a:bodyPr/>
                    <a:lstStyle/>
                    <a:p>
                      <a:r>
                        <a:rPr lang="en-US" dirty="0" err="1"/>
                        <a:t>Tevap</a:t>
                      </a:r>
                      <a:r>
                        <a:rPr lang="en-US" dirty="0"/>
                        <a:t>/</a:t>
                      </a:r>
                      <a:r>
                        <a:rPr lang="en-US" dirty="0" err="1"/>
                        <a:t>Tcond</a:t>
                      </a:r>
                      <a:r>
                        <a:rPr lang="en-US" dirty="0"/>
                        <a:t> as scalar decision variables</a:t>
                      </a:r>
                      <a:endParaRPr lang="el-GR" dirty="0"/>
                    </a:p>
                  </a:txBody>
                  <a:tcPr/>
                </a:tc>
                <a:tc>
                  <a:txBody>
                    <a:bodyPr/>
                    <a:lstStyle/>
                    <a:p>
                      <a:r>
                        <a:rPr lang="el-GR" dirty="0"/>
                        <a:t>Δ</a:t>
                      </a:r>
                      <a:r>
                        <a:rPr lang="en-US" dirty="0"/>
                        <a:t>T/</a:t>
                      </a:r>
                      <a:r>
                        <a:rPr lang="en-US" dirty="0" err="1"/>
                        <a:t>Tevap</a:t>
                      </a:r>
                      <a:r>
                        <a:rPr lang="en-US" dirty="0"/>
                        <a:t>/</a:t>
                      </a:r>
                      <a:r>
                        <a:rPr lang="en-US" dirty="0" err="1"/>
                        <a:t>Tcond</a:t>
                      </a:r>
                      <a:r>
                        <a:rPr lang="en-US" dirty="0"/>
                        <a:t> as varying decision variables</a:t>
                      </a:r>
                      <a:endParaRPr lang="el-GR" dirty="0"/>
                    </a:p>
                  </a:txBody>
                  <a:tcPr/>
                </a:tc>
                <a:extLst>
                  <a:ext uri="{0D108BD9-81ED-4DB2-BD59-A6C34878D82A}">
                    <a16:rowId xmlns:a16="http://schemas.microsoft.com/office/drawing/2014/main" val="633112740"/>
                  </a:ext>
                </a:extLst>
              </a:tr>
            </a:tbl>
          </a:graphicData>
        </a:graphic>
      </p:graphicFrame>
      <p:sp>
        <p:nvSpPr>
          <p:cNvPr id="3" name="Oval 2">
            <a:extLst>
              <a:ext uri="{FF2B5EF4-FFF2-40B4-BE49-F238E27FC236}">
                <a16:creationId xmlns:a16="http://schemas.microsoft.com/office/drawing/2014/main" id="{188ECE3F-914A-40BF-326D-6B5F26DF340F}"/>
              </a:ext>
            </a:extLst>
          </p:cNvPr>
          <p:cNvSpPr/>
          <p:nvPr/>
        </p:nvSpPr>
        <p:spPr>
          <a:xfrm>
            <a:off x="119753" y="3430034"/>
            <a:ext cx="1842120" cy="92697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Note: All strategies tested using the MINLP model</a:t>
            </a:r>
            <a:endParaRPr lang="el-GR" sz="12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09461DA-7FEE-5B79-2A0B-1452280315CD}"/>
                  </a:ext>
                </a:extLst>
              </p:cNvPr>
              <p:cNvSpPr txBox="1"/>
              <p:nvPr/>
            </p:nvSpPr>
            <p:spPr>
              <a:xfrm>
                <a:off x="2173279" y="3429000"/>
                <a:ext cx="4689938" cy="1686937"/>
              </a:xfrm>
              <a:prstGeom prst="rect">
                <a:avLst/>
              </a:prstGeom>
              <a:noFill/>
            </p:spPr>
            <p:txBody>
              <a:bodyPr wrap="non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a:latin typeface="Cambria Math" panose="02040503050406030204" pitchFamily="18" charset="0"/>
                                </a:rPr>
                              </m:ctrlPr>
                            </m:sSubPr>
                            <m:e>
                              <m:r>
                                <a:rPr lang="en-US" b="0" i="1">
                                  <a:latin typeface="Cambria Math" panose="02040503050406030204" pitchFamily="18" charset="0"/>
                                </a:rPr>
                                <m:t>𝐶𝑂𝑃</m:t>
                              </m:r>
                            </m:e>
                            <m:sub>
                              <m:r>
                                <a:rPr lang="en-US" b="0" i="1">
                                  <a:latin typeface="Cambria Math" panose="02040503050406030204" pitchFamily="18" charset="0"/>
                                </a:rPr>
                                <m:t>𝐻𝑃</m:t>
                              </m:r>
                            </m:sub>
                          </m:sSub>
                        </m:den>
                      </m:f>
                      <m:r>
                        <a:rPr lang="en-US" b="0" i="1" smtClean="0">
                          <a:latin typeface="Cambria Math" panose="02040503050406030204" pitchFamily="18" charset="0"/>
                        </a:rPr>
                        <m:t>=</m:t>
                      </m:r>
                      <m:sSub>
                        <m:sSubPr>
                          <m:ctrlPr>
                            <a:rPr lang="el-GR" b="0" i="1" smtClean="0">
                              <a:latin typeface="Cambria Math" panose="02040503050406030204" pitchFamily="18" charset="0"/>
                            </a:rPr>
                          </m:ctrlPr>
                        </m:sSubPr>
                        <m:e>
                          <m:r>
                            <a:rPr lang="el-GR" b="0" i="1" smtClean="0">
                              <a:latin typeface="Cambria Math" panose="02040503050406030204" pitchFamily="18" charset="0"/>
                            </a:rPr>
                            <m:t>𝛼</m:t>
                          </m:r>
                          <m:r>
                            <a:rPr lang="el-GR" b="0" i="1" smtClean="0">
                              <a:latin typeface="Cambria Math" panose="02040503050406030204" pitchFamily="18" charset="0"/>
                            </a:rPr>
                            <m:t>(</m:t>
                          </m:r>
                          <m:r>
                            <m:rPr>
                              <m:sty m:val="p"/>
                            </m:rPr>
                            <a:rPr lang="el-GR" b="0" i="0">
                              <a:latin typeface="Cambria Math" panose="02040503050406030204" pitchFamily="18" charset="0"/>
                            </a:rPr>
                            <m:t>Τ</m:t>
                          </m:r>
                        </m:e>
                        <m:sub>
                          <m:r>
                            <a:rPr lang="en-US" b="0" i="1">
                              <a:latin typeface="Cambria Math" panose="02040503050406030204" pitchFamily="18" charset="0"/>
                            </a:rPr>
                            <m:t>𝑏𝑡𝑒𝑠</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 </m:t>
                      </m:r>
                      <m:sSub>
                        <m:sSubPr>
                          <m:ctrlPr>
                            <a:rPr lang="el-GR" b="0" i="1" smtClean="0">
                              <a:latin typeface="Cambria Math" panose="02040503050406030204" pitchFamily="18" charset="0"/>
                            </a:rPr>
                          </m:ctrlPr>
                        </m:sSubPr>
                        <m:e>
                          <m:r>
                            <a:rPr lang="el-GR" b="0" i="1" smtClean="0">
                              <a:latin typeface="Cambria Math" panose="02040503050406030204" pitchFamily="18" charset="0"/>
                            </a:rPr>
                            <m:t>𝛥𝛵</m:t>
                          </m:r>
                        </m:e>
                        <m:sub>
                          <m:r>
                            <a:rPr lang="en-US" b="0" i="1" smtClean="0">
                              <a:latin typeface="Cambria Math" panose="02040503050406030204" pitchFamily="18" charset="0"/>
                            </a:rPr>
                            <m:t>ℎ𝑝</m:t>
                          </m:r>
                          <m:r>
                            <a:rPr lang="en-US" b="0" i="1" smtClean="0">
                              <a:latin typeface="Cambria Math" panose="02040503050406030204" pitchFamily="18" charset="0"/>
                            </a:rPr>
                            <m:t>,</m:t>
                          </m:r>
                          <m:r>
                            <a:rPr lang="en-US" b="0" i="1" smtClean="0">
                              <a:latin typeface="Cambria Math" panose="02040503050406030204" pitchFamily="18" charset="0"/>
                            </a:rPr>
                            <m:t>𝑏𝑡𝑒𝑠</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 + </m:t>
                      </m:r>
                      <m:r>
                        <a:rPr lang="el-GR" b="0" i="1" smtClean="0">
                          <a:latin typeface="Cambria Math" panose="02040503050406030204" pitchFamily="18" charset="0"/>
                        </a:rPr>
                        <m:t>𝛽</m:t>
                      </m:r>
                    </m:oMath>
                  </m:oMathPara>
                </a14:m>
                <a:endParaRPr lang="en-US" dirty="0"/>
              </a:p>
              <a:p>
                <a:pPr/>
                <a14:m>
                  <m:oMathPara xmlns:m="http://schemas.openxmlformats.org/officeDocument/2006/math">
                    <m:oMath>
                      <m:f>
                        <m:fPr>
                          <m:ctrlPr>
                            <a:rPr lang="en-US" b="0" i="1">
                              <a:latin typeface="Cambria Math" panose="02040503050406030204" pitchFamily="18" charset="0"/>
                            </a:rPr>
                          </m:ctrlPr>
                        </m:fPr>
                        <m:num>
                          <m:r>
                            <a:rPr lang="en-US" b="0" i="1">
                              <a:latin typeface="Cambria Math" panose="02040503050406030204" pitchFamily="18" charset="0"/>
                            </a:rPr>
                            <m:t>1</m:t>
                          </m:r>
                        </m:num>
                        <m:den>
                          <m:sSub>
                            <m:sSubPr>
                              <m:ctrlPr>
                                <a:rPr lang="en-US" b="0" i="1">
                                  <a:latin typeface="Cambria Math" panose="02040503050406030204" pitchFamily="18" charset="0"/>
                                </a:rPr>
                              </m:ctrlPr>
                            </m:sSubPr>
                            <m:e>
                              <m:r>
                                <a:rPr lang="en-US" b="0" i="1">
                                  <a:latin typeface="Cambria Math" panose="02040503050406030204" pitchFamily="18" charset="0"/>
                                </a:rPr>
                                <m:t>𝐶𝑂𝑃</m:t>
                              </m:r>
                            </m:e>
                            <m:sub>
                              <m:r>
                                <m:rPr>
                                  <m:sty m:val="p"/>
                                </m:rPr>
                                <a:rPr lang="en-US" b="0" i="1" smtClean="0">
                                  <a:latin typeface="Cambria Math" panose="02040503050406030204" pitchFamily="18" charset="0"/>
                                </a:rPr>
                                <m:t>chiller</m:t>
                              </m:r>
                            </m:sub>
                          </m:sSub>
                        </m:den>
                      </m:f>
                      <m:r>
                        <a:rPr lang="en-US" b="0" i="1">
                          <a:latin typeface="Cambria Math" panose="02040503050406030204" pitchFamily="18" charset="0"/>
                        </a:rPr>
                        <m:t>=</m:t>
                      </m:r>
                      <m:sSub>
                        <m:sSubPr>
                          <m:ctrlPr>
                            <a:rPr lang="el-GR" b="0" i="1">
                              <a:latin typeface="Cambria Math" panose="02040503050406030204" pitchFamily="18" charset="0"/>
                            </a:rPr>
                          </m:ctrlPr>
                        </m:sSubPr>
                        <m:e>
                          <m:r>
                            <a:rPr lang="el-GR" b="0" i="1">
                              <a:latin typeface="Cambria Math" panose="02040503050406030204" pitchFamily="18" charset="0"/>
                            </a:rPr>
                            <m:t>𝛼</m:t>
                          </m:r>
                          <m:r>
                            <a:rPr lang="el-GR" b="0" i="1">
                              <a:latin typeface="Cambria Math" panose="02040503050406030204" pitchFamily="18" charset="0"/>
                            </a:rPr>
                            <m:t>(</m:t>
                          </m:r>
                          <m:r>
                            <a:rPr lang="el-GR" b="0" i="1">
                              <a:latin typeface="Cambria Math" panose="02040503050406030204" pitchFamily="18" charset="0"/>
                            </a:rPr>
                            <m:t>𝛵</m:t>
                          </m:r>
                        </m:e>
                        <m:sub>
                          <m:r>
                            <a:rPr lang="en-US" b="0" i="1">
                              <a:latin typeface="Cambria Math" panose="02040503050406030204" pitchFamily="18" charset="0"/>
                            </a:rPr>
                            <m:t>𝑏𝑡𝑒𝑠</m:t>
                          </m:r>
                        </m:sub>
                      </m:sSub>
                      <m:r>
                        <a:rPr lang="en-US" b="0" i="1">
                          <a:latin typeface="Cambria Math" panose="02040503050406030204" pitchFamily="18" charset="0"/>
                        </a:rPr>
                        <m:t>[</m:t>
                      </m:r>
                      <m:r>
                        <a:rPr lang="en-US" b="0" i="1">
                          <a:latin typeface="Cambria Math" panose="02040503050406030204" pitchFamily="18" charset="0"/>
                        </a:rPr>
                        <m:t>𝑡</m:t>
                      </m:r>
                      <m:r>
                        <a:rPr lang="en-US" b="0" i="1">
                          <a:latin typeface="Cambria Math" panose="02040503050406030204" pitchFamily="18" charset="0"/>
                        </a:rPr>
                        <m:t>] +</m:t>
                      </m:r>
                      <m:sSub>
                        <m:sSubPr>
                          <m:ctrlPr>
                            <a:rPr lang="el-GR" b="0" i="1">
                              <a:latin typeface="Cambria Math" panose="02040503050406030204" pitchFamily="18" charset="0"/>
                            </a:rPr>
                          </m:ctrlPr>
                        </m:sSubPr>
                        <m:e>
                          <m:r>
                            <a:rPr lang="el-GR" b="0" i="1">
                              <a:latin typeface="Cambria Math" panose="02040503050406030204" pitchFamily="18" charset="0"/>
                            </a:rPr>
                            <m:t>𝛥𝛵</m:t>
                          </m:r>
                        </m:e>
                        <m:sub>
                          <m:r>
                            <m:rPr>
                              <m:sty m:val="p"/>
                            </m:rPr>
                            <a:rPr lang="en-US" b="0" i="1" smtClean="0">
                              <a:latin typeface="Cambria Math" panose="02040503050406030204" pitchFamily="18" charset="0"/>
                            </a:rPr>
                            <m:t>chiller</m:t>
                          </m:r>
                          <m:r>
                            <a:rPr lang="en-US" b="0" i="1">
                              <a:latin typeface="Cambria Math" panose="02040503050406030204" pitchFamily="18" charset="0"/>
                            </a:rPr>
                            <m:t>,</m:t>
                          </m:r>
                          <m:r>
                            <a:rPr lang="en-US" b="0" i="1">
                              <a:latin typeface="Cambria Math" panose="02040503050406030204" pitchFamily="18" charset="0"/>
                            </a:rPr>
                            <m:t>𝑏𝑡𝑒𝑠</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 + </m:t>
                      </m:r>
                      <m:r>
                        <a:rPr lang="el-GR" b="0" i="1">
                          <a:latin typeface="Cambria Math" panose="02040503050406030204" pitchFamily="18" charset="0"/>
                        </a:rPr>
                        <m:t>𝛽</m:t>
                      </m:r>
                    </m:oMath>
                  </m:oMathPara>
                </a14:m>
                <a:endParaRPr lang="en-US" dirty="0"/>
              </a:p>
              <a:p>
                <a:endParaRPr lang="en-US" dirty="0"/>
              </a:p>
              <a:p>
                <a:endParaRPr lang="en-US" dirty="0"/>
              </a:p>
            </p:txBody>
          </p:sp>
        </mc:Choice>
        <mc:Fallback xmlns="">
          <p:sp>
            <p:nvSpPr>
              <p:cNvPr id="4" name="TextBox 3">
                <a:extLst>
                  <a:ext uri="{FF2B5EF4-FFF2-40B4-BE49-F238E27FC236}">
                    <a16:creationId xmlns:a16="http://schemas.microsoft.com/office/drawing/2014/main" id="{C09461DA-7FEE-5B79-2A0B-1452280315CD}"/>
                  </a:ext>
                </a:extLst>
              </p:cNvPr>
              <p:cNvSpPr txBox="1">
                <a:spLocks noRot="1" noChangeAspect="1" noMove="1" noResize="1" noEditPoints="1" noAdjustHandles="1" noChangeArrowheads="1" noChangeShapeType="1" noTextEdit="1"/>
              </p:cNvSpPr>
              <p:nvPr/>
            </p:nvSpPr>
            <p:spPr>
              <a:xfrm>
                <a:off x="2173279" y="3429000"/>
                <a:ext cx="4689938" cy="1686937"/>
              </a:xfrm>
              <a:prstGeom prst="rect">
                <a:avLst/>
              </a:prstGeom>
              <a:blipFill>
                <a:blip r:embed="rId4"/>
                <a:stretch>
                  <a:fillRect/>
                </a:stretch>
              </a:blipFill>
            </p:spPr>
            <p:txBody>
              <a:bodyPr/>
              <a:lstStyle/>
              <a:p>
                <a:r>
                  <a:rPr lang="el-GR">
                    <a:noFill/>
                  </a:rPr>
                  <a:t> </a:t>
                </a:r>
              </a:p>
            </p:txBody>
          </p:sp>
        </mc:Fallback>
      </mc:AlternateContent>
      <p:sp>
        <p:nvSpPr>
          <p:cNvPr id="8" name="TextBox 7">
            <a:extLst>
              <a:ext uri="{FF2B5EF4-FFF2-40B4-BE49-F238E27FC236}">
                <a16:creationId xmlns:a16="http://schemas.microsoft.com/office/drawing/2014/main" id="{6D9FA6D7-C84A-2A76-82D5-CD42663F11BE}"/>
              </a:ext>
            </a:extLst>
          </p:cNvPr>
          <p:cNvSpPr txBox="1"/>
          <p:nvPr/>
        </p:nvSpPr>
        <p:spPr>
          <a:xfrm>
            <a:off x="119753" y="6523720"/>
            <a:ext cx="5784395" cy="246221"/>
          </a:xfrm>
          <a:prstGeom prst="rect">
            <a:avLst/>
          </a:prstGeom>
          <a:noFill/>
        </p:spPr>
        <p:txBody>
          <a:bodyPr wrap="square">
            <a:spAutoFit/>
          </a:bodyPr>
          <a:lstStyle/>
          <a:p>
            <a:r>
              <a:rPr lang="da-DK" sz="1000" dirty="0"/>
              <a:t>[11] Fiorentini, M. </a:t>
            </a:r>
            <a:r>
              <a:rPr lang="da-DK" sz="1000" i="1" dirty="0"/>
              <a:t>et al.</a:t>
            </a:r>
            <a:r>
              <a:rPr lang="da-DK" sz="1000" dirty="0"/>
              <a:t> (2023), </a:t>
            </a:r>
            <a:r>
              <a:rPr lang="da-DK" sz="1000" i="1" dirty="0"/>
              <a:t>Energy</a:t>
            </a:r>
            <a:r>
              <a:rPr lang="da-DK" sz="1000" dirty="0"/>
              <a:t>, 262, 125464.</a:t>
            </a:r>
            <a:endParaRPr lang="el-GR" sz="1000" dirty="0"/>
          </a:p>
        </p:txBody>
      </p:sp>
      <p:sp>
        <p:nvSpPr>
          <p:cNvPr id="5" name="Slide Number Placeholder 4">
            <a:extLst>
              <a:ext uri="{FF2B5EF4-FFF2-40B4-BE49-F238E27FC236}">
                <a16:creationId xmlns:a16="http://schemas.microsoft.com/office/drawing/2014/main" id="{117DB366-92C3-F45B-871E-EB37483913DE}"/>
              </a:ext>
            </a:extLst>
          </p:cNvPr>
          <p:cNvSpPr>
            <a:spLocks noGrp="1"/>
          </p:cNvSpPr>
          <p:nvPr>
            <p:ph type="sldNum" sz="quarter" idx="4"/>
          </p:nvPr>
        </p:nvSpPr>
        <p:spPr/>
        <p:txBody>
          <a:bodyPr/>
          <a:lstStyle/>
          <a:p>
            <a:fld id="{CC7E3F2E-5E17-4E15-9E32-D4A7BBAEA187}" type="slidenum">
              <a:rPr lang="el-GR" smtClean="0"/>
              <a:t>8</a:t>
            </a:fld>
            <a:endParaRPr lang="el-GR"/>
          </a:p>
        </p:txBody>
      </p:sp>
    </p:spTree>
    <p:extLst>
      <p:ext uri="{BB962C8B-B14F-4D97-AF65-F5344CB8AC3E}">
        <p14:creationId xmlns:p14="http://schemas.microsoft.com/office/powerpoint/2010/main" val="221981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05079-7CCE-2C80-E262-5CAC7E271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C5854-A2AA-0827-1A8B-8E485EA786F4}"/>
              </a:ext>
            </a:extLst>
          </p:cNvPr>
          <p:cNvSpPr>
            <a:spLocks noGrp="1"/>
          </p:cNvSpPr>
          <p:nvPr>
            <p:ph type="title"/>
          </p:nvPr>
        </p:nvSpPr>
        <p:spPr>
          <a:xfrm>
            <a:off x="457200" y="197768"/>
            <a:ext cx="5338936" cy="1143000"/>
          </a:xfrm>
        </p:spPr>
        <p:txBody>
          <a:bodyPr/>
          <a:lstStyle/>
          <a:p>
            <a:r>
              <a:rPr lang="en-US" i="1" dirty="0">
                <a:effectLst>
                  <a:outerShdw blurRad="38100" dist="38100" dir="2700000" algn="tl">
                    <a:srgbClr val="000000">
                      <a:alpha val="43137"/>
                    </a:srgbClr>
                  </a:outerShdw>
                </a:effectLst>
              </a:rPr>
              <a:t>Methodology – McCormick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relaxation - MILP</a:t>
            </a:r>
            <a:endParaRPr lang="el-GR" i="1" dirty="0">
              <a:effectLst>
                <a:outerShdw blurRad="38100" dist="38100" dir="2700000" algn="tl">
                  <a:srgbClr val="000000">
                    <a:alpha val="43137"/>
                  </a:srgbClr>
                </a:outerShdw>
              </a:effectLst>
            </a:endParaRPr>
          </a:p>
        </p:txBody>
      </p:sp>
      <p:pic>
        <p:nvPicPr>
          <p:cNvPr id="8" name="Content Placeholder 7">
            <a:extLst>
              <a:ext uri="{FF2B5EF4-FFF2-40B4-BE49-F238E27FC236}">
                <a16:creationId xmlns:a16="http://schemas.microsoft.com/office/drawing/2014/main" id="{ACE15E99-F772-F5B3-EC82-2F77565A769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57200" y="2924944"/>
            <a:ext cx="8229600" cy="3298809"/>
          </a:xfrm>
          <a:prstGeom prst="rect">
            <a:avLst/>
          </a:prstGeom>
        </p:spPr>
      </p:pic>
      <p:sp>
        <p:nvSpPr>
          <p:cNvPr id="3" name="Slide Number Placeholder 2">
            <a:extLst>
              <a:ext uri="{FF2B5EF4-FFF2-40B4-BE49-F238E27FC236}">
                <a16:creationId xmlns:a16="http://schemas.microsoft.com/office/drawing/2014/main" id="{BE0A61BE-FD51-9E09-0906-842F56382BCC}"/>
              </a:ext>
            </a:extLst>
          </p:cNvPr>
          <p:cNvSpPr>
            <a:spLocks noGrp="1"/>
          </p:cNvSpPr>
          <p:nvPr>
            <p:ph type="sldNum" sz="quarter" idx="4"/>
          </p:nvPr>
        </p:nvSpPr>
        <p:spPr/>
        <p:txBody>
          <a:bodyPr/>
          <a:lstStyle/>
          <a:p>
            <a:fld id="{CC7E3F2E-5E17-4E15-9E32-D4A7BBAEA187}" type="slidenum">
              <a:rPr lang="el-GR" smtClean="0"/>
              <a:t>9</a:t>
            </a:fld>
            <a:endParaRPr lang="el-G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8D58A2-8EE1-FC9D-B664-3F9ADF8215CE}"/>
                  </a:ext>
                </a:extLst>
              </p:cNvPr>
              <p:cNvSpPr txBox="1"/>
              <p:nvPr/>
            </p:nvSpPr>
            <p:spPr>
              <a:xfrm>
                <a:off x="2843808" y="980728"/>
                <a:ext cx="3456384" cy="1600438"/>
              </a:xfrm>
              <a:prstGeom prst="rect">
                <a:avLst/>
              </a:prstGeom>
              <a:solidFill>
                <a:srgbClr val="00B0F0"/>
              </a:solidFill>
              <a:ln>
                <a:solidFill>
                  <a:schemeClr val="tx1"/>
                </a:solidFill>
              </a:ln>
            </p:spPr>
            <p:txBody>
              <a:bodyPr wrap="square">
                <a:spAutoFit/>
              </a:bodyPr>
              <a:lstStyle/>
              <a:p>
                <a:pPr marL="0" lvl="0" indent="0" eaLnBrk="0" fontAlgn="base" hangingPunct="0">
                  <a:spcBef>
                    <a:spcPct val="0"/>
                  </a:spcBef>
                  <a:spcAft>
                    <a:spcPct val="0"/>
                  </a:spcAft>
                  <a:buClrTx/>
                  <a:buSzTx/>
                  <a:buNone/>
                </a:pPr>
                <a:r>
                  <a:rPr lang="en-US" altLang="el-GR" sz="1400" dirty="0"/>
                  <a:t>Lower bounds:</a:t>
                </a:r>
              </a:p>
              <a:p>
                <a:pPr eaLnBrk="0" fontAlgn="base" hangingPunct="0">
                  <a:spcBef>
                    <a:spcPct val="0"/>
                  </a:spcBef>
                  <a:spcAft>
                    <a:spcPct val="0"/>
                  </a:spcAft>
                  <a:buClrTx/>
                  <a:buSzTx/>
                </a:pPr>
                <a14:m>
                  <m:oMath xmlns:m="http://schemas.openxmlformats.org/officeDocument/2006/math">
                    <m:r>
                      <m:rPr>
                        <m:sty m:val="p"/>
                      </m:rPr>
                      <a:rPr kumimoji="0" lang="en-US" altLang="el-GR" sz="1400" b="0" i="0" u="none" strike="noStrike" cap="none" normalizeH="0" baseline="0" smtClean="0">
                        <a:ln>
                          <a:noFill/>
                        </a:ln>
                        <a:solidFill>
                          <a:schemeClr val="tx1"/>
                        </a:solidFill>
                        <a:effectLst/>
                        <a:latin typeface="Cambria Math" panose="02040503050406030204" pitchFamily="18" charset="0"/>
                      </a:rPr>
                      <m:t>z</m:t>
                    </m:r>
                    <m:r>
                      <a:rPr kumimoji="0" lang="en-US" altLang="el-GR" sz="1400" b="0" i="0" u="none" strike="noStrike" cap="none" normalizeH="0" baseline="0" smtClean="0">
                        <a:ln>
                          <a:noFill/>
                        </a:ln>
                        <a:solidFill>
                          <a:schemeClr val="tx1"/>
                        </a:solidFill>
                        <a:effectLst/>
                        <a:latin typeface="Cambria Math" panose="02040503050406030204" pitchFamily="18" charset="0"/>
                      </a:rPr>
                      <m:t> </m:t>
                    </m:r>
                  </m:oMath>
                </a14:m>
                <a:r>
                  <a:rPr kumimoji="0" lang="en-US" altLang="el-GR" sz="1400" b="0" u="none" strike="noStrike" cap="none" normalizeH="0" baseline="0" dirty="0">
                    <a:ln>
                      <a:noFill/>
                    </a:ln>
                    <a:solidFill>
                      <a:schemeClr val="tx1"/>
                    </a:solidFill>
                    <a:effectLst/>
                  </a:rPr>
                  <a:t> </a:t>
                </a:r>
                <a14:m>
                  <m:oMath xmlns:m="http://schemas.openxmlformats.org/officeDocument/2006/math">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 </m:t>
                    </m:r>
                    <m:sSub>
                      <m:sSubPr>
                        <m:ctrl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ctrlPr>
                      </m:sSubPr>
                      <m:e>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Q</m:t>
                        </m:r>
                      </m:e>
                      <m:sub>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LB</m:t>
                        </m:r>
                      </m:sub>
                    </m:sSub>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T</m:t>
                    </m:r>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 +(</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r>
                      <a:rPr lang="en-US" altLang="el-GR" sz="1400" b="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oMath>
                </a14:m>
                <a:endParaRPr lang="en-US" altLang="el-GR" sz="1400" dirty="0">
                  <a:ea typeface="Cambria Math" panose="02040503050406030204" pitchFamily="18" charset="0"/>
                </a:endParaRPr>
              </a:p>
              <a:p>
                <a:pPr eaLnBrk="0" fontAlgn="base" hangingPunct="0">
                  <a:spcBef>
                    <a:spcPct val="0"/>
                  </a:spcBef>
                  <a:spcAft>
                    <a:spcPct val="0"/>
                  </a:spcAft>
                  <a:buClrTx/>
                  <a:buSzTx/>
                </a:pPr>
                <a14:m>
                  <m:oMath xmlns:m="http://schemas.openxmlformats.org/officeDocument/2006/math">
                    <m:r>
                      <m:rPr>
                        <m:sty m:val="p"/>
                      </m:rPr>
                      <a:rPr lang="en-US" altLang="el-GR" sz="140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oMath>
                </a14:m>
                <a:endParaRPr kumimoji="0" lang="el-GR" altLang="el-GR" sz="1400" b="0" u="none" strike="noStrike" cap="none" normalizeH="0" baseline="0" dirty="0">
                  <a:ln>
                    <a:noFill/>
                  </a:ln>
                  <a:solidFill>
                    <a:schemeClr val="tx1"/>
                  </a:solidFill>
                  <a:effectLst/>
                </a:endParaRPr>
              </a:p>
              <a:p>
                <a:pPr marL="0" lvl="0" indent="0" eaLnBrk="0" fontAlgn="base" hangingPunct="0">
                  <a:spcBef>
                    <a:spcPct val="0"/>
                  </a:spcBef>
                  <a:spcAft>
                    <a:spcPct val="0"/>
                  </a:spcAft>
                  <a:buClrTx/>
                  <a:buSzTx/>
                  <a:buNone/>
                </a:pPr>
                <a:endParaRPr lang="en-US" altLang="el-GR" sz="1400" b="0" dirty="0"/>
              </a:p>
              <a:p>
                <a:pPr marL="0" lvl="0" indent="0" eaLnBrk="0" fontAlgn="base" hangingPunct="0">
                  <a:spcBef>
                    <a:spcPct val="0"/>
                  </a:spcBef>
                  <a:spcAft>
                    <a:spcPct val="0"/>
                  </a:spcAft>
                  <a:buClrTx/>
                  <a:buSzTx/>
                  <a:buNone/>
                </a:pPr>
                <a:r>
                  <a:rPr lang="en-US" altLang="el-GR" sz="1400" b="0" dirty="0"/>
                  <a:t>Upper bounds:</a:t>
                </a:r>
              </a:p>
              <a:p>
                <a:pPr eaLnBrk="0" fontAlgn="base" hangingPunct="0">
                  <a:spcBef>
                    <a:spcPct val="0"/>
                  </a:spcBef>
                  <a:spcAft>
                    <a:spcPct val="0"/>
                  </a:spcAft>
                  <a:buClrTx/>
                  <a:buSzTx/>
                </a:pPr>
                <a14:m>
                  <m:oMath xmlns:m="http://schemas.openxmlformats.org/officeDocument/2006/math">
                    <m:r>
                      <m:rPr>
                        <m:sty m:val="p"/>
                      </m:rPr>
                      <a:rPr lang="en-US" altLang="el-GR" sz="1400" b="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oMath>
                </a14:m>
                <a:endParaRPr lang="en-US" altLang="el-GR" sz="1400" dirty="0">
                  <a:ea typeface="Cambria Math" panose="02040503050406030204" pitchFamily="18" charset="0"/>
                </a:endParaRPr>
              </a:p>
              <a:p>
                <a:pPr eaLnBrk="0" fontAlgn="base" hangingPunct="0">
                  <a:spcBef>
                    <a:spcPct val="0"/>
                  </a:spcBef>
                  <a:spcAft>
                    <a:spcPct val="0"/>
                  </a:spcAft>
                  <a:buClrTx/>
                  <a:buSzTx/>
                </a:pPr>
                <a14:m>
                  <m:oMath xmlns:m="http://schemas.openxmlformats.org/officeDocument/2006/math">
                    <m:r>
                      <m:rPr>
                        <m:sty m:val="p"/>
                      </m:rPr>
                      <a:rPr lang="en-US" altLang="el-GR" sz="140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L</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oMath>
                </a14:m>
                <a:r>
                  <a:rPr kumimoji="0" lang="el-GR" altLang="el-GR" sz="1400" b="0" u="none" strike="noStrike" cap="none" normalizeH="0" baseline="0" dirty="0">
                    <a:ln>
                      <a:noFill/>
                    </a:ln>
                    <a:solidFill>
                      <a:schemeClr val="tx1"/>
                    </a:solidFill>
                    <a:effectLst/>
                  </a:rPr>
                  <a:t> </a:t>
                </a:r>
                <a:endParaRPr kumimoji="0" lang="en-US" altLang="el-GR" sz="1400" b="0" u="none" strike="noStrike" cap="none" normalizeH="0" baseline="0" dirty="0">
                  <a:ln>
                    <a:noFill/>
                  </a:ln>
                  <a:solidFill>
                    <a:schemeClr val="tx1"/>
                  </a:solidFill>
                  <a:effectLst/>
                </a:endParaRPr>
              </a:p>
            </p:txBody>
          </p:sp>
        </mc:Choice>
        <mc:Fallback xmlns="">
          <p:sp>
            <p:nvSpPr>
              <p:cNvPr id="5" name="TextBox 4">
                <a:extLst>
                  <a:ext uri="{FF2B5EF4-FFF2-40B4-BE49-F238E27FC236}">
                    <a16:creationId xmlns:a16="http://schemas.microsoft.com/office/drawing/2014/main" id="{F38D58A2-8EE1-FC9D-B664-3F9ADF8215CE}"/>
                  </a:ext>
                </a:extLst>
              </p:cNvPr>
              <p:cNvSpPr txBox="1">
                <a:spLocks noRot="1" noChangeAspect="1" noMove="1" noResize="1" noEditPoints="1" noAdjustHandles="1" noChangeArrowheads="1" noChangeShapeType="1" noTextEdit="1"/>
              </p:cNvSpPr>
              <p:nvPr/>
            </p:nvSpPr>
            <p:spPr>
              <a:xfrm>
                <a:off x="2843808" y="980728"/>
                <a:ext cx="3456384" cy="1600438"/>
              </a:xfrm>
              <a:prstGeom prst="rect">
                <a:avLst/>
              </a:prstGeom>
              <a:blipFill>
                <a:blip r:embed="rId4"/>
                <a:stretch>
                  <a:fillRect l="-352" t="-758" b="-758"/>
                </a:stretch>
              </a:blipFill>
              <a:ln>
                <a:solidFill>
                  <a:schemeClr val="tx1"/>
                </a:solidFill>
              </a:ln>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91F72CD-05D5-453F-1E60-347F45C2B61F}"/>
                  </a:ext>
                </a:extLst>
              </p:cNvPr>
              <p:cNvSpPr txBox="1"/>
              <p:nvPr/>
            </p:nvSpPr>
            <p:spPr>
              <a:xfrm>
                <a:off x="755576" y="1307484"/>
                <a:ext cx="1467072" cy="946926"/>
              </a:xfrm>
              <a:prstGeom prst="rect">
                <a:avLst/>
              </a:prstGeom>
              <a:solidFill>
                <a:srgbClr val="FF0000"/>
              </a:solidFill>
            </p:spPr>
            <p:txBody>
              <a:bodyPr wrap="square" lIns="0" tIns="0" rIns="0" bIns="0" rtlCol="0">
                <a:spAutoFit/>
              </a:bodyPr>
              <a:lstStyle/>
              <a:p>
                <a:r>
                  <a:rPr lang="en-US" dirty="0"/>
                  <a:t>Bilinearity:</a:t>
                </a:r>
              </a:p>
              <a:p>
                <a:r>
                  <a:rPr lang="en-US" b="0" dirty="0"/>
                  <a:t>P = Q</a:t>
                </a:r>
                <a:r>
                  <a:rPr lang="en-US" altLang="el-GR" dirty="0">
                    <a:ea typeface="Cambria Math" panose="02040503050406030204" pitchFamily="18" charset="0"/>
                  </a:rPr>
                  <a:t> </a:t>
                </a:r>
                <a14:m>
                  <m:oMath xmlns:m="http://schemas.openxmlformats.org/officeDocument/2006/math">
                    <m:r>
                      <a:rPr lang="en-US" altLang="el-GR" dirty="0">
                        <a:latin typeface="Cambria Math" panose="02040503050406030204" pitchFamily="18" charset="0"/>
                        <a:ea typeface="Cambria Math" panose="02040503050406030204" pitchFamily="18" charset="0"/>
                      </a:rPr>
                      <m:t>×</m:t>
                    </m:r>
                    <m:r>
                      <a:rPr lang="en-US" altLang="el-GR" i="1" dirty="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𝐶𝑂𝑃</m:t>
                        </m:r>
                      </m:den>
                    </m:f>
                  </m:oMath>
                </a14:m>
                <a:endParaRPr lang="en-US" dirty="0"/>
              </a:p>
              <a:p>
                <a:endParaRPr lang="en-US" dirty="0"/>
              </a:p>
            </p:txBody>
          </p:sp>
        </mc:Choice>
        <mc:Fallback xmlns="">
          <p:sp>
            <p:nvSpPr>
              <p:cNvPr id="7" name="TextBox 6">
                <a:extLst>
                  <a:ext uri="{FF2B5EF4-FFF2-40B4-BE49-F238E27FC236}">
                    <a16:creationId xmlns:a16="http://schemas.microsoft.com/office/drawing/2014/main" id="{091F72CD-05D5-453F-1E60-347F45C2B61F}"/>
                  </a:ext>
                </a:extLst>
              </p:cNvPr>
              <p:cNvSpPr txBox="1">
                <a:spLocks noRot="1" noChangeAspect="1" noMove="1" noResize="1" noEditPoints="1" noAdjustHandles="1" noChangeArrowheads="1" noChangeShapeType="1" noTextEdit="1"/>
              </p:cNvSpPr>
              <p:nvPr/>
            </p:nvSpPr>
            <p:spPr>
              <a:xfrm>
                <a:off x="755576" y="1307484"/>
                <a:ext cx="1467072" cy="946926"/>
              </a:xfrm>
              <a:prstGeom prst="rect">
                <a:avLst/>
              </a:prstGeom>
              <a:blipFill>
                <a:blip r:embed="rId5"/>
                <a:stretch>
                  <a:fillRect l="-9959" t="-7692"/>
                </a:stretch>
              </a:blipFill>
            </p:spPr>
            <p:txBody>
              <a:bodyPr/>
              <a:lstStyle/>
              <a:p>
                <a:r>
                  <a:rPr lang="el-GR">
                    <a:noFill/>
                  </a:rPr>
                  <a:t> </a:t>
                </a:r>
              </a:p>
            </p:txBody>
          </p:sp>
        </mc:Fallback>
      </mc:AlternateContent>
    </p:spTree>
    <p:extLst>
      <p:ext uri="{BB962C8B-B14F-4D97-AF65-F5344CB8AC3E}">
        <p14:creationId xmlns:p14="http://schemas.microsoft.com/office/powerpoint/2010/main" val="179234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51EB2-63BD-C92C-1D88-F8FBA03554D3}"/>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A378F68-BECB-773D-25F3-79B8FAA652A3}"/>
              </a:ext>
            </a:extLst>
          </p:cNvPr>
          <p:cNvSpPr>
            <a:spLocks noGrp="1"/>
          </p:cNvSpPr>
          <p:nvPr>
            <p:ph type="title"/>
          </p:nvPr>
        </p:nvSpPr>
        <p:spPr>
          <a:xfrm>
            <a:off x="457200" y="197768"/>
            <a:ext cx="7139136" cy="1143000"/>
          </a:xfrm>
        </p:spPr>
        <p:txBody>
          <a:bodyPr/>
          <a:lstStyle/>
          <a:p>
            <a:r>
              <a:rPr lang="en-US" i="1" dirty="0">
                <a:effectLst>
                  <a:outerShdw blurRad="38100" dist="38100" dir="2700000" algn="tl">
                    <a:srgbClr val="000000">
                      <a:alpha val="43137"/>
                    </a:srgbClr>
                  </a:outerShdw>
                </a:effectLst>
              </a:rPr>
              <a:t>Methodology - BTES options </a:t>
            </a:r>
          </a:p>
        </p:txBody>
      </p:sp>
      <p:graphicFrame>
        <p:nvGraphicFramePr>
          <p:cNvPr id="4" name="Content Placeholder 3">
            <a:extLst>
              <a:ext uri="{FF2B5EF4-FFF2-40B4-BE49-F238E27FC236}">
                <a16:creationId xmlns:a16="http://schemas.microsoft.com/office/drawing/2014/main" id="{189101E1-55FF-CC51-87E7-5722A982E42F}"/>
              </a:ext>
            </a:extLst>
          </p:cNvPr>
          <p:cNvGraphicFramePr>
            <a:graphicFrameLocks noGrp="1"/>
          </p:cNvGraphicFramePr>
          <p:nvPr>
            <p:ph sz="half" idx="2"/>
          </p:nvPr>
        </p:nvGraphicFramePr>
        <p:xfrm>
          <a:off x="1074440" y="1844824"/>
          <a:ext cx="6995119" cy="2899635"/>
        </p:xfrm>
        <a:graphic>
          <a:graphicData uri="http://schemas.openxmlformats.org/drawingml/2006/table">
            <a:tbl>
              <a:tblPr firstRow="1" bandRow="1">
                <a:noFill/>
              </a:tblPr>
              <a:tblGrid>
                <a:gridCol w="1077196">
                  <a:extLst>
                    <a:ext uri="{9D8B030D-6E8A-4147-A177-3AD203B41FA5}">
                      <a16:colId xmlns:a16="http://schemas.microsoft.com/office/drawing/2014/main" val="217063289"/>
                    </a:ext>
                  </a:extLst>
                </a:gridCol>
                <a:gridCol w="1287758">
                  <a:extLst>
                    <a:ext uri="{9D8B030D-6E8A-4147-A177-3AD203B41FA5}">
                      <a16:colId xmlns:a16="http://schemas.microsoft.com/office/drawing/2014/main" val="2180950861"/>
                    </a:ext>
                  </a:extLst>
                </a:gridCol>
                <a:gridCol w="999619">
                  <a:extLst>
                    <a:ext uri="{9D8B030D-6E8A-4147-A177-3AD203B41FA5}">
                      <a16:colId xmlns:a16="http://schemas.microsoft.com/office/drawing/2014/main" val="2676897007"/>
                    </a:ext>
                  </a:extLst>
                </a:gridCol>
                <a:gridCol w="1154770">
                  <a:extLst>
                    <a:ext uri="{9D8B030D-6E8A-4147-A177-3AD203B41FA5}">
                      <a16:colId xmlns:a16="http://schemas.microsoft.com/office/drawing/2014/main" val="3389979218"/>
                    </a:ext>
                  </a:extLst>
                </a:gridCol>
                <a:gridCol w="1066113">
                  <a:extLst>
                    <a:ext uri="{9D8B030D-6E8A-4147-A177-3AD203B41FA5}">
                      <a16:colId xmlns:a16="http://schemas.microsoft.com/office/drawing/2014/main" val="1294835134"/>
                    </a:ext>
                  </a:extLst>
                </a:gridCol>
                <a:gridCol w="1409663">
                  <a:extLst>
                    <a:ext uri="{9D8B030D-6E8A-4147-A177-3AD203B41FA5}">
                      <a16:colId xmlns:a16="http://schemas.microsoft.com/office/drawing/2014/main" val="2333873420"/>
                    </a:ext>
                  </a:extLst>
                </a:gridCol>
              </a:tblGrid>
              <a:tr h="658371">
                <a:tc>
                  <a:txBody>
                    <a:bodyPr/>
                    <a:lstStyle/>
                    <a:p>
                      <a:pPr>
                        <a:buNone/>
                      </a:pPr>
                      <a:r>
                        <a:rPr lang="el-GR" sz="1600" b="1" dirty="0" err="1">
                          <a:solidFill>
                            <a:schemeClr val="tx1">
                              <a:lumMod val="75000"/>
                              <a:lumOff val="25000"/>
                            </a:schemeClr>
                          </a:solidFill>
                        </a:rPr>
                        <a:t>Option</a:t>
                      </a:r>
                      <a:endParaRPr lang="el-GR" sz="1600" dirty="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l-GR" sz="1600" b="1">
                          <a:solidFill>
                            <a:schemeClr val="tx1">
                              <a:lumMod val="75000"/>
                              <a:lumOff val="25000"/>
                            </a:schemeClr>
                          </a:solidFill>
                        </a:rPr>
                        <a:t>Diameter (m)</a:t>
                      </a:r>
                      <a:endParaRPr lang="el-GR" sz="160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l-GR" sz="1600" b="1">
                          <a:solidFill>
                            <a:schemeClr val="tx1">
                              <a:lumMod val="75000"/>
                              <a:lumOff val="25000"/>
                            </a:schemeClr>
                          </a:solidFill>
                        </a:rPr>
                        <a:t>Depth (m)</a:t>
                      </a:r>
                      <a:endParaRPr lang="el-GR" sz="160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l-GR" sz="1600" b="1">
                          <a:solidFill>
                            <a:schemeClr val="tx1">
                              <a:lumMod val="75000"/>
                              <a:lumOff val="25000"/>
                            </a:schemeClr>
                          </a:solidFill>
                        </a:rPr>
                        <a:t>Volume (m³)</a:t>
                      </a:r>
                      <a:endParaRPr lang="el-GR" sz="160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l-GR" sz="1600" b="1">
                          <a:solidFill>
                            <a:schemeClr val="tx1">
                              <a:lumMod val="75000"/>
                              <a:lumOff val="25000"/>
                            </a:schemeClr>
                          </a:solidFill>
                        </a:rPr>
                        <a:t>UA (kW/K)</a:t>
                      </a:r>
                      <a:endParaRPr lang="el-GR" sz="160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l-GR" sz="1600" b="1">
                          <a:solidFill>
                            <a:schemeClr val="tx1">
                              <a:lumMod val="75000"/>
                              <a:lumOff val="25000"/>
                            </a:schemeClr>
                          </a:solidFill>
                        </a:rPr>
                        <a:t>Boreholes</a:t>
                      </a:r>
                      <a:endParaRPr lang="el-GR" sz="1600">
                        <a:solidFill>
                          <a:schemeClr val="tx1">
                            <a:lumMod val="75000"/>
                            <a:lumOff val="25000"/>
                          </a:schemeClr>
                        </a:solidFill>
                      </a:endParaRPr>
                    </a:p>
                  </a:txBody>
                  <a:tcPr marL="115214" marR="69129" marT="69129" marB="69129"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059661830"/>
                  </a:ext>
                </a:extLst>
              </a:tr>
              <a:tr h="373544">
                <a:tc>
                  <a:txBody>
                    <a:bodyPr/>
                    <a:lstStyle/>
                    <a:p>
                      <a:pPr>
                        <a:buNone/>
                      </a:pPr>
                      <a:r>
                        <a:rPr lang="el-GR" sz="1600" dirty="0">
                          <a:solidFill>
                            <a:schemeClr val="tx1">
                              <a:lumMod val="75000"/>
                              <a:lumOff val="25000"/>
                            </a:schemeClr>
                          </a:solidFill>
                        </a:rPr>
                        <a:t>1</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53.4</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53.4</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119,200</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22.5</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158</a:t>
                      </a:r>
                    </a:p>
                  </a:txBody>
                  <a:tcPr marL="115214" marR="59912" marT="59912" marB="59912"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995160784"/>
                  </a:ext>
                </a:extLst>
              </a:tr>
              <a:tr h="373544">
                <a:tc>
                  <a:txBody>
                    <a:bodyPr/>
                    <a:lstStyle/>
                    <a:p>
                      <a:pPr>
                        <a:buNone/>
                      </a:pPr>
                      <a:r>
                        <a:rPr lang="el-GR" sz="1600" dirty="0">
                          <a:solidFill>
                            <a:schemeClr val="tx1">
                              <a:lumMod val="75000"/>
                              <a:lumOff val="25000"/>
                            </a:schemeClr>
                          </a:solidFill>
                        </a:rPr>
                        <a:t>2</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61.2</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61.2</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179,600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33.8</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207</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21510989"/>
                  </a:ext>
                </a:extLst>
              </a:tr>
              <a:tr h="373544">
                <a:tc>
                  <a:txBody>
                    <a:bodyPr/>
                    <a:lstStyle/>
                    <a:p>
                      <a:pPr>
                        <a:buNone/>
                      </a:pPr>
                      <a:r>
                        <a:rPr lang="el-GR" sz="1600" dirty="0">
                          <a:solidFill>
                            <a:schemeClr val="tx1">
                              <a:lumMod val="75000"/>
                              <a:lumOff val="25000"/>
                            </a:schemeClr>
                          </a:solidFill>
                        </a:rPr>
                        <a:t>3</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70.0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70.0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269,400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50.6</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271</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796737995"/>
                  </a:ext>
                </a:extLst>
              </a:tr>
              <a:tr h="373544">
                <a:tc>
                  <a:txBody>
                    <a:bodyPr/>
                    <a:lstStyle/>
                    <a:p>
                      <a:pPr>
                        <a:buNone/>
                      </a:pPr>
                      <a:r>
                        <a:rPr lang="el-GR" sz="1600" dirty="0">
                          <a:solidFill>
                            <a:schemeClr val="tx1">
                              <a:lumMod val="75000"/>
                              <a:lumOff val="25000"/>
                            </a:schemeClr>
                          </a:solidFill>
                        </a:rPr>
                        <a:t>4</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80.1</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80.1</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404,100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76.0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355</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94783199"/>
                  </a:ext>
                </a:extLst>
              </a:tr>
              <a:tr h="373544">
                <a:tc>
                  <a:txBody>
                    <a:bodyPr/>
                    <a:lstStyle/>
                    <a:p>
                      <a:pPr>
                        <a:buNone/>
                      </a:pPr>
                      <a:r>
                        <a:rPr lang="el-GR" sz="1600" dirty="0">
                          <a:solidFill>
                            <a:schemeClr val="tx1">
                              <a:lumMod val="75000"/>
                              <a:lumOff val="25000"/>
                            </a:schemeClr>
                          </a:solidFill>
                        </a:rPr>
                        <a:t>5</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91.7</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91.7</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606,100</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a:solidFill>
                            <a:schemeClr val="tx1">
                              <a:lumMod val="75000"/>
                              <a:lumOff val="25000"/>
                            </a:schemeClr>
                          </a:solidFill>
                        </a:rPr>
                        <a:t>113.9</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466</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763014800"/>
                  </a:ext>
                </a:extLst>
              </a:tr>
              <a:tr h="373544">
                <a:tc>
                  <a:txBody>
                    <a:bodyPr/>
                    <a:lstStyle/>
                    <a:p>
                      <a:pPr>
                        <a:buNone/>
                      </a:pPr>
                      <a:r>
                        <a:rPr lang="el-GR" sz="1600" dirty="0">
                          <a:solidFill>
                            <a:schemeClr val="tx1">
                              <a:lumMod val="75000"/>
                              <a:lumOff val="25000"/>
                            </a:schemeClr>
                          </a:solidFill>
                        </a:rPr>
                        <a:t>6</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l-GR" sz="1600" dirty="0">
                          <a:solidFill>
                            <a:schemeClr val="tx1">
                              <a:lumMod val="75000"/>
                              <a:lumOff val="25000"/>
                            </a:schemeClr>
                          </a:solidFill>
                        </a:rPr>
                        <a:t>—</a:t>
                      </a:r>
                    </a:p>
                  </a:txBody>
                  <a:tcPr marL="115214" marR="59912" marT="59912" marB="59912"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817579655"/>
                  </a:ext>
                </a:extLst>
              </a:tr>
            </a:tbl>
          </a:graphicData>
        </a:graphic>
      </p:graphicFrame>
      <p:sp>
        <p:nvSpPr>
          <p:cNvPr id="2" name="Slide Number Placeholder 1">
            <a:extLst>
              <a:ext uri="{FF2B5EF4-FFF2-40B4-BE49-F238E27FC236}">
                <a16:creationId xmlns:a16="http://schemas.microsoft.com/office/drawing/2014/main" id="{44E9C0E4-8116-D81A-BC4B-BFDCF6BE1911}"/>
              </a:ext>
            </a:extLst>
          </p:cNvPr>
          <p:cNvSpPr>
            <a:spLocks noGrp="1"/>
          </p:cNvSpPr>
          <p:nvPr>
            <p:ph type="sldNum" sz="quarter" idx="10"/>
          </p:nvPr>
        </p:nvSpPr>
        <p:spPr/>
        <p:txBody>
          <a:bodyPr/>
          <a:lstStyle/>
          <a:p>
            <a:fld id="{CC7E3F2E-5E17-4E15-9E32-D4A7BBAEA187}" type="slidenum">
              <a:rPr lang="el-GR" smtClean="0"/>
              <a:t>10</a:t>
            </a:fld>
            <a:endParaRPr lang="el-GR"/>
          </a:p>
        </p:txBody>
      </p:sp>
    </p:spTree>
    <p:extLst>
      <p:ext uri="{BB962C8B-B14F-4D97-AF65-F5344CB8AC3E}">
        <p14:creationId xmlns:p14="http://schemas.microsoft.com/office/powerpoint/2010/main" val="1635435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EA4C-8F96-F4EF-972E-AB059C089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690BE-243E-58AA-142B-2A0C7A1E02B5}"/>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Results - Verification </a:t>
            </a:r>
            <a:endParaRPr lang="el-GR" i="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417D4417-E1C9-92C4-4001-BC02E625DB69}"/>
              </a:ext>
            </a:extLst>
          </p:cNvPr>
          <p:cNvSpPr>
            <a:spLocks noGrp="1"/>
          </p:cNvSpPr>
          <p:nvPr>
            <p:ph type="sldNum" sz="quarter" idx="4"/>
          </p:nvPr>
        </p:nvSpPr>
        <p:spPr/>
        <p:txBody>
          <a:bodyPr/>
          <a:lstStyle/>
          <a:p>
            <a:fld id="{CC7E3F2E-5E17-4E15-9E32-D4A7BBAEA187}" type="slidenum">
              <a:rPr lang="el-GR" smtClean="0"/>
              <a:t>11</a:t>
            </a:fld>
            <a:endParaRPr lang="el-GR" dirty="0"/>
          </a:p>
        </p:txBody>
      </p:sp>
      <p:sp>
        <p:nvSpPr>
          <p:cNvPr id="4" name="Rectangle 3">
            <a:extLst>
              <a:ext uri="{FF2B5EF4-FFF2-40B4-BE49-F238E27FC236}">
                <a16:creationId xmlns:a16="http://schemas.microsoft.com/office/drawing/2014/main" id="{AB26B9CD-A804-6E3B-2800-B4D862F55848}"/>
              </a:ext>
            </a:extLst>
          </p:cNvPr>
          <p:cNvSpPr/>
          <p:nvPr/>
        </p:nvSpPr>
        <p:spPr>
          <a:xfrm>
            <a:off x="1547664" y="6053941"/>
            <a:ext cx="6048672" cy="724620"/>
          </a:xfrm>
          <a:prstGeom prst="rect">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1600" dirty="0" err="1"/>
              <a:t>Good</a:t>
            </a:r>
            <a:r>
              <a:rPr lang="el-GR" sz="1600" dirty="0"/>
              <a:t> </a:t>
            </a:r>
            <a:r>
              <a:rPr lang="el-GR" sz="1600" dirty="0" err="1"/>
              <a:t>agreement</a:t>
            </a:r>
            <a:r>
              <a:rPr lang="el-GR" sz="1600" dirty="0"/>
              <a:t> </a:t>
            </a:r>
            <a:r>
              <a:rPr lang="el-GR" sz="1600" dirty="0" err="1"/>
              <a:t>with</a:t>
            </a:r>
            <a:r>
              <a:rPr lang="el-GR" sz="1600" dirty="0"/>
              <a:t> </a:t>
            </a:r>
            <a:r>
              <a:rPr lang="el-GR" sz="1600" dirty="0" err="1"/>
              <a:t>Modelica</a:t>
            </a:r>
            <a:r>
              <a:rPr lang="el-GR" sz="1600" dirty="0"/>
              <a:t> (MAE = 2.51 K, RMSE = 2.84 K), </a:t>
            </a:r>
            <a:r>
              <a:rPr lang="el-GR" sz="1600" dirty="0" err="1"/>
              <a:t>supporting</a:t>
            </a:r>
            <a:r>
              <a:rPr lang="el-GR" sz="1600" dirty="0"/>
              <a:t> the MINLP for </a:t>
            </a:r>
            <a:r>
              <a:rPr lang="el-GR" sz="1600" dirty="0" err="1"/>
              <a:t>annual</a:t>
            </a:r>
            <a:r>
              <a:rPr lang="el-GR" sz="1600" dirty="0"/>
              <a:t> </a:t>
            </a:r>
            <a:r>
              <a:rPr lang="el-GR" sz="1600" dirty="0" err="1"/>
              <a:t>system-design</a:t>
            </a:r>
            <a:r>
              <a:rPr lang="el-GR" sz="1600" dirty="0"/>
              <a:t> </a:t>
            </a:r>
            <a:r>
              <a:rPr lang="el-GR" sz="1600" dirty="0" err="1"/>
              <a:t>optimization</a:t>
            </a:r>
            <a:endParaRPr lang="el-GR" sz="1600" dirty="0"/>
          </a:p>
        </p:txBody>
      </p:sp>
      <p:pic>
        <p:nvPicPr>
          <p:cNvPr id="5" name="Content Placeholder 7">
            <a:extLst>
              <a:ext uri="{FF2B5EF4-FFF2-40B4-BE49-F238E27FC236}">
                <a16:creationId xmlns:a16="http://schemas.microsoft.com/office/drawing/2014/main" id="{60BBF0D0-91A2-F29D-CA09-A9627DEDDC6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9512" y="882996"/>
            <a:ext cx="8784976" cy="5092008"/>
          </a:xfrm>
          <a:prstGeom prst="rect">
            <a:avLst/>
          </a:prstGeom>
        </p:spPr>
      </p:pic>
    </p:spTree>
    <p:extLst>
      <p:ext uri="{BB962C8B-B14F-4D97-AF65-F5344CB8AC3E}">
        <p14:creationId xmlns:p14="http://schemas.microsoft.com/office/powerpoint/2010/main" val="934801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A604B-915F-DAC3-3BC8-59AACCDDB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E4CE6-F16C-E221-DD4A-6FAAFBEB4902}"/>
              </a:ext>
            </a:extLst>
          </p:cNvPr>
          <p:cNvSpPr>
            <a:spLocks noGrp="1"/>
          </p:cNvSpPr>
          <p:nvPr>
            <p:ph type="title"/>
          </p:nvPr>
        </p:nvSpPr>
        <p:spPr>
          <a:xfrm>
            <a:off x="457200" y="197768"/>
            <a:ext cx="3970784" cy="1143000"/>
          </a:xfrm>
        </p:spPr>
        <p:txBody>
          <a:bodyPr/>
          <a:lstStyle/>
          <a:p>
            <a:r>
              <a:rPr lang="en-US" i="1" dirty="0">
                <a:effectLst>
                  <a:outerShdw blurRad="38100" dist="38100" dir="2700000" algn="tl">
                    <a:srgbClr val="000000">
                      <a:alpha val="43137"/>
                    </a:srgbClr>
                  </a:outerShdw>
                </a:effectLst>
              </a:rPr>
              <a:t>Results – Impact of Operational Strategies</a:t>
            </a:r>
            <a:endParaRPr lang="el-GR" i="1"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93604F51-E861-5C4F-54ED-4C6FD39520D3}"/>
              </a:ext>
            </a:extLst>
          </p:cNvPr>
          <p:cNvGraphicFramePr>
            <a:graphicFrameLocks noGrp="1"/>
          </p:cNvGraphicFramePr>
          <p:nvPr>
            <p:ph idx="1"/>
            <p:extLst>
              <p:ext uri="{D42A27DB-BD31-4B8C-83A1-F6EECF244321}">
                <p14:modId xmlns:p14="http://schemas.microsoft.com/office/powerpoint/2010/main" val="1460392155"/>
              </p:ext>
            </p:extLst>
          </p:nvPr>
        </p:nvGraphicFramePr>
        <p:xfrm>
          <a:off x="457200" y="1323419"/>
          <a:ext cx="8229600" cy="3408680"/>
        </p:xfrm>
        <a:graphic>
          <a:graphicData uri="http://schemas.openxmlformats.org/drawingml/2006/table">
            <a:tbl>
              <a:tblPr firstRow="1" bandRow="1">
                <a:tableStyleId>{00A15C55-8517-42AA-B614-E9B94910E393}</a:tableStyleId>
              </a:tblPr>
              <a:tblGrid>
                <a:gridCol w="2386608">
                  <a:extLst>
                    <a:ext uri="{9D8B030D-6E8A-4147-A177-3AD203B41FA5}">
                      <a16:colId xmlns:a16="http://schemas.microsoft.com/office/drawing/2014/main" val="2132700379"/>
                    </a:ext>
                  </a:extLst>
                </a:gridCol>
                <a:gridCol w="1728192">
                  <a:extLst>
                    <a:ext uri="{9D8B030D-6E8A-4147-A177-3AD203B41FA5}">
                      <a16:colId xmlns:a16="http://schemas.microsoft.com/office/drawing/2014/main" val="1932372919"/>
                    </a:ext>
                  </a:extLst>
                </a:gridCol>
                <a:gridCol w="2057400">
                  <a:extLst>
                    <a:ext uri="{9D8B030D-6E8A-4147-A177-3AD203B41FA5}">
                      <a16:colId xmlns:a16="http://schemas.microsoft.com/office/drawing/2014/main" val="1707287827"/>
                    </a:ext>
                  </a:extLst>
                </a:gridCol>
                <a:gridCol w="2057400">
                  <a:extLst>
                    <a:ext uri="{9D8B030D-6E8A-4147-A177-3AD203B41FA5}">
                      <a16:colId xmlns:a16="http://schemas.microsoft.com/office/drawing/2014/main" val="1767179068"/>
                    </a:ext>
                  </a:extLst>
                </a:gridCol>
              </a:tblGrid>
              <a:tr h="370840">
                <a:tc>
                  <a:txBody>
                    <a:bodyPr/>
                    <a:lstStyle/>
                    <a:p>
                      <a:pPr>
                        <a:buNone/>
                      </a:pPr>
                      <a:r>
                        <a:rPr lang="el-GR" dirty="0" err="1"/>
                        <a:t>Technology</a:t>
                      </a:r>
                      <a:endParaRPr lang="el-GR" dirty="0"/>
                    </a:p>
                  </a:txBody>
                  <a:tcPr anchor="ctr"/>
                </a:tc>
                <a:tc>
                  <a:txBody>
                    <a:bodyPr/>
                    <a:lstStyle/>
                    <a:p>
                      <a:pPr algn="ctr">
                        <a:buNone/>
                      </a:pPr>
                      <a:r>
                        <a:rPr lang="el-GR" dirty="0" err="1"/>
                        <a:t>Strategy</a:t>
                      </a:r>
                      <a:r>
                        <a:rPr lang="el-GR" dirty="0"/>
                        <a:t> I</a:t>
                      </a:r>
                      <a:endParaRPr lang="en-US" dirty="0"/>
                    </a:p>
                    <a:p>
                      <a:pPr algn="ctr">
                        <a:buNone/>
                      </a:pPr>
                      <a:r>
                        <a:rPr lang="en-US" dirty="0"/>
                        <a:t>(Scalar </a:t>
                      </a:r>
                      <a:r>
                        <a:rPr lang="el-GR" dirty="0"/>
                        <a:t>Δ</a:t>
                      </a:r>
                      <a:r>
                        <a:rPr lang="en-US" dirty="0"/>
                        <a:t>T)</a:t>
                      </a:r>
                      <a:endParaRPr lang="el-GR" dirty="0"/>
                    </a:p>
                  </a:txBody>
                  <a:tcPr anchor="ctr"/>
                </a:tc>
                <a:tc>
                  <a:txBody>
                    <a:bodyPr/>
                    <a:lstStyle/>
                    <a:p>
                      <a:pPr algn="ctr">
                        <a:buNone/>
                      </a:pPr>
                      <a:r>
                        <a:rPr lang="el-GR" dirty="0" err="1"/>
                        <a:t>Strategy</a:t>
                      </a:r>
                      <a:r>
                        <a:rPr lang="el-GR" dirty="0"/>
                        <a:t> II</a:t>
                      </a:r>
                      <a:endParaRPr lang="en-US" dirty="0"/>
                    </a:p>
                    <a:p>
                      <a:pPr algn="ctr">
                        <a:buNone/>
                      </a:pPr>
                      <a:r>
                        <a:rPr lang="en-US" dirty="0"/>
                        <a:t>(Scalar </a:t>
                      </a:r>
                      <a:r>
                        <a:rPr lang="en-US" dirty="0" err="1"/>
                        <a:t>Tevap</a:t>
                      </a:r>
                      <a:r>
                        <a:rPr lang="en-US" dirty="0"/>
                        <a:t>/</a:t>
                      </a:r>
                      <a:r>
                        <a:rPr lang="en-US" dirty="0" err="1"/>
                        <a:t>Tcond</a:t>
                      </a:r>
                      <a:r>
                        <a:rPr lang="en-US" dirty="0"/>
                        <a:t>)</a:t>
                      </a:r>
                      <a:endParaRPr lang="el-GR" dirty="0"/>
                    </a:p>
                  </a:txBody>
                  <a:tcPr anchor="ctr"/>
                </a:tc>
                <a:tc>
                  <a:txBody>
                    <a:bodyPr/>
                    <a:lstStyle/>
                    <a:p>
                      <a:pPr algn="ctr">
                        <a:buNone/>
                      </a:pPr>
                      <a:r>
                        <a:rPr lang="el-GR" dirty="0" err="1"/>
                        <a:t>Strategy</a:t>
                      </a:r>
                      <a:r>
                        <a:rPr lang="el-GR" dirty="0"/>
                        <a:t> III</a:t>
                      </a:r>
                      <a:endParaRPr lang="en-US" dirty="0"/>
                    </a:p>
                    <a:p>
                      <a:pPr algn="ctr">
                        <a:buNone/>
                      </a:pPr>
                      <a:r>
                        <a:rPr lang="en-US" dirty="0"/>
                        <a:t>(Varying </a:t>
                      </a:r>
                      <a:r>
                        <a:rPr lang="el-GR" dirty="0"/>
                        <a:t>ΔΤ</a:t>
                      </a:r>
                      <a:r>
                        <a:rPr lang="en-US" dirty="0"/>
                        <a:t>/</a:t>
                      </a:r>
                      <a:r>
                        <a:rPr lang="en-US" dirty="0" err="1"/>
                        <a:t>Tevap</a:t>
                      </a:r>
                      <a:r>
                        <a:rPr lang="en-US" dirty="0"/>
                        <a:t>/</a:t>
                      </a:r>
                      <a:r>
                        <a:rPr lang="en-US" dirty="0" err="1"/>
                        <a:t>Tcond</a:t>
                      </a:r>
                      <a:r>
                        <a:rPr lang="en-US" dirty="0"/>
                        <a:t>)</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l-GR" b="0" i="1" dirty="0" err="1">
                          <a:effectLst>
                            <a:outerShdw blurRad="38100" dist="38100" dir="2700000" algn="tl">
                              <a:srgbClr val="000000">
                                <a:alpha val="43137"/>
                              </a:srgbClr>
                            </a:outerShdw>
                          </a:effectLst>
                        </a:rPr>
                        <a:t>Heat</a:t>
                      </a:r>
                      <a:r>
                        <a:rPr lang="el-GR" b="0" i="1" dirty="0">
                          <a:effectLst>
                            <a:outerShdw blurRad="38100" dist="38100" dir="2700000" algn="tl">
                              <a:srgbClr val="000000">
                                <a:alpha val="43137"/>
                              </a:srgbClr>
                            </a:outerShdw>
                          </a:effectLst>
                        </a:rPr>
                        <a:t> </a:t>
                      </a:r>
                      <a:r>
                        <a:rPr lang="el-GR" b="0" i="1" dirty="0" err="1">
                          <a:effectLst>
                            <a:outerShdw blurRad="38100" dist="38100" dir="2700000" algn="tl">
                              <a:srgbClr val="000000">
                                <a:alpha val="43137"/>
                              </a:srgbClr>
                            </a:outerShdw>
                          </a:effectLst>
                        </a:rPr>
                        <a:t>Pump</a:t>
                      </a:r>
                      <a:r>
                        <a:rPr lang="el-GR" b="0" i="1" dirty="0">
                          <a:effectLst>
                            <a:outerShdw blurRad="38100" dist="38100" dir="2700000" algn="tl">
                              <a:srgbClr val="000000">
                                <a:alpha val="43137"/>
                              </a:srgbClr>
                            </a:outerShdw>
                          </a:effectLst>
                        </a:rPr>
                        <a:t> (</a:t>
                      </a:r>
                      <a:r>
                        <a:rPr lang="el-GR" b="0" i="1" dirty="0" err="1">
                          <a:effectLst>
                            <a:outerShdw blurRad="38100" dist="38100" dir="2700000" algn="tl">
                              <a:srgbClr val="000000">
                                <a:alpha val="43137"/>
                              </a:srgbClr>
                            </a:outerShdw>
                          </a:effectLst>
                        </a:rPr>
                        <a:t>kW</a:t>
                      </a:r>
                      <a:r>
                        <a:rPr lang="el-GR" b="0" i="1" dirty="0">
                          <a:effectLst>
                            <a:outerShdw blurRad="38100" dist="38100" dir="2700000" algn="tl">
                              <a:srgbClr val="000000">
                                <a:alpha val="43137"/>
                              </a:srgbClr>
                            </a:outerShdw>
                          </a:effectLst>
                        </a:rPr>
                        <a:t>)</a:t>
                      </a:r>
                    </a:p>
                  </a:txBody>
                  <a:tcPr anchor="ctr"/>
                </a:tc>
                <a:tc>
                  <a:txBody>
                    <a:bodyPr/>
                    <a:lstStyle/>
                    <a:p>
                      <a:pPr algn="ctr">
                        <a:buNone/>
                      </a:pPr>
                      <a:r>
                        <a:rPr lang="en-US" b="0" dirty="0"/>
                        <a:t>1019</a:t>
                      </a:r>
                      <a:endParaRPr lang="el-GR" b="0" dirty="0"/>
                    </a:p>
                  </a:txBody>
                  <a:tcPr anchor="ctr"/>
                </a:tc>
                <a:tc>
                  <a:txBody>
                    <a:bodyPr/>
                    <a:lstStyle/>
                    <a:p>
                      <a:pPr algn="ctr">
                        <a:buNone/>
                      </a:pPr>
                      <a:r>
                        <a:rPr lang="en-US" b="0" dirty="0"/>
                        <a:t>1139</a:t>
                      </a:r>
                      <a:endParaRPr lang="el-GR" b="0" dirty="0"/>
                    </a:p>
                  </a:txBody>
                  <a:tcPr anchor="ctr"/>
                </a:tc>
                <a:tc>
                  <a:txBody>
                    <a:bodyPr/>
                    <a:lstStyle/>
                    <a:p>
                      <a:pPr algn="ctr">
                        <a:buNone/>
                      </a:pPr>
                      <a:r>
                        <a:rPr lang="en-US" b="0" dirty="0"/>
                        <a:t>1227</a:t>
                      </a:r>
                      <a:endParaRPr lang="el-GR" b="0" dirty="0"/>
                    </a:p>
                  </a:txBody>
                  <a:tcPr anchor="ctr"/>
                </a:tc>
                <a:extLst>
                  <a:ext uri="{0D108BD9-81ED-4DB2-BD59-A6C34878D82A}">
                    <a16:rowId xmlns:a16="http://schemas.microsoft.com/office/drawing/2014/main" val="4191835569"/>
                  </a:ext>
                </a:extLst>
              </a:tr>
              <a:tr h="370840">
                <a:tc>
                  <a:txBody>
                    <a:bodyPr/>
                    <a:lstStyle/>
                    <a:p>
                      <a:pPr>
                        <a:buNone/>
                      </a:pPr>
                      <a:r>
                        <a:rPr lang="el-GR" b="0" i="1" dirty="0" err="1">
                          <a:effectLst>
                            <a:outerShdw blurRad="38100" dist="38100" dir="2700000" algn="tl">
                              <a:srgbClr val="000000">
                                <a:alpha val="43137"/>
                              </a:srgbClr>
                            </a:outerShdw>
                          </a:effectLst>
                        </a:rPr>
                        <a:t>Cooling</a:t>
                      </a:r>
                      <a:r>
                        <a:rPr lang="el-GR" b="0" i="1" dirty="0">
                          <a:effectLst>
                            <a:outerShdw blurRad="38100" dist="38100" dir="2700000" algn="tl">
                              <a:srgbClr val="000000">
                                <a:alpha val="43137"/>
                              </a:srgbClr>
                            </a:outerShdw>
                          </a:effectLst>
                        </a:rPr>
                        <a:t> </a:t>
                      </a:r>
                      <a:r>
                        <a:rPr lang="el-GR" b="0" i="1" dirty="0" err="1">
                          <a:effectLst>
                            <a:outerShdw blurRad="38100" dist="38100" dir="2700000" algn="tl">
                              <a:srgbClr val="000000">
                                <a:alpha val="43137"/>
                              </a:srgbClr>
                            </a:outerShdw>
                          </a:effectLst>
                        </a:rPr>
                        <a:t>Tower</a:t>
                      </a:r>
                      <a:r>
                        <a:rPr lang="el-GR" b="0" i="1" dirty="0">
                          <a:effectLst>
                            <a:outerShdw blurRad="38100" dist="38100" dir="2700000" algn="tl">
                              <a:srgbClr val="000000">
                                <a:alpha val="43137"/>
                              </a:srgbClr>
                            </a:outerShdw>
                          </a:effectLst>
                        </a:rPr>
                        <a:t> (</a:t>
                      </a:r>
                      <a:r>
                        <a:rPr lang="el-GR" b="0" i="1" dirty="0" err="1">
                          <a:effectLst>
                            <a:outerShdw blurRad="38100" dist="38100" dir="2700000" algn="tl">
                              <a:srgbClr val="000000">
                                <a:alpha val="43137"/>
                              </a:srgbClr>
                            </a:outerShdw>
                          </a:effectLst>
                        </a:rPr>
                        <a:t>kW</a:t>
                      </a:r>
                      <a:r>
                        <a:rPr lang="el-GR" b="0" i="1" dirty="0">
                          <a:effectLst>
                            <a:outerShdw blurRad="38100" dist="38100" dir="2700000" algn="tl">
                              <a:srgbClr val="000000">
                                <a:alpha val="43137"/>
                              </a:srgbClr>
                            </a:outerShdw>
                          </a:effectLst>
                        </a:rPr>
                        <a:t>)</a:t>
                      </a:r>
                    </a:p>
                  </a:txBody>
                  <a:tcPr anchor="ctr"/>
                </a:tc>
                <a:tc>
                  <a:txBody>
                    <a:bodyPr/>
                    <a:lstStyle/>
                    <a:p>
                      <a:pPr algn="ctr">
                        <a:buNone/>
                      </a:pPr>
                      <a:r>
                        <a:rPr lang="en-US" b="0" dirty="0"/>
                        <a:t>810</a:t>
                      </a:r>
                      <a:endParaRPr lang="el-GR" b="0" dirty="0"/>
                    </a:p>
                  </a:txBody>
                  <a:tcPr anchor="ctr"/>
                </a:tc>
                <a:tc>
                  <a:txBody>
                    <a:bodyPr/>
                    <a:lstStyle/>
                    <a:p>
                      <a:pPr algn="ctr">
                        <a:buNone/>
                      </a:pPr>
                      <a:r>
                        <a:rPr lang="en-US" b="0" dirty="0"/>
                        <a:t>723</a:t>
                      </a:r>
                      <a:endParaRPr lang="el-GR" b="0" dirty="0"/>
                    </a:p>
                  </a:txBody>
                  <a:tcPr anchor="ctr"/>
                </a:tc>
                <a:tc>
                  <a:txBody>
                    <a:bodyPr/>
                    <a:lstStyle/>
                    <a:p>
                      <a:pPr algn="ctr">
                        <a:buNone/>
                      </a:pPr>
                      <a:r>
                        <a:rPr lang="en-US" b="0" dirty="0"/>
                        <a:t>610</a:t>
                      </a:r>
                      <a:endParaRPr lang="el-GR" b="0" dirty="0"/>
                    </a:p>
                  </a:txBody>
                  <a:tcPr anchor="ctr"/>
                </a:tc>
                <a:extLst>
                  <a:ext uri="{0D108BD9-81ED-4DB2-BD59-A6C34878D82A}">
                    <a16:rowId xmlns:a16="http://schemas.microsoft.com/office/drawing/2014/main" val="954731737"/>
                  </a:ext>
                </a:extLst>
              </a:tr>
              <a:tr h="370840">
                <a:tc>
                  <a:txBody>
                    <a:bodyPr/>
                    <a:lstStyle/>
                    <a:p>
                      <a:pPr>
                        <a:buNone/>
                      </a:pPr>
                      <a:r>
                        <a:rPr lang="el-GR" b="0" i="1" dirty="0">
                          <a:effectLst>
                            <a:outerShdw blurRad="38100" dist="38100" dir="2700000" algn="tl">
                              <a:srgbClr val="000000">
                                <a:alpha val="43137"/>
                              </a:srgbClr>
                            </a:outerShdw>
                          </a:effectLst>
                        </a:rPr>
                        <a:t>BTES</a:t>
                      </a:r>
                    </a:p>
                  </a:txBody>
                  <a:tcPr anchor="ctr"/>
                </a:tc>
                <a:tc>
                  <a:txBody>
                    <a:bodyPr/>
                    <a:lstStyle/>
                    <a:p>
                      <a:pPr algn="ctr">
                        <a:buNone/>
                      </a:pPr>
                      <a:r>
                        <a:rPr lang="el-GR" b="0" dirty="0"/>
                        <a:t>4</a:t>
                      </a:r>
                    </a:p>
                  </a:txBody>
                  <a:tcPr anchor="ctr"/>
                </a:tc>
                <a:tc>
                  <a:txBody>
                    <a:bodyPr/>
                    <a:lstStyle/>
                    <a:p>
                      <a:pPr algn="ctr">
                        <a:buNone/>
                      </a:pPr>
                      <a:r>
                        <a:rPr lang="el-GR" b="0" dirty="0"/>
                        <a:t> 4</a:t>
                      </a:r>
                    </a:p>
                  </a:txBody>
                  <a:tcPr anchor="ctr"/>
                </a:tc>
                <a:tc>
                  <a:txBody>
                    <a:bodyPr/>
                    <a:lstStyle/>
                    <a:p>
                      <a:pPr algn="ctr">
                        <a:buNone/>
                      </a:pPr>
                      <a:r>
                        <a:rPr lang="el-GR" b="0" dirty="0"/>
                        <a:t> 4</a:t>
                      </a:r>
                    </a:p>
                  </a:txBody>
                  <a:tcPr anchor="ctr"/>
                </a:tc>
                <a:extLst>
                  <a:ext uri="{0D108BD9-81ED-4DB2-BD59-A6C34878D82A}">
                    <a16:rowId xmlns:a16="http://schemas.microsoft.com/office/drawing/2014/main" val="2725481236"/>
                  </a:ext>
                </a:extLst>
              </a:tr>
              <a:tr h="370840">
                <a:tc>
                  <a:txBody>
                    <a:bodyPr/>
                    <a:lstStyle/>
                    <a:p>
                      <a:pPr>
                        <a:buNone/>
                      </a:pPr>
                      <a:r>
                        <a:rPr lang="en-US" b="0" i="1" dirty="0">
                          <a:effectLst>
                            <a:outerShdw blurRad="38100" dist="38100" dir="2700000" algn="tl">
                              <a:srgbClr val="000000">
                                <a:alpha val="43137"/>
                              </a:srgbClr>
                            </a:outerShdw>
                          </a:effectLst>
                        </a:rPr>
                        <a:t>Volume (m</a:t>
                      </a:r>
                      <a:r>
                        <a:rPr lang="en-US" b="0" i="1" baseline="30000" dirty="0">
                          <a:effectLst>
                            <a:outerShdw blurRad="38100" dist="38100" dir="2700000" algn="tl">
                              <a:srgbClr val="000000">
                                <a:alpha val="43137"/>
                              </a:srgbClr>
                            </a:outerShdw>
                          </a:effectLst>
                        </a:rPr>
                        <a:t>3</a:t>
                      </a:r>
                      <a:r>
                        <a:rPr lang="en-US" b="0" i="1" dirty="0">
                          <a:effectLst>
                            <a:outerShdw blurRad="38100" dist="38100" dir="2700000" algn="tl">
                              <a:srgbClr val="000000">
                                <a:alpha val="43137"/>
                              </a:srgbClr>
                            </a:outerShdw>
                          </a:effectLst>
                        </a:rPr>
                        <a:t>)</a:t>
                      </a:r>
                      <a:endParaRPr lang="el-GR" b="0" i="1" dirty="0">
                        <a:effectLst>
                          <a:outerShdw blurRad="38100" dist="38100" dir="2700000" algn="tl">
                            <a:srgbClr val="000000">
                              <a:alpha val="43137"/>
                            </a:srgbClr>
                          </a:outerShdw>
                        </a:effectLs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extLst>
                  <a:ext uri="{0D108BD9-81ED-4DB2-BD59-A6C34878D82A}">
                    <a16:rowId xmlns:a16="http://schemas.microsoft.com/office/drawing/2014/main" val="3593753445"/>
                  </a:ext>
                </a:extLst>
              </a:tr>
              <a:tr h="370840">
                <a:tc>
                  <a:txBody>
                    <a:bodyPr/>
                    <a:lstStyle/>
                    <a:p>
                      <a:pPr>
                        <a:buNone/>
                      </a:pPr>
                      <a:r>
                        <a:rPr lang="el-GR" b="0" i="1" dirty="0" err="1">
                          <a:effectLst>
                            <a:outerShdw blurRad="38100" dist="38100" dir="2700000" algn="tl">
                              <a:srgbClr val="000000">
                                <a:alpha val="43137"/>
                              </a:srgbClr>
                            </a:outerShdw>
                          </a:effectLst>
                        </a:rPr>
                        <a:t>Annual</a:t>
                      </a:r>
                      <a:r>
                        <a:rPr lang="en-US" b="0" i="1" dirty="0" err="1">
                          <a:effectLst>
                            <a:outerShdw blurRad="38100" dist="38100" dir="2700000" algn="tl">
                              <a:srgbClr val="000000">
                                <a:alpha val="43137"/>
                              </a:srgbClr>
                            </a:outerShdw>
                          </a:effectLst>
                        </a:rPr>
                        <a:t>ized</a:t>
                      </a:r>
                      <a:r>
                        <a:rPr lang="el-GR" b="0" i="1" dirty="0">
                          <a:effectLst>
                            <a:outerShdw blurRad="38100" dist="38100" dir="2700000" algn="tl">
                              <a:srgbClr val="000000">
                                <a:alpha val="43137"/>
                              </a:srgbClr>
                            </a:outerShdw>
                          </a:effectLst>
                        </a:rPr>
                        <a:t> </a:t>
                      </a:r>
                      <a:r>
                        <a:rPr lang="el-GR" b="0" i="1" dirty="0" err="1">
                          <a:effectLst>
                            <a:outerShdw blurRad="38100" dist="38100" dir="2700000" algn="tl">
                              <a:srgbClr val="000000">
                                <a:alpha val="43137"/>
                              </a:srgbClr>
                            </a:outerShdw>
                          </a:effectLst>
                        </a:rPr>
                        <a:t>Cost</a:t>
                      </a:r>
                      <a:r>
                        <a:rPr lang="el-GR" b="0" i="1" dirty="0">
                          <a:effectLst>
                            <a:outerShdw blurRad="38100" dist="38100" dir="2700000" algn="tl">
                              <a:srgbClr val="000000">
                                <a:alpha val="43137"/>
                              </a:srgbClr>
                            </a:outerShdw>
                          </a:effectLst>
                        </a:rPr>
                        <a:t> (</a:t>
                      </a:r>
                      <a:r>
                        <a:rPr lang="en-US" b="0" i="1" dirty="0" err="1">
                          <a:effectLst>
                            <a:outerShdw blurRad="38100" dist="38100" dir="2700000" algn="tl">
                              <a:srgbClr val="000000">
                                <a:alpha val="43137"/>
                              </a:srgbClr>
                            </a:outerShdw>
                          </a:effectLst>
                        </a:rPr>
                        <a:t>kCHF</a:t>
                      </a:r>
                      <a:r>
                        <a:rPr lang="en-US" b="0" i="1" dirty="0">
                          <a:effectLst>
                            <a:outerShdw blurRad="38100" dist="38100" dir="2700000" algn="tl">
                              <a:srgbClr val="000000">
                                <a:alpha val="43137"/>
                              </a:srgbClr>
                            </a:outerShdw>
                          </a:effectLst>
                        </a:rPr>
                        <a:t>/a</a:t>
                      </a:r>
                      <a:r>
                        <a:rPr lang="el-GR" b="0" i="1" dirty="0">
                          <a:effectLst>
                            <a:outerShdw blurRad="38100" dist="38100" dir="2700000" algn="tl">
                              <a:srgbClr val="000000">
                                <a:alpha val="43137"/>
                              </a:srgbClr>
                            </a:outerShdw>
                          </a:effectLst>
                        </a:rPr>
                        <a:t>)</a:t>
                      </a:r>
                    </a:p>
                  </a:txBody>
                  <a:tcPr anchor="ctr"/>
                </a:tc>
                <a:tc>
                  <a:txBody>
                    <a:bodyPr/>
                    <a:lstStyle/>
                    <a:p>
                      <a:pPr algn="ctr">
                        <a:buNone/>
                      </a:pPr>
                      <a:r>
                        <a:rPr lang="en-US" b="0" dirty="0"/>
                        <a:t>987</a:t>
                      </a:r>
                      <a:endParaRPr lang="el-GR" b="0" dirty="0"/>
                    </a:p>
                  </a:txBody>
                  <a:tcPr anchor="ctr"/>
                </a:tc>
                <a:tc>
                  <a:txBody>
                    <a:bodyPr/>
                    <a:lstStyle/>
                    <a:p>
                      <a:pPr algn="ctr">
                        <a:buNone/>
                      </a:pPr>
                      <a:r>
                        <a:rPr lang="en-US" b="0" dirty="0"/>
                        <a:t>995</a:t>
                      </a:r>
                      <a:endParaRPr lang="el-GR" b="0" dirty="0"/>
                    </a:p>
                  </a:txBody>
                  <a:tcPr anchor="ctr"/>
                </a:tc>
                <a:tc>
                  <a:txBody>
                    <a:bodyPr/>
                    <a:lstStyle/>
                    <a:p>
                      <a:pPr algn="ctr">
                        <a:buNone/>
                      </a:pPr>
                      <a:r>
                        <a:rPr lang="en-US" b="0" dirty="0"/>
                        <a:t>968</a:t>
                      </a:r>
                      <a:endParaRPr lang="el-GR" b="0" dirty="0"/>
                    </a:p>
                  </a:txBody>
                  <a:tcPr anchor="ctr"/>
                </a:tc>
                <a:extLst>
                  <a:ext uri="{0D108BD9-81ED-4DB2-BD59-A6C34878D82A}">
                    <a16:rowId xmlns:a16="http://schemas.microsoft.com/office/drawing/2014/main" val="2740487473"/>
                  </a:ext>
                </a:extLst>
              </a:tr>
              <a:tr h="370840">
                <a:tc>
                  <a:txBody>
                    <a:bodyPr/>
                    <a:lstStyle/>
                    <a:p>
                      <a:pPr>
                        <a:buNone/>
                      </a:pPr>
                      <a:r>
                        <a:rPr lang="en-US" b="0" i="1" dirty="0">
                          <a:effectLst>
                            <a:outerShdw blurRad="38100" dist="38100" dir="2700000" algn="tl">
                              <a:srgbClr val="000000">
                                <a:alpha val="43137"/>
                              </a:srgbClr>
                            </a:outerShdw>
                          </a:effectLst>
                        </a:rPr>
                        <a:t>Run time (s)</a:t>
                      </a:r>
                      <a:endParaRPr lang="el-GR" b="0" i="1" dirty="0">
                        <a:effectLst>
                          <a:outerShdw blurRad="38100" dist="38100" dir="2700000" algn="tl">
                            <a:srgbClr val="000000">
                              <a:alpha val="43137"/>
                            </a:srgbClr>
                          </a:outerShdw>
                        </a:effectLst>
                      </a:endParaRPr>
                    </a:p>
                  </a:txBody>
                  <a:tcPr anchor="ctr"/>
                </a:tc>
                <a:tc>
                  <a:txBody>
                    <a:bodyPr/>
                    <a:lstStyle/>
                    <a:p>
                      <a:pPr algn="ctr">
                        <a:buNone/>
                      </a:pPr>
                      <a:r>
                        <a:rPr lang="en-US" b="0" dirty="0"/>
                        <a:t>42.99</a:t>
                      </a:r>
                      <a:endParaRPr lang="el-GR" b="0" dirty="0"/>
                    </a:p>
                  </a:txBody>
                  <a:tcPr anchor="ctr"/>
                </a:tc>
                <a:tc>
                  <a:txBody>
                    <a:bodyPr/>
                    <a:lstStyle/>
                    <a:p>
                      <a:pPr algn="ctr">
                        <a:buNone/>
                      </a:pPr>
                      <a:r>
                        <a:rPr lang="en-US" b="0" dirty="0"/>
                        <a:t>42.63</a:t>
                      </a:r>
                      <a:endParaRPr lang="el-GR" b="0" dirty="0"/>
                    </a:p>
                  </a:txBody>
                  <a:tcPr anchor="ctr"/>
                </a:tc>
                <a:tc>
                  <a:txBody>
                    <a:bodyPr/>
                    <a:lstStyle/>
                    <a:p>
                      <a:pPr algn="ctr">
                        <a:buNone/>
                      </a:pPr>
                      <a:r>
                        <a:rPr lang="en-US" b="0" dirty="0"/>
                        <a:t>37.11</a:t>
                      </a:r>
                      <a:endParaRPr lang="el-GR" b="0" dirty="0"/>
                    </a:p>
                  </a:txBody>
                  <a:tcPr anchor="ctr"/>
                </a:tc>
                <a:extLst>
                  <a:ext uri="{0D108BD9-81ED-4DB2-BD59-A6C34878D82A}">
                    <a16:rowId xmlns:a16="http://schemas.microsoft.com/office/drawing/2014/main" val="1804007413"/>
                  </a:ext>
                </a:extLst>
              </a:tr>
            </a:tbl>
          </a:graphicData>
        </a:graphic>
      </p:graphicFrame>
      <p:sp>
        <p:nvSpPr>
          <p:cNvPr id="8" name="Rectangle 7">
            <a:extLst>
              <a:ext uri="{FF2B5EF4-FFF2-40B4-BE49-F238E27FC236}">
                <a16:creationId xmlns:a16="http://schemas.microsoft.com/office/drawing/2014/main" id="{D43C7457-B78E-DDE1-67B5-F656EF930DC1}"/>
              </a:ext>
            </a:extLst>
          </p:cNvPr>
          <p:cNvSpPr/>
          <p:nvPr/>
        </p:nvSpPr>
        <p:spPr>
          <a:xfrm>
            <a:off x="1871700" y="4963081"/>
            <a:ext cx="5400600" cy="1143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dirty="0" err="1"/>
              <a:t>Increasing</a:t>
            </a:r>
            <a:r>
              <a:rPr lang="el-GR" dirty="0"/>
              <a:t> </a:t>
            </a:r>
            <a:r>
              <a:rPr lang="el-GR" dirty="0" err="1"/>
              <a:t>operational</a:t>
            </a:r>
            <a:r>
              <a:rPr lang="el-GR" dirty="0"/>
              <a:t> </a:t>
            </a:r>
            <a:r>
              <a:rPr lang="el-GR" dirty="0" err="1"/>
              <a:t>flexibility</a:t>
            </a:r>
            <a:r>
              <a:rPr lang="el-GR" dirty="0"/>
              <a:t> </a:t>
            </a:r>
            <a:r>
              <a:rPr lang="el-GR" dirty="0" err="1"/>
              <a:t>changes</a:t>
            </a:r>
            <a:r>
              <a:rPr lang="el-GR" dirty="0"/>
              <a:t> </a:t>
            </a:r>
            <a:r>
              <a:rPr lang="el-GR" dirty="0" err="1"/>
              <a:t>technology</a:t>
            </a:r>
            <a:r>
              <a:rPr lang="el-GR" dirty="0"/>
              <a:t> </a:t>
            </a:r>
            <a:r>
              <a:rPr lang="el-GR" dirty="0" err="1"/>
              <a:t>sizing</a:t>
            </a:r>
            <a:r>
              <a:rPr lang="el-GR" dirty="0"/>
              <a:t> and </a:t>
            </a:r>
            <a:r>
              <a:rPr lang="el-GR" dirty="0" err="1"/>
              <a:t>reduces</a:t>
            </a:r>
            <a:r>
              <a:rPr lang="el-GR" dirty="0"/>
              <a:t> the </a:t>
            </a:r>
            <a:r>
              <a:rPr lang="el-GR" dirty="0" err="1"/>
              <a:t>annual</a:t>
            </a:r>
            <a:r>
              <a:rPr lang="en-US" dirty="0" err="1"/>
              <a:t>ized</a:t>
            </a:r>
            <a:r>
              <a:rPr lang="el-GR" dirty="0"/>
              <a:t> </a:t>
            </a:r>
            <a:r>
              <a:rPr lang="el-GR" dirty="0" err="1"/>
              <a:t>system</a:t>
            </a:r>
            <a:r>
              <a:rPr lang="el-GR" dirty="0"/>
              <a:t> </a:t>
            </a:r>
            <a:r>
              <a:rPr lang="el-GR" dirty="0" err="1"/>
              <a:t>cost</a:t>
            </a:r>
            <a:r>
              <a:rPr lang="el-GR" dirty="0"/>
              <a:t> </a:t>
            </a:r>
            <a:r>
              <a:rPr lang="el-GR" dirty="0" err="1"/>
              <a:t>by</a:t>
            </a:r>
            <a:r>
              <a:rPr lang="el-GR" dirty="0"/>
              <a:t> </a:t>
            </a:r>
            <a:r>
              <a:rPr lang="el-GR" dirty="0" err="1"/>
              <a:t>approximately</a:t>
            </a:r>
            <a:r>
              <a:rPr lang="el-GR" dirty="0"/>
              <a:t> </a:t>
            </a:r>
            <a:r>
              <a:rPr lang="el-GR" b="1" dirty="0"/>
              <a:t>2.7%</a:t>
            </a:r>
            <a:r>
              <a:rPr lang="el-GR" dirty="0"/>
              <a:t>, </a:t>
            </a:r>
            <a:r>
              <a:rPr lang="el-GR" dirty="0" err="1"/>
              <a:t>while</a:t>
            </a:r>
            <a:r>
              <a:rPr lang="el-GR" dirty="0"/>
              <a:t> </a:t>
            </a:r>
            <a:r>
              <a:rPr lang="el-GR" dirty="0" err="1"/>
              <a:t>all</a:t>
            </a:r>
            <a:r>
              <a:rPr lang="el-GR" dirty="0"/>
              <a:t> </a:t>
            </a:r>
            <a:r>
              <a:rPr lang="el-GR" dirty="0" err="1"/>
              <a:t>strategies</a:t>
            </a:r>
            <a:r>
              <a:rPr lang="el-GR" dirty="0"/>
              <a:t> </a:t>
            </a:r>
            <a:r>
              <a:rPr lang="el-GR" dirty="0" err="1"/>
              <a:t>select</a:t>
            </a:r>
            <a:r>
              <a:rPr lang="el-GR" dirty="0"/>
              <a:t> the </a:t>
            </a:r>
            <a:r>
              <a:rPr lang="el-GR" dirty="0" err="1"/>
              <a:t>same</a:t>
            </a:r>
            <a:r>
              <a:rPr lang="el-GR" dirty="0"/>
              <a:t> BTES </a:t>
            </a:r>
            <a:r>
              <a:rPr lang="el-GR" dirty="0" err="1"/>
              <a:t>configuration</a:t>
            </a:r>
            <a:endParaRPr lang="el-GR" dirty="0"/>
          </a:p>
        </p:txBody>
      </p:sp>
      <p:sp>
        <p:nvSpPr>
          <p:cNvPr id="3" name="Slide Number Placeholder 2">
            <a:extLst>
              <a:ext uri="{FF2B5EF4-FFF2-40B4-BE49-F238E27FC236}">
                <a16:creationId xmlns:a16="http://schemas.microsoft.com/office/drawing/2014/main" id="{AC9853FB-4D66-CD62-0B82-7963E2446B7B}"/>
              </a:ext>
            </a:extLst>
          </p:cNvPr>
          <p:cNvSpPr>
            <a:spLocks noGrp="1"/>
          </p:cNvSpPr>
          <p:nvPr>
            <p:ph type="sldNum" sz="quarter" idx="4"/>
          </p:nvPr>
        </p:nvSpPr>
        <p:spPr/>
        <p:txBody>
          <a:bodyPr/>
          <a:lstStyle/>
          <a:p>
            <a:fld id="{CC7E3F2E-5E17-4E15-9E32-D4A7BBAEA187}" type="slidenum">
              <a:rPr lang="el-GR" smtClean="0"/>
              <a:t>12</a:t>
            </a:fld>
            <a:endParaRPr lang="el-GR"/>
          </a:p>
        </p:txBody>
      </p:sp>
    </p:spTree>
    <p:extLst>
      <p:ext uri="{BB962C8B-B14F-4D97-AF65-F5344CB8AC3E}">
        <p14:creationId xmlns:p14="http://schemas.microsoft.com/office/powerpoint/2010/main" val="2853744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A4D38-91D7-D488-405A-7543B5721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58A48-BDC2-02D7-A407-155FB85A374E}"/>
              </a:ext>
            </a:extLst>
          </p:cNvPr>
          <p:cNvSpPr>
            <a:spLocks noGrp="1"/>
          </p:cNvSpPr>
          <p:nvPr>
            <p:ph type="title"/>
          </p:nvPr>
        </p:nvSpPr>
        <p:spPr>
          <a:xfrm>
            <a:off x="457200" y="197768"/>
            <a:ext cx="7139136" cy="1143000"/>
          </a:xfrm>
        </p:spPr>
        <p:txBody>
          <a:bodyPr anchor="t">
            <a:normAutofit/>
          </a:bodyPr>
          <a:lstStyle/>
          <a:p>
            <a:r>
              <a:rPr lang="en-US" i="1" dirty="0">
                <a:effectLst>
                  <a:outerShdw blurRad="38100" dist="38100" dir="2700000" algn="tl">
                    <a:srgbClr val="000000">
                      <a:alpha val="43137"/>
                    </a:srgbClr>
                  </a:outerShdw>
                </a:effectLst>
              </a:rPr>
              <a:t>Results - MILP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simplifications/sizes</a:t>
            </a:r>
            <a:endParaRPr lang="el-GR" i="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556E9916-F723-A8F9-D660-4E8A90B7A4FB}"/>
              </a:ext>
            </a:extLst>
          </p:cNvPr>
          <p:cNvSpPr>
            <a:spLocks noGrp="1"/>
          </p:cNvSpPr>
          <p:nvPr>
            <p:ph type="sldNum" sz="quarter" idx="4"/>
          </p:nvPr>
        </p:nvSpPr>
        <p:spPr/>
        <p:txBody>
          <a:bodyPr/>
          <a:lstStyle/>
          <a:p>
            <a:fld id="{CC7E3F2E-5E17-4E15-9E32-D4A7BBAEA187}" type="slidenum">
              <a:rPr lang="el-GR" smtClean="0"/>
              <a:t>13</a:t>
            </a:fld>
            <a:endParaRPr lang="el-GR"/>
          </a:p>
        </p:txBody>
      </p:sp>
      <p:graphicFrame>
        <p:nvGraphicFramePr>
          <p:cNvPr id="7" name="Table 6">
            <a:extLst>
              <a:ext uri="{FF2B5EF4-FFF2-40B4-BE49-F238E27FC236}">
                <a16:creationId xmlns:a16="http://schemas.microsoft.com/office/drawing/2014/main" id="{AEAC9FC2-8929-C165-4F67-9F101036DBD4}"/>
              </a:ext>
            </a:extLst>
          </p:cNvPr>
          <p:cNvGraphicFramePr>
            <a:graphicFrameLocks noGrp="1"/>
          </p:cNvGraphicFramePr>
          <p:nvPr>
            <p:extLst>
              <p:ext uri="{D42A27DB-BD31-4B8C-83A1-F6EECF244321}">
                <p14:modId xmlns:p14="http://schemas.microsoft.com/office/powerpoint/2010/main" val="492220000"/>
              </p:ext>
            </p:extLst>
          </p:nvPr>
        </p:nvGraphicFramePr>
        <p:xfrm>
          <a:off x="702568" y="1909548"/>
          <a:ext cx="7738864" cy="3535680"/>
        </p:xfrm>
        <a:graphic>
          <a:graphicData uri="http://schemas.openxmlformats.org/drawingml/2006/table">
            <a:tbl>
              <a:tblPr firstRow="1" bandRow="1">
                <a:tableStyleId>{00A15C55-8517-42AA-B614-E9B94910E393}</a:tableStyleId>
              </a:tblPr>
              <a:tblGrid>
                <a:gridCol w="1105552">
                  <a:extLst>
                    <a:ext uri="{9D8B030D-6E8A-4147-A177-3AD203B41FA5}">
                      <a16:colId xmlns:a16="http://schemas.microsoft.com/office/drawing/2014/main" val="2736275618"/>
                    </a:ext>
                  </a:extLst>
                </a:gridCol>
                <a:gridCol w="1105552">
                  <a:extLst>
                    <a:ext uri="{9D8B030D-6E8A-4147-A177-3AD203B41FA5}">
                      <a16:colId xmlns:a16="http://schemas.microsoft.com/office/drawing/2014/main" val="308118329"/>
                    </a:ext>
                  </a:extLst>
                </a:gridCol>
                <a:gridCol w="1105552">
                  <a:extLst>
                    <a:ext uri="{9D8B030D-6E8A-4147-A177-3AD203B41FA5}">
                      <a16:colId xmlns:a16="http://schemas.microsoft.com/office/drawing/2014/main" val="2608558905"/>
                    </a:ext>
                  </a:extLst>
                </a:gridCol>
                <a:gridCol w="1105552">
                  <a:extLst>
                    <a:ext uri="{9D8B030D-6E8A-4147-A177-3AD203B41FA5}">
                      <a16:colId xmlns:a16="http://schemas.microsoft.com/office/drawing/2014/main" val="1790576331"/>
                    </a:ext>
                  </a:extLst>
                </a:gridCol>
                <a:gridCol w="1105552">
                  <a:extLst>
                    <a:ext uri="{9D8B030D-6E8A-4147-A177-3AD203B41FA5}">
                      <a16:colId xmlns:a16="http://schemas.microsoft.com/office/drawing/2014/main" val="4142046979"/>
                    </a:ext>
                  </a:extLst>
                </a:gridCol>
                <a:gridCol w="1105552">
                  <a:extLst>
                    <a:ext uri="{9D8B030D-6E8A-4147-A177-3AD203B41FA5}">
                      <a16:colId xmlns:a16="http://schemas.microsoft.com/office/drawing/2014/main" val="3632175788"/>
                    </a:ext>
                  </a:extLst>
                </a:gridCol>
                <a:gridCol w="1105552">
                  <a:extLst>
                    <a:ext uri="{9D8B030D-6E8A-4147-A177-3AD203B41FA5}">
                      <a16:colId xmlns:a16="http://schemas.microsoft.com/office/drawing/2014/main" val="2660867303"/>
                    </a:ext>
                  </a:extLst>
                </a:gridCol>
              </a:tblGrid>
              <a:tr h="370840">
                <a:tc>
                  <a:txBody>
                    <a:bodyPr/>
                    <a:lstStyle/>
                    <a:p>
                      <a:pPr algn="ctr"/>
                      <a:r>
                        <a:rPr lang="en-US" sz="1600" dirty="0"/>
                        <a:t>Quantity</a:t>
                      </a:r>
                      <a:endParaRPr lang="el-GR" sz="1600" dirty="0"/>
                    </a:p>
                  </a:txBody>
                  <a:tcPr/>
                </a:tc>
                <a:tc>
                  <a:txBody>
                    <a:bodyPr/>
                    <a:lstStyle/>
                    <a:p>
                      <a:pPr algn="ctr"/>
                      <a:r>
                        <a:rPr lang="en-US" sz="1600" dirty="0"/>
                        <a:t>MINLP </a:t>
                      </a:r>
                      <a:endParaRPr lang="el-GR" sz="1600" dirty="0"/>
                    </a:p>
                  </a:txBody>
                  <a:tcPr/>
                </a:tc>
                <a:tc>
                  <a:txBody>
                    <a:bodyPr/>
                    <a:lstStyle/>
                    <a:p>
                      <a:pPr algn="ctr"/>
                      <a:r>
                        <a:rPr lang="en-US" sz="1600" dirty="0"/>
                        <a:t>3 seg.</a:t>
                      </a:r>
                      <a:endParaRPr lang="el-GR" sz="1600" dirty="0"/>
                    </a:p>
                  </a:txBody>
                  <a:tcPr/>
                </a:tc>
                <a:tc>
                  <a:txBody>
                    <a:bodyPr/>
                    <a:lstStyle/>
                    <a:p>
                      <a:pPr algn="ctr"/>
                      <a:r>
                        <a:rPr lang="en-US" sz="1600" dirty="0"/>
                        <a:t>1 seg.</a:t>
                      </a:r>
                      <a:endParaRPr lang="el-GR" sz="1600" dirty="0"/>
                    </a:p>
                  </a:txBody>
                  <a:tcPr/>
                </a:tc>
                <a:tc>
                  <a:txBody>
                    <a:bodyPr/>
                    <a:lstStyle/>
                    <a:p>
                      <a:pPr algn="ctr"/>
                      <a:r>
                        <a:rPr lang="en-US" sz="1600" dirty="0"/>
                        <a:t>Fixed period </a:t>
                      </a:r>
                      <a:endParaRPr lang="el-GR" sz="1600" dirty="0"/>
                    </a:p>
                  </a:txBody>
                  <a:tcPr/>
                </a:tc>
                <a:tc>
                  <a:txBody>
                    <a:bodyPr/>
                    <a:lstStyle/>
                    <a:p>
                      <a:pPr algn="ctr"/>
                      <a:r>
                        <a:rPr lang="en-US" sz="1600" dirty="0"/>
                        <a:t>Fixed period/sizes</a:t>
                      </a:r>
                      <a:endParaRPr lang="el-GR" sz="1600" dirty="0"/>
                    </a:p>
                  </a:txBody>
                  <a:tcPr/>
                </a:tc>
                <a:tc>
                  <a:txBody>
                    <a:bodyPr/>
                    <a:lstStyle/>
                    <a:p>
                      <a:pPr algn="ctr"/>
                      <a:r>
                        <a:rPr lang="en-US" sz="1600" dirty="0"/>
                        <a:t>Fixed temp.</a:t>
                      </a:r>
                      <a:endParaRPr lang="el-GR" sz="1600" dirty="0"/>
                    </a:p>
                  </a:txBody>
                  <a:tcPr/>
                </a:tc>
                <a:extLst>
                  <a:ext uri="{0D108BD9-81ED-4DB2-BD59-A6C34878D82A}">
                    <a16:rowId xmlns:a16="http://schemas.microsoft.com/office/drawing/2014/main" val="496087905"/>
                  </a:ext>
                </a:extLst>
              </a:tr>
              <a:tr h="370840">
                <a:tc>
                  <a:txBody>
                    <a:bodyPr/>
                    <a:lstStyle/>
                    <a:p>
                      <a:r>
                        <a:rPr lang="en-US" sz="1600" b="0" dirty="0">
                          <a:effectLst>
                            <a:outerShdw blurRad="38100" dist="38100" dir="2700000" algn="tl">
                              <a:srgbClr val="000000">
                                <a:alpha val="43137"/>
                              </a:srgbClr>
                            </a:outerShdw>
                          </a:effectLst>
                        </a:rPr>
                        <a:t>Speedup relative to MINLP</a:t>
                      </a:r>
                      <a:endParaRPr lang="el-GR" sz="1600" b="0" i="1" dirty="0">
                        <a:effectLst>
                          <a:outerShdw blurRad="38100" dist="38100" dir="2700000" algn="tl">
                            <a:srgbClr val="000000">
                              <a:alpha val="43137"/>
                            </a:srgbClr>
                          </a:outerShdw>
                        </a:effectLst>
                      </a:endParaRPr>
                    </a:p>
                  </a:txBody>
                  <a:tcPr/>
                </a:tc>
                <a:tc>
                  <a:txBody>
                    <a:bodyPr/>
                    <a:lstStyle/>
                    <a:p>
                      <a:pPr algn="ctr"/>
                      <a:r>
                        <a:rPr lang="en-US" sz="1600" dirty="0"/>
                        <a:t>1.00</a:t>
                      </a:r>
                      <a:endParaRPr lang="el-GR" sz="1600" dirty="0"/>
                    </a:p>
                  </a:txBody>
                  <a:tcPr/>
                </a:tc>
                <a:tc>
                  <a:txBody>
                    <a:bodyPr/>
                    <a:lstStyle/>
                    <a:p>
                      <a:pPr algn="ctr"/>
                      <a:r>
                        <a:rPr lang="en-US" sz="1600" dirty="0"/>
                        <a:t>0.41</a:t>
                      </a:r>
                      <a:endParaRPr lang="el-GR" sz="1600" dirty="0"/>
                    </a:p>
                  </a:txBody>
                  <a:tcPr/>
                </a:tc>
                <a:tc>
                  <a:txBody>
                    <a:bodyPr/>
                    <a:lstStyle/>
                    <a:p>
                      <a:pPr algn="ctr"/>
                      <a:r>
                        <a:rPr lang="en-US" sz="1600" dirty="0"/>
                        <a:t>0.70</a:t>
                      </a:r>
                      <a:endParaRPr lang="el-GR" sz="1600" dirty="0"/>
                    </a:p>
                  </a:txBody>
                  <a:tcPr/>
                </a:tc>
                <a:tc>
                  <a:txBody>
                    <a:bodyPr/>
                    <a:lstStyle/>
                    <a:p>
                      <a:pPr algn="ctr"/>
                      <a:r>
                        <a:rPr lang="en-US" sz="1600" dirty="0"/>
                        <a:t>1.32</a:t>
                      </a:r>
                      <a:endParaRPr lang="el-GR" sz="1600" dirty="0"/>
                    </a:p>
                  </a:txBody>
                  <a:tcPr/>
                </a:tc>
                <a:tc>
                  <a:txBody>
                    <a:bodyPr/>
                    <a:lstStyle/>
                    <a:p>
                      <a:pPr algn="ctr"/>
                      <a:r>
                        <a:rPr lang="en-US" sz="1600" dirty="0"/>
                        <a:t>1.11</a:t>
                      </a:r>
                      <a:endParaRPr lang="el-GR" sz="1600" dirty="0"/>
                    </a:p>
                  </a:txBody>
                  <a:tcPr/>
                </a:tc>
                <a:tc>
                  <a:txBody>
                    <a:bodyPr/>
                    <a:lstStyle/>
                    <a:p>
                      <a:pPr algn="ctr"/>
                      <a:r>
                        <a:rPr lang="en-US" sz="1600" dirty="0"/>
                        <a:t>10.67</a:t>
                      </a:r>
                      <a:endParaRPr lang="el-GR" sz="1600" dirty="0"/>
                    </a:p>
                  </a:txBody>
                  <a:tcPr/>
                </a:tc>
                <a:extLst>
                  <a:ext uri="{0D108BD9-81ED-4DB2-BD59-A6C34878D82A}">
                    <a16:rowId xmlns:a16="http://schemas.microsoft.com/office/drawing/2014/main" val="1499871963"/>
                  </a:ext>
                </a:extLst>
              </a:tr>
              <a:tr h="370840">
                <a:tc>
                  <a:txBody>
                    <a:bodyPr/>
                    <a:lstStyle/>
                    <a:p>
                      <a:r>
                        <a:rPr lang="en-US" sz="1600" b="0" dirty="0">
                          <a:effectLst>
                            <a:outerShdw blurRad="38100" dist="38100" dir="2700000" algn="tl">
                              <a:srgbClr val="000000">
                                <a:alpha val="43137"/>
                              </a:srgbClr>
                            </a:outerShdw>
                          </a:effectLst>
                        </a:rPr>
                        <a:t>Cost difference from MINLP</a:t>
                      </a:r>
                      <a:endParaRPr lang="el-GR" sz="1600" b="0" i="1" dirty="0">
                        <a:effectLst>
                          <a:outerShdw blurRad="38100" dist="38100" dir="2700000" algn="tl">
                            <a:srgbClr val="000000">
                              <a:alpha val="43137"/>
                            </a:srgbClr>
                          </a:outerShdw>
                        </a:effectLst>
                      </a:endParaRPr>
                    </a:p>
                  </a:txBody>
                  <a:tcPr/>
                </a:tc>
                <a:tc>
                  <a:txBody>
                    <a:bodyPr/>
                    <a:lstStyle/>
                    <a:p>
                      <a:pPr algn="ctr"/>
                      <a:r>
                        <a:rPr lang="en-US" sz="1600" dirty="0"/>
                        <a:t>0.00</a:t>
                      </a:r>
                      <a:endParaRPr lang="el-GR" sz="1600" dirty="0"/>
                    </a:p>
                  </a:txBody>
                  <a:tcPr/>
                </a:tc>
                <a:tc>
                  <a:txBody>
                    <a:bodyPr/>
                    <a:lstStyle/>
                    <a:p>
                      <a:pPr algn="ctr"/>
                      <a:r>
                        <a:rPr lang="en-US" sz="1600" dirty="0"/>
                        <a:t>6.11</a:t>
                      </a:r>
                      <a:endParaRPr lang="el-GR" sz="1600" dirty="0"/>
                    </a:p>
                  </a:txBody>
                  <a:tcPr/>
                </a:tc>
                <a:tc>
                  <a:txBody>
                    <a:bodyPr/>
                    <a:lstStyle/>
                    <a:p>
                      <a:pPr algn="ctr"/>
                      <a:r>
                        <a:rPr lang="en-US" sz="1600" dirty="0"/>
                        <a:t>-1.15</a:t>
                      </a:r>
                      <a:endParaRPr lang="el-GR" sz="1600" dirty="0"/>
                    </a:p>
                  </a:txBody>
                  <a:tcPr/>
                </a:tc>
                <a:tc>
                  <a:txBody>
                    <a:bodyPr/>
                    <a:lstStyle/>
                    <a:p>
                      <a:pPr algn="ctr"/>
                      <a:r>
                        <a:rPr lang="en-US" sz="1600" dirty="0"/>
                        <a:t>-0.88</a:t>
                      </a:r>
                      <a:endParaRPr lang="el-GR" sz="1600" dirty="0"/>
                    </a:p>
                  </a:txBody>
                  <a:tcPr/>
                </a:tc>
                <a:tc>
                  <a:txBody>
                    <a:bodyPr/>
                    <a:lstStyle/>
                    <a:p>
                      <a:pPr algn="ctr"/>
                      <a:r>
                        <a:rPr lang="en-US" sz="1600" dirty="0"/>
                        <a:t>-0.88</a:t>
                      </a:r>
                      <a:endParaRPr lang="el-GR" sz="1600" dirty="0"/>
                    </a:p>
                  </a:txBody>
                  <a:tcPr/>
                </a:tc>
                <a:tc>
                  <a:txBody>
                    <a:bodyPr/>
                    <a:lstStyle/>
                    <a:p>
                      <a:pPr algn="ctr"/>
                      <a:r>
                        <a:rPr lang="en-US" sz="1600" dirty="0"/>
                        <a:t>6.23</a:t>
                      </a:r>
                      <a:endParaRPr lang="el-GR" sz="1600" dirty="0"/>
                    </a:p>
                  </a:txBody>
                  <a:tcPr/>
                </a:tc>
                <a:extLst>
                  <a:ext uri="{0D108BD9-81ED-4DB2-BD59-A6C34878D82A}">
                    <a16:rowId xmlns:a16="http://schemas.microsoft.com/office/drawing/2014/main" val="2650301536"/>
                  </a:ext>
                </a:extLst>
              </a:tr>
              <a:tr h="370840">
                <a:tc>
                  <a:txBody>
                    <a:bodyPr/>
                    <a:lstStyle/>
                    <a:p>
                      <a:r>
                        <a:rPr lang="en-US" sz="1600" b="0" dirty="0">
                          <a:effectLst>
                            <a:outerShdw blurRad="38100" dist="38100" dir="2700000" algn="tl">
                              <a:srgbClr val="000000">
                                <a:alpha val="43137"/>
                              </a:srgbClr>
                            </a:outerShdw>
                          </a:effectLst>
                        </a:rPr>
                        <a:t>Temperature RMSE [K]</a:t>
                      </a:r>
                      <a:endParaRPr lang="el-GR" sz="1600" b="0" i="1" dirty="0">
                        <a:effectLst>
                          <a:outerShdw blurRad="38100" dist="38100" dir="2700000" algn="tl">
                            <a:srgbClr val="000000">
                              <a:alpha val="43137"/>
                            </a:srgbClr>
                          </a:outerShdw>
                        </a:effectLst>
                      </a:endParaRPr>
                    </a:p>
                  </a:txBody>
                  <a:tcPr/>
                </a:tc>
                <a:tc>
                  <a:txBody>
                    <a:bodyPr/>
                    <a:lstStyle/>
                    <a:p>
                      <a:pPr algn="ctr"/>
                      <a:r>
                        <a:rPr lang="en-US" sz="1600" dirty="0"/>
                        <a:t>0.000</a:t>
                      </a:r>
                      <a:endParaRPr lang="el-GR" sz="1600" dirty="0"/>
                    </a:p>
                  </a:txBody>
                  <a:tcPr/>
                </a:tc>
                <a:tc>
                  <a:txBody>
                    <a:bodyPr/>
                    <a:lstStyle/>
                    <a:p>
                      <a:pPr algn="ctr"/>
                      <a:r>
                        <a:rPr lang="en-US" sz="1600" dirty="0"/>
                        <a:t>7.064</a:t>
                      </a:r>
                      <a:endParaRPr lang="el-GR" sz="1600" dirty="0"/>
                    </a:p>
                  </a:txBody>
                  <a:tcPr/>
                </a:tc>
                <a:tc>
                  <a:txBody>
                    <a:bodyPr/>
                    <a:lstStyle/>
                    <a:p>
                      <a:pPr algn="ctr"/>
                      <a:r>
                        <a:rPr lang="en-US" sz="1600" dirty="0"/>
                        <a:t>0.200</a:t>
                      </a:r>
                      <a:endParaRPr lang="el-GR" sz="1600" dirty="0"/>
                    </a:p>
                  </a:txBody>
                  <a:tcPr/>
                </a:tc>
                <a:tc>
                  <a:txBody>
                    <a:bodyPr/>
                    <a:lstStyle/>
                    <a:p>
                      <a:pPr algn="ctr"/>
                      <a:r>
                        <a:rPr lang="en-US" sz="1600" dirty="0"/>
                        <a:t>0.248</a:t>
                      </a:r>
                      <a:endParaRPr lang="el-GR" sz="1600" dirty="0"/>
                    </a:p>
                  </a:txBody>
                  <a:tcPr/>
                </a:tc>
                <a:tc>
                  <a:txBody>
                    <a:bodyPr/>
                    <a:lstStyle/>
                    <a:p>
                      <a:pPr algn="ctr"/>
                      <a:r>
                        <a:rPr lang="en-US" sz="1600" dirty="0"/>
                        <a:t>0.252</a:t>
                      </a:r>
                      <a:endParaRPr lang="el-GR" sz="1600" dirty="0"/>
                    </a:p>
                  </a:txBody>
                  <a:tcPr/>
                </a:tc>
                <a:tc>
                  <a:txBody>
                    <a:bodyPr/>
                    <a:lstStyle/>
                    <a:p>
                      <a:pPr algn="ctr"/>
                      <a:r>
                        <a:rPr lang="en-US" sz="1600" dirty="0"/>
                        <a:t>6.957</a:t>
                      </a:r>
                      <a:endParaRPr lang="el-GR" sz="1600" dirty="0"/>
                    </a:p>
                  </a:txBody>
                  <a:tcPr/>
                </a:tc>
                <a:extLst>
                  <a:ext uri="{0D108BD9-81ED-4DB2-BD59-A6C34878D82A}">
                    <a16:rowId xmlns:a16="http://schemas.microsoft.com/office/drawing/2014/main" val="83224389"/>
                  </a:ext>
                </a:extLst>
              </a:tr>
            </a:tbl>
          </a:graphicData>
        </a:graphic>
      </p:graphicFrame>
      <p:sp>
        <p:nvSpPr>
          <p:cNvPr id="9" name="Rectangle 8">
            <a:extLst>
              <a:ext uri="{FF2B5EF4-FFF2-40B4-BE49-F238E27FC236}">
                <a16:creationId xmlns:a16="http://schemas.microsoft.com/office/drawing/2014/main" id="{BE38E04D-B56E-088D-CC8A-352A25D1E4C9}"/>
              </a:ext>
            </a:extLst>
          </p:cNvPr>
          <p:cNvSpPr/>
          <p:nvPr/>
        </p:nvSpPr>
        <p:spPr>
          <a:xfrm rot="5400000">
            <a:off x="3884277" y="3101322"/>
            <a:ext cx="3535685" cy="1152128"/>
          </a:xfrm>
          <a:prstGeom prst="rect">
            <a:avLst/>
          </a:prstGeom>
          <a:noFill/>
          <a:ln w="571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151603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AF778-5E08-D3A3-4711-925D932F1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4DA99-38B3-3BCB-5B62-53E507AD783A}"/>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Results - MILP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simplifications/operation</a:t>
            </a:r>
            <a:endParaRPr lang="el-GR" i="1" dirty="0">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661F97C1-7BB5-20FF-8A46-4738092A8B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
        <p:nvSpPr>
          <p:cNvPr id="3" name="Slide Number Placeholder 2">
            <a:extLst>
              <a:ext uri="{FF2B5EF4-FFF2-40B4-BE49-F238E27FC236}">
                <a16:creationId xmlns:a16="http://schemas.microsoft.com/office/drawing/2014/main" id="{EA7ED5D0-6C91-425E-0274-29050C1780B9}"/>
              </a:ext>
            </a:extLst>
          </p:cNvPr>
          <p:cNvSpPr>
            <a:spLocks noGrp="1"/>
          </p:cNvSpPr>
          <p:nvPr>
            <p:ph type="sldNum" sz="quarter" idx="4"/>
          </p:nvPr>
        </p:nvSpPr>
        <p:spPr/>
        <p:txBody>
          <a:bodyPr/>
          <a:lstStyle/>
          <a:p>
            <a:fld id="{CC7E3F2E-5E17-4E15-9E32-D4A7BBAEA187}" type="slidenum">
              <a:rPr lang="el-GR" smtClean="0"/>
              <a:t>14</a:t>
            </a:fld>
            <a:endParaRPr lang="el-GR"/>
          </a:p>
        </p:txBody>
      </p:sp>
    </p:spTree>
    <p:extLst>
      <p:ext uri="{BB962C8B-B14F-4D97-AF65-F5344CB8AC3E}">
        <p14:creationId xmlns:p14="http://schemas.microsoft.com/office/powerpoint/2010/main" val="70169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4D19A-1263-E8B9-2DDA-55DABA5C7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902FB-C763-E180-C550-5DD7DDD5E7D7}"/>
              </a:ext>
            </a:extLst>
          </p:cNvPr>
          <p:cNvSpPr>
            <a:spLocks noGrp="1"/>
          </p:cNvSpPr>
          <p:nvPr>
            <p:ph type="title"/>
          </p:nvPr>
        </p:nvSpPr>
        <p:spPr/>
        <p:txBody>
          <a:bodyPr>
            <a:normAutofit/>
          </a:bodyPr>
          <a:lstStyle/>
          <a:p>
            <a:r>
              <a:rPr lang="en-US" sz="2400" i="1" dirty="0">
                <a:effectLst>
                  <a:outerShdw blurRad="38100" dist="38100" dir="2700000" algn="tl">
                    <a:srgbClr val="000000">
                      <a:alpha val="43137"/>
                    </a:srgbClr>
                  </a:outerShdw>
                </a:effectLst>
              </a:rPr>
              <a:t>Extended Case Study Definition</a:t>
            </a:r>
            <a:endParaRPr lang="el-GR" sz="2400"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6A23007-1067-8C6C-7CA4-C33988FE9A81}"/>
              </a:ext>
            </a:extLst>
          </p:cNvPr>
          <p:cNvSpPr>
            <a:spLocks noGrp="1"/>
          </p:cNvSpPr>
          <p:nvPr>
            <p:ph sz="half" idx="1"/>
          </p:nvPr>
        </p:nvSpPr>
        <p:spPr>
          <a:xfrm>
            <a:off x="457200" y="1166018"/>
            <a:ext cx="4038600" cy="4525963"/>
          </a:xfrm>
        </p:spPr>
        <p:txBody>
          <a:bodyPr/>
          <a:lstStyle/>
          <a:p>
            <a:r>
              <a:rPr lang="en-US" dirty="0"/>
              <a:t>General case study</a:t>
            </a:r>
            <a:endParaRPr lang="el-GR" dirty="0"/>
          </a:p>
        </p:txBody>
      </p:sp>
      <p:pic>
        <p:nvPicPr>
          <p:cNvPr id="5" name="Picture 4">
            <a:extLst>
              <a:ext uri="{FF2B5EF4-FFF2-40B4-BE49-F238E27FC236}">
                <a16:creationId xmlns:a16="http://schemas.microsoft.com/office/drawing/2014/main" id="{FB6EFACA-CF42-844E-6372-70EFD8E618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10812"/>
            <a:ext cx="9144000" cy="4949419"/>
          </a:xfrm>
          <a:prstGeom prst="rect">
            <a:avLst/>
          </a:prstGeom>
        </p:spPr>
      </p:pic>
      <p:sp>
        <p:nvSpPr>
          <p:cNvPr id="4" name="Slide Number Placeholder 3">
            <a:extLst>
              <a:ext uri="{FF2B5EF4-FFF2-40B4-BE49-F238E27FC236}">
                <a16:creationId xmlns:a16="http://schemas.microsoft.com/office/drawing/2014/main" id="{F9A99B48-E421-B93C-16F9-616650CD67C7}"/>
              </a:ext>
            </a:extLst>
          </p:cNvPr>
          <p:cNvSpPr>
            <a:spLocks noGrp="1"/>
          </p:cNvSpPr>
          <p:nvPr>
            <p:ph type="sldNum" sz="quarter" idx="4"/>
          </p:nvPr>
        </p:nvSpPr>
        <p:spPr/>
        <p:txBody>
          <a:bodyPr/>
          <a:lstStyle/>
          <a:p>
            <a:fld id="{CC7E3F2E-5E17-4E15-9E32-D4A7BBAEA187}" type="slidenum">
              <a:rPr lang="el-GR" smtClean="0"/>
              <a:t>15</a:t>
            </a:fld>
            <a:endParaRPr lang="el-GR"/>
          </a:p>
        </p:txBody>
      </p:sp>
    </p:spTree>
    <p:extLst>
      <p:ext uri="{BB962C8B-B14F-4D97-AF65-F5344CB8AC3E}">
        <p14:creationId xmlns:p14="http://schemas.microsoft.com/office/powerpoint/2010/main" val="2800583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AD376-4BA7-3804-9106-D77068042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7081A-C2F8-DEA2-AE9F-5DBB83F39BEF}"/>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Results - Extended Case Study</a:t>
            </a:r>
            <a:endParaRPr lang="el-GR" i="1" dirty="0">
              <a:effectLst>
                <a:outerShdw blurRad="38100" dist="38100" dir="2700000" algn="tl">
                  <a:srgbClr val="000000">
                    <a:alpha val="43137"/>
                  </a:srgbClr>
                </a:outerShdw>
              </a:effectLst>
            </a:endParaRPr>
          </a:p>
        </p:txBody>
      </p:sp>
      <p:sp>
        <p:nvSpPr>
          <p:cNvPr id="5" name="Content Placeholder 4">
            <a:extLst>
              <a:ext uri="{FF2B5EF4-FFF2-40B4-BE49-F238E27FC236}">
                <a16:creationId xmlns:a16="http://schemas.microsoft.com/office/drawing/2014/main" id="{5C871937-61FC-9ACF-998E-6F06D4EF8ED4}"/>
              </a:ext>
            </a:extLst>
          </p:cNvPr>
          <p:cNvSpPr>
            <a:spLocks noGrp="1"/>
          </p:cNvSpPr>
          <p:nvPr>
            <p:ph idx="1"/>
          </p:nvPr>
        </p:nvSpPr>
        <p:spPr>
          <a:xfrm>
            <a:off x="2031132" y="2204864"/>
            <a:ext cx="5081736" cy="1152128"/>
          </a:xfrm>
          <a:ln w="57150">
            <a:solidFill>
              <a:schemeClr val="accent6"/>
            </a:solidFill>
          </a:ln>
        </p:spPr>
        <p:txBody>
          <a:bodyPr>
            <a:normAutofit fontScale="92500"/>
          </a:bodyPr>
          <a:lstStyle/>
          <a:p>
            <a:r>
              <a:rPr lang="en-US" dirty="0"/>
              <a:t>1 segment fixed period MILP used</a:t>
            </a:r>
          </a:p>
          <a:p>
            <a:r>
              <a:rPr lang="en-US" dirty="0"/>
              <a:t>1.45 speed foldup compared to the MINLP</a:t>
            </a:r>
          </a:p>
          <a:p>
            <a:r>
              <a:rPr lang="en-US" dirty="0"/>
              <a:t>Higher foldup that the simple case study </a:t>
            </a:r>
            <a:endParaRPr lang="el-GR" dirty="0"/>
          </a:p>
        </p:txBody>
      </p:sp>
      <p:sp>
        <p:nvSpPr>
          <p:cNvPr id="6" name="Oval 5">
            <a:extLst>
              <a:ext uri="{FF2B5EF4-FFF2-40B4-BE49-F238E27FC236}">
                <a16:creationId xmlns:a16="http://schemas.microsoft.com/office/drawing/2014/main" id="{703B1690-DFED-3F8C-E14E-B70F645162C2}"/>
              </a:ext>
            </a:extLst>
          </p:cNvPr>
          <p:cNvSpPr/>
          <p:nvPr/>
        </p:nvSpPr>
        <p:spPr>
          <a:xfrm>
            <a:off x="2751212" y="3645024"/>
            <a:ext cx="3641576" cy="1368152"/>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Increased system flexibility made the linearization even more attractive</a:t>
            </a:r>
            <a:endParaRPr lang="el-GR" dirty="0"/>
          </a:p>
        </p:txBody>
      </p:sp>
      <p:sp>
        <p:nvSpPr>
          <p:cNvPr id="3" name="Slide Number Placeholder 2">
            <a:extLst>
              <a:ext uri="{FF2B5EF4-FFF2-40B4-BE49-F238E27FC236}">
                <a16:creationId xmlns:a16="http://schemas.microsoft.com/office/drawing/2014/main" id="{69F3CAEC-499C-E0EE-92DB-203F4349D82D}"/>
              </a:ext>
            </a:extLst>
          </p:cNvPr>
          <p:cNvSpPr>
            <a:spLocks noGrp="1"/>
          </p:cNvSpPr>
          <p:nvPr>
            <p:ph type="sldNum" sz="quarter" idx="4"/>
          </p:nvPr>
        </p:nvSpPr>
        <p:spPr/>
        <p:txBody>
          <a:bodyPr/>
          <a:lstStyle/>
          <a:p>
            <a:fld id="{CC7E3F2E-5E17-4E15-9E32-D4A7BBAEA187}" type="slidenum">
              <a:rPr lang="el-GR" smtClean="0"/>
              <a:t>16</a:t>
            </a:fld>
            <a:endParaRPr lang="el-GR"/>
          </a:p>
        </p:txBody>
      </p:sp>
    </p:spTree>
    <p:extLst>
      <p:ext uri="{BB962C8B-B14F-4D97-AF65-F5344CB8AC3E}">
        <p14:creationId xmlns:p14="http://schemas.microsoft.com/office/powerpoint/2010/main" val="3714227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F4C1-15C8-9F0D-98D4-1956D0995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46A5C-5D5B-3969-812D-04F4AD238392}"/>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Conclusions</a:t>
            </a:r>
            <a:endParaRPr lang="el-GR" i="1" dirty="0">
              <a:effectLst>
                <a:outerShdw blurRad="38100" dist="38100" dir="2700000" algn="tl">
                  <a:srgbClr val="000000">
                    <a:alpha val="43137"/>
                  </a:srgbClr>
                </a:outerShdw>
              </a:effectLst>
            </a:endParaRPr>
          </a:p>
        </p:txBody>
      </p:sp>
      <p:graphicFrame>
        <p:nvGraphicFramePr>
          <p:cNvPr id="3" name="Content Placeholder 2">
            <a:extLst>
              <a:ext uri="{FF2B5EF4-FFF2-40B4-BE49-F238E27FC236}">
                <a16:creationId xmlns:a16="http://schemas.microsoft.com/office/drawing/2014/main" id="{FB215CBC-A29D-C729-C2C6-1481CD1A0DC5}"/>
              </a:ext>
            </a:extLst>
          </p:cNvPr>
          <p:cNvGraphicFramePr>
            <a:graphicFrameLocks noGrp="1"/>
          </p:cNvGraphicFramePr>
          <p:nvPr>
            <p:ph idx="1"/>
          </p:nvPr>
        </p:nvGraphicFramePr>
        <p:xfrm>
          <a:off x="457200" y="1052345"/>
          <a:ext cx="8229600" cy="5535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Oval 3">
            <a:extLst>
              <a:ext uri="{FF2B5EF4-FFF2-40B4-BE49-F238E27FC236}">
                <a16:creationId xmlns:a16="http://schemas.microsoft.com/office/drawing/2014/main" id="{A88BA7B3-9E16-6226-FD4C-B4FB1981C9F0}"/>
              </a:ext>
            </a:extLst>
          </p:cNvPr>
          <p:cNvSpPr/>
          <p:nvPr/>
        </p:nvSpPr>
        <p:spPr>
          <a:xfrm>
            <a:off x="2267744" y="161764"/>
            <a:ext cx="2448272" cy="99898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Appropriate formulation depends on the intended application</a:t>
            </a:r>
            <a:endParaRPr lang="el-GR" sz="1200" dirty="0"/>
          </a:p>
        </p:txBody>
      </p:sp>
      <p:sp>
        <p:nvSpPr>
          <p:cNvPr id="5" name="Slide Number Placeholder 4">
            <a:extLst>
              <a:ext uri="{FF2B5EF4-FFF2-40B4-BE49-F238E27FC236}">
                <a16:creationId xmlns:a16="http://schemas.microsoft.com/office/drawing/2014/main" id="{73410616-FA43-50BB-FE62-56810BA1C50D}"/>
              </a:ext>
            </a:extLst>
          </p:cNvPr>
          <p:cNvSpPr>
            <a:spLocks noGrp="1"/>
          </p:cNvSpPr>
          <p:nvPr>
            <p:ph type="sldNum" sz="quarter" idx="4"/>
          </p:nvPr>
        </p:nvSpPr>
        <p:spPr/>
        <p:txBody>
          <a:bodyPr/>
          <a:lstStyle/>
          <a:p>
            <a:fld id="{CC7E3F2E-5E17-4E15-9E32-D4A7BBAEA187}" type="slidenum">
              <a:rPr lang="el-GR" smtClean="0"/>
              <a:t>17</a:t>
            </a:fld>
            <a:endParaRPr lang="el-GR"/>
          </a:p>
        </p:txBody>
      </p:sp>
    </p:spTree>
    <p:extLst>
      <p:ext uri="{BB962C8B-B14F-4D97-AF65-F5344CB8AC3E}">
        <p14:creationId xmlns:p14="http://schemas.microsoft.com/office/powerpoint/2010/main" val="2733712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BC7765-BB4C-F1AE-FD07-DB93B9FCA45B}"/>
              </a:ext>
            </a:extLst>
          </p:cNvPr>
          <p:cNvSpPr txBox="1"/>
          <p:nvPr/>
        </p:nvSpPr>
        <p:spPr>
          <a:xfrm>
            <a:off x="457200" y="197768"/>
            <a:ext cx="7139136" cy="1143000"/>
          </a:xfrm>
          <a:prstGeom prst="rect">
            <a:avLst/>
          </a:prstGeom>
        </p:spPr>
        <p:txBody>
          <a:bodyPr vert="horz" lIns="91440" tIns="45720" rIns="91440" bIns="45720" rtlCol="0" anchor="t">
            <a:normAutofit/>
          </a:bodyPr>
          <a:lstStyle/>
          <a:p>
            <a:pPr>
              <a:spcBef>
                <a:spcPct val="0"/>
              </a:spcBef>
              <a:spcAft>
                <a:spcPts val="600"/>
              </a:spcAft>
            </a:pPr>
            <a:r>
              <a:rPr lang="en-US" sz="2800" i="1">
                <a:effectLst>
                  <a:outerShdw blurRad="38100" dist="38100" dir="2700000" algn="tl">
                    <a:srgbClr val="000000">
                      <a:alpha val="43137"/>
                    </a:srgbClr>
                  </a:outerShdw>
                </a:effectLst>
                <a:latin typeface="+mj-lt"/>
                <a:ea typeface="+mj-ea"/>
                <a:cs typeface="+mj-cs"/>
              </a:rPr>
              <a:t>Quote of the Day</a:t>
            </a:r>
          </a:p>
        </p:txBody>
      </p:sp>
      <p:pic>
        <p:nvPicPr>
          <p:cNvPr id="5" name="Picture 4">
            <a:extLst>
              <a:ext uri="{FF2B5EF4-FFF2-40B4-BE49-F238E27FC236}">
                <a16:creationId xmlns:a16="http://schemas.microsoft.com/office/drawing/2014/main" id="{5D274081-A6FF-A421-5746-F94BDB18E4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5038" y="1268760"/>
            <a:ext cx="6773924" cy="4908575"/>
          </a:xfrm>
          <a:prstGeom prst="rect">
            <a:avLst/>
          </a:prstGeom>
        </p:spPr>
      </p:pic>
      <p:sp>
        <p:nvSpPr>
          <p:cNvPr id="3" name="Slide Number Placeholder 2">
            <a:extLst>
              <a:ext uri="{FF2B5EF4-FFF2-40B4-BE49-F238E27FC236}">
                <a16:creationId xmlns:a16="http://schemas.microsoft.com/office/drawing/2014/main" id="{3539E761-0484-71FE-4F6F-CE64957050A8}"/>
              </a:ext>
            </a:extLst>
          </p:cNvPr>
          <p:cNvSpPr>
            <a:spLocks noGrp="1"/>
          </p:cNvSpPr>
          <p:nvPr>
            <p:ph type="sldNum" sz="quarter" idx="4"/>
          </p:nvPr>
        </p:nvSpPr>
        <p:spPr/>
        <p:txBody>
          <a:bodyPr/>
          <a:lstStyle/>
          <a:p>
            <a:fld id="{CC7E3F2E-5E17-4E15-9E32-D4A7BBAEA187}" type="slidenum">
              <a:rPr lang="el-GR" smtClean="0"/>
              <a:t>18</a:t>
            </a:fld>
            <a:endParaRPr lang="el-GR"/>
          </a:p>
        </p:txBody>
      </p:sp>
    </p:spTree>
    <p:extLst>
      <p:ext uri="{BB962C8B-B14F-4D97-AF65-F5344CB8AC3E}">
        <p14:creationId xmlns:p14="http://schemas.microsoft.com/office/powerpoint/2010/main" val="401454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7AE0-3A19-1300-FD1A-9A31A22CE16D}"/>
              </a:ext>
            </a:extLst>
          </p:cNvPr>
          <p:cNvSpPr>
            <a:spLocks noGrp="1"/>
          </p:cNvSpPr>
          <p:nvPr>
            <p:ph type="title"/>
          </p:nvPr>
        </p:nvSpPr>
        <p:spPr>
          <a:xfrm>
            <a:off x="1002432" y="2857500"/>
            <a:ext cx="7139136" cy="1143000"/>
          </a:xfrm>
        </p:spPr>
        <p:txBody>
          <a:bodyPr>
            <a:normAutofit/>
          </a:bodyPr>
          <a:lstStyle/>
          <a:p>
            <a:pPr algn="ctr"/>
            <a:r>
              <a:rPr lang="en-US" sz="6000" b="1" i="1" dirty="0">
                <a:effectLst>
                  <a:outerShdw blurRad="38100" dist="38100" dir="2700000" algn="tl">
                    <a:srgbClr val="000000">
                      <a:alpha val="43137"/>
                    </a:srgbClr>
                  </a:outerShdw>
                </a:effectLst>
              </a:rPr>
              <a:t>Appendix</a:t>
            </a:r>
            <a:endParaRPr lang="el-GR" sz="6000" b="1" i="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8D4C83F1-B293-6AE2-BC15-E7203F87B5DC}"/>
              </a:ext>
            </a:extLst>
          </p:cNvPr>
          <p:cNvSpPr>
            <a:spLocks noGrp="1"/>
          </p:cNvSpPr>
          <p:nvPr>
            <p:ph type="sldNum" sz="quarter" idx="4"/>
          </p:nvPr>
        </p:nvSpPr>
        <p:spPr/>
        <p:txBody>
          <a:bodyPr/>
          <a:lstStyle/>
          <a:p>
            <a:fld id="{CC7E3F2E-5E17-4E15-9E32-D4A7BBAEA187}" type="slidenum">
              <a:rPr lang="el-GR" smtClean="0"/>
              <a:t>19</a:t>
            </a:fld>
            <a:endParaRPr lang="el-GR"/>
          </a:p>
        </p:txBody>
      </p:sp>
    </p:spTree>
    <p:extLst>
      <p:ext uri="{BB962C8B-B14F-4D97-AF65-F5344CB8AC3E}">
        <p14:creationId xmlns:p14="http://schemas.microsoft.com/office/powerpoint/2010/main" val="90349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D0E0-0EC7-4EED-0384-BB7B5949E98D}"/>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McCormick envelope</a:t>
            </a:r>
            <a:r>
              <a:rPr lang="en-US" i="1" baseline="30000" dirty="0">
                <a:effectLst>
                  <a:outerShdw blurRad="38100" dist="38100" dir="2700000" algn="tl">
                    <a:srgbClr val="000000">
                      <a:alpha val="43137"/>
                    </a:srgbClr>
                  </a:outerShdw>
                </a:effectLst>
              </a:rPr>
              <a:t>12</a:t>
            </a:r>
            <a:endParaRPr lang="el-GR" i="1" baseline="30000"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3BADA6E2-D34E-2E2A-F45B-63080FCB866C}"/>
                  </a:ext>
                </a:extLst>
              </p:cNvPr>
              <p:cNvSpPr>
                <a:spLocks noGrp="1" noChangeArrowheads="1"/>
              </p:cNvSpPr>
              <p:nvPr>
                <p:ph idx="1"/>
              </p:nvPr>
            </p:nvSpPr>
            <p:spPr bwMode="auto">
              <a:xfrm>
                <a:off x="570384" y="819591"/>
                <a:ext cx="6275040" cy="54687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lang="en-US" altLang="el-GR" sz="1600" b="1" dirty="0">
                  <a:latin typeface="+mj-lt"/>
                </a:endParaRPr>
              </a:p>
              <a:p>
                <a:pPr marL="0" lvl="0" indent="0" eaLnBrk="0" fontAlgn="base" hangingPunct="0">
                  <a:spcBef>
                    <a:spcPct val="0"/>
                  </a:spcBef>
                  <a:spcAft>
                    <a:spcPct val="0"/>
                  </a:spcAft>
                  <a:buClrTx/>
                  <a:buSzTx/>
                  <a:buNone/>
                </a:pPr>
                <a:r>
                  <a:rPr lang="en-US" altLang="el-GR" sz="1400" dirty="0"/>
                  <a:t>Lower bounds:</a:t>
                </a:r>
              </a:p>
              <a:p>
                <a:pPr eaLnBrk="0" fontAlgn="base" hangingPunct="0">
                  <a:spcBef>
                    <a:spcPct val="0"/>
                  </a:spcBef>
                  <a:spcAft>
                    <a:spcPct val="0"/>
                  </a:spcAft>
                  <a:buClrTx/>
                  <a:buSzTx/>
                </a:pPr>
                <a14:m>
                  <m:oMath xmlns:m="http://schemas.openxmlformats.org/officeDocument/2006/math">
                    <m:r>
                      <m:rPr>
                        <m:sty m:val="p"/>
                      </m:rPr>
                      <a:rPr kumimoji="0" lang="en-US" altLang="el-GR" sz="1400" b="0" i="0" u="none" strike="noStrike" cap="none" normalizeH="0" baseline="0" smtClean="0">
                        <a:ln>
                          <a:noFill/>
                        </a:ln>
                        <a:solidFill>
                          <a:schemeClr val="tx1"/>
                        </a:solidFill>
                        <a:effectLst/>
                        <a:latin typeface="Cambria Math" panose="02040503050406030204" pitchFamily="18" charset="0"/>
                      </a:rPr>
                      <m:t>z</m:t>
                    </m:r>
                    <m:r>
                      <a:rPr kumimoji="0" lang="en-US" altLang="el-GR" sz="1400" b="0" i="0" u="none" strike="noStrike" cap="none" normalizeH="0" baseline="0" smtClean="0">
                        <a:ln>
                          <a:noFill/>
                        </a:ln>
                        <a:solidFill>
                          <a:schemeClr val="tx1"/>
                        </a:solidFill>
                        <a:effectLst/>
                        <a:latin typeface="Cambria Math" panose="02040503050406030204" pitchFamily="18" charset="0"/>
                      </a:rPr>
                      <m:t> </m:t>
                    </m:r>
                  </m:oMath>
                </a14:m>
                <a:r>
                  <a:rPr kumimoji="0" lang="en-US" altLang="el-GR" sz="1400" b="0" u="none" strike="noStrike" cap="none" normalizeH="0" baseline="0" dirty="0">
                    <a:ln>
                      <a:noFill/>
                    </a:ln>
                    <a:solidFill>
                      <a:schemeClr val="tx1"/>
                    </a:solidFill>
                    <a:effectLst/>
                  </a:rPr>
                  <a:t> </a:t>
                </a:r>
                <a14:m>
                  <m:oMath xmlns:m="http://schemas.openxmlformats.org/officeDocument/2006/math">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 </m:t>
                    </m:r>
                    <m:sSub>
                      <m:sSubPr>
                        <m:ctrl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ctrlPr>
                      </m:sSubPr>
                      <m:e>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Q</m:t>
                        </m:r>
                      </m:e>
                      <m:sub>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LB</m:t>
                        </m:r>
                      </m:sub>
                    </m:sSub>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T</m:t>
                    </m:r>
                    <m: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 +(</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r>
                      <a:rPr lang="en-US" altLang="el-GR" sz="1400" b="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oMath>
                </a14:m>
                <a:endParaRPr lang="en-US" altLang="el-GR" sz="1400" dirty="0">
                  <a:ea typeface="Cambria Math" panose="02040503050406030204" pitchFamily="18" charset="0"/>
                </a:endParaRPr>
              </a:p>
              <a:p>
                <a:pPr eaLnBrk="0" fontAlgn="base" hangingPunct="0">
                  <a:spcBef>
                    <a:spcPct val="0"/>
                  </a:spcBef>
                  <a:spcAft>
                    <a:spcPct val="0"/>
                  </a:spcAft>
                  <a:buClrTx/>
                  <a:buSzTx/>
                </a:pPr>
                <a14:m>
                  <m:oMath xmlns:m="http://schemas.openxmlformats.org/officeDocument/2006/math">
                    <m:r>
                      <m:rPr>
                        <m:sty m:val="p"/>
                      </m:rPr>
                      <a:rPr lang="en-US" altLang="el-GR" sz="140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oMath>
                </a14:m>
                <a:endParaRPr kumimoji="0" lang="el-GR" altLang="el-GR" sz="1400" b="0" u="none" strike="noStrike" cap="none" normalizeH="0" baseline="0" dirty="0">
                  <a:ln>
                    <a:noFill/>
                  </a:ln>
                  <a:solidFill>
                    <a:schemeClr val="tx1"/>
                  </a:solidFill>
                  <a:effectLst/>
                </a:endParaRPr>
              </a:p>
              <a:p>
                <a:pPr marL="0" lvl="0" indent="0" eaLnBrk="0" fontAlgn="base" hangingPunct="0">
                  <a:spcBef>
                    <a:spcPct val="0"/>
                  </a:spcBef>
                  <a:spcAft>
                    <a:spcPct val="0"/>
                  </a:spcAft>
                  <a:buClrTx/>
                  <a:buSzTx/>
                  <a:buNone/>
                </a:pPr>
                <a:endParaRPr lang="en-US" altLang="el-GR" sz="1400" b="0" dirty="0"/>
              </a:p>
              <a:p>
                <a:pPr marL="0" lvl="0" indent="0" eaLnBrk="0" fontAlgn="base" hangingPunct="0">
                  <a:spcBef>
                    <a:spcPct val="0"/>
                  </a:spcBef>
                  <a:spcAft>
                    <a:spcPct val="0"/>
                  </a:spcAft>
                  <a:buClrTx/>
                  <a:buSzTx/>
                  <a:buNone/>
                </a:pPr>
                <a:r>
                  <a:rPr lang="en-US" altLang="el-GR" sz="1400" b="0" dirty="0"/>
                  <a:t>Upper bounds:</a:t>
                </a:r>
              </a:p>
              <a:p>
                <a:pPr eaLnBrk="0" fontAlgn="base" hangingPunct="0">
                  <a:spcBef>
                    <a:spcPct val="0"/>
                  </a:spcBef>
                  <a:spcAft>
                    <a:spcPct val="0"/>
                  </a:spcAft>
                  <a:buClrTx/>
                  <a:buSzTx/>
                </a:pPr>
                <a14:m>
                  <m:oMath xmlns:m="http://schemas.openxmlformats.org/officeDocument/2006/math">
                    <m:r>
                      <m:rPr>
                        <m:sty m:val="p"/>
                      </m:rPr>
                      <a:rPr lang="en-US" altLang="el-GR" sz="1400" b="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oMath>
                </a14:m>
                <a:endParaRPr lang="en-US" altLang="el-GR" sz="1400" dirty="0">
                  <a:ea typeface="Cambria Math" panose="02040503050406030204" pitchFamily="18" charset="0"/>
                </a:endParaRPr>
              </a:p>
              <a:p>
                <a:pPr eaLnBrk="0" fontAlgn="base" hangingPunct="0">
                  <a:spcBef>
                    <a:spcPct val="0"/>
                  </a:spcBef>
                  <a:spcAft>
                    <a:spcPct val="0"/>
                  </a:spcAft>
                  <a:buClrTx/>
                  <a:buSzTx/>
                </a:pPr>
                <a14:m>
                  <m:oMath xmlns:m="http://schemas.openxmlformats.org/officeDocument/2006/math">
                    <m:r>
                      <m:rPr>
                        <m:sty m:val="p"/>
                      </m:rPr>
                      <a:rPr lang="en-US" altLang="el-GR" sz="1400" i="0" smtClean="0">
                        <a:latin typeface="Cambria Math" panose="02040503050406030204" pitchFamily="18" charset="0"/>
                      </a:rPr>
                      <m:t>z</m:t>
                    </m:r>
                    <m:r>
                      <a:rPr lang="en-US" altLang="el-GR" sz="1400" i="0" smtClean="0">
                        <a:latin typeface="Cambria Math" panose="02040503050406030204" pitchFamily="18" charset="0"/>
                      </a:rPr>
                      <m:t> </m:t>
                    </m:r>
                  </m:oMath>
                </a14:m>
                <a:r>
                  <a:rPr lang="en-US" altLang="el-GR" sz="1400" dirty="0"/>
                  <a:t> </a:t>
                </a:r>
                <a14:m>
                  <m:oMath xmlns:m="http://schemas.openxmlformats.org/officeDocument/2006/math">
                    <m:r>
                      <a:rPr lang="en-US" altLang="el-GR" sz="1400" i="0" dirty="0" smtClean="0">
                        <a:latin typeface="Cambria Math" panose="02040503050406030204" pitchFamily="18" charset="0"/>
                        <a:ea typeface="Cambria Math" panose="02040503050406030204" pitchFamily="18" charset="0"/>
                      </a:rPr>
                      <m:t>≤ </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b="0" i="0" dirty="0" smtClean="0">
                            <a:latin typeface="Cambria Math" panose="02040503050406030204" pitchFamily="18" charset="0"/>
                            <a:ea typeface="Cambria Math" panose="02040503050406030204" pitchFamily="18" charset="0"/>
                          </a:rPr>
                          <m:t>L</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T</m:t>
                    </m:r>
                    <m:r>
                      <a:rPr lang="en-US" altLang="el-GR" sz="1400" i="0" dirty="0" smtClean="0">
                        <a:latin typeface="Cambria Math" panose="02040503050406030204" pitchFamily="18" charset="0"/>
                        <a:ea typeface="Cambria Math" panose="02040503050406030204" pitchFamily="18" charset="0"/>
                      </a:rPr>
                      <m:t>) +(</m:t>
                    </m:r>
                    <m:r>
                      <m:rPr>
                        <m:sty m:val="p"/>
                      </m:rPr>
                      <a:rPr lang="en-US" altLang="el-GR" sz="1400" i="0" dirty="0" smtClean="0">
                        <a:latin typeface="Cambria Math" panose="02040503050406030204" pitchFamily="18" charset="0"/>
                        <a:ea typeface="Cambria Math" panose="02040503050406030204" pitchFamily="18" charset="0"/>
                      </a:rPr>
                      <m:t>Q</m:t>
                    </m:r>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a:rPr lang="en-US" altLang="el-GR" sz="1400" i="0" dirty="0" smtClean="0">
                            <a:latin typeface="Cambria Math" panose="02040503050406030204" pitchFamily="18" charset="0"/>
                            <a:ea typeface="Cambria Math" panose="02040503050406030204" pitchFamily="18" charset="0"/>
                          </a:rPr>
                          <m:t>(</m:t>
                        </m:r>
                        <m:r>
                          <m:rPr>
                            <m:sty m:val="p"/>
                          </m:rPr>
                          <a:rPr lang="en-US" altLang="el-GR" sz="1400" i="0" dirty="0" smtClean="0">
                            <a:latin typeface="Cambria Math" panose="02040503050406030204" pitchFamily="18" charset="0"/>
                            <a:ea typeface="Cambria Math" panose="02040503050406030204" pitchFamily="18" charset="0"/>
                          </a:rPr>
                          <m:t>Q</m:t>
                        </m:r>
                      </m:e>
                      <m:sub>
                        <m:r>
                          <m:rPr>
                            <m:sty m:val="p"/>
                          </m:rPr>
                          <a:rPr lang="en-US" altLang="el-GR" sz="1400" i="0" dirty="0" smtClean="0">
                            <a:latin typeface="Cambria Math" panose="02040503050406030204" pitchFamily="18" charset="0"/>
                            <a:ea typeface="Cambria Math" panose="02040503050406030204" pitchFamily="18" charset="0"/>
                          </a:rPr>
                          <m:t>LB</m:t>
                        </m:r>
                      </m:sub>
                    </m:sSub>
                    <m:r>
                      <a:rPr lang="en-US" altLang="el-GR" sz="1400" i="0" dirty="0" smtClean="0">
                        <a:latin typeface="Cambria Math" panose="02040503050406030204" pitchFamily="18" charset="0"/>
                        <a:ea typeface="Cambria Math" panose="02040503050406030204" pitchFamily="18" charset="0"/>
                      </a:rPr>
                      <m:t>×</m:t>
                    </m:r>
                    <m:sSub>
                      <m:sSubPr>
                        <m:ctrlPr>
                          <a:rPr lang="en-US" altLang="el-GR" sz="1400" i="0" dirty="0" smtClean="0">
                            <a:latin typeface="Cambria Math" panose="02040503050406030204" pitchFamily="18" charset="0"/>
                            <a:ea typeface="Cambria Math" panose="02040503050406030204" pitchFamily="18" charset="0"/>
                          </a:rPr>
                        </m:ctrlPr>
                      </m:sSubPr>
                      <m:e>
                        <m:r>
                          <m:rPr>
                            <m:sty m:val="p"/>
                          </m:rPr>
                          <a:rPr lang="en-US" altLang="el-GR" sz="1400" i="0" dirty="0" smtClean="0">
                            <a:latin typeface="Cambria Math" panose="02040503050406030204" pitchFamily="18" charset="0"/>
                            <a:ea typeface="Cambria Math" panose="02040503050406030204" pitchFamily="18" charset="0"/>
                          </a:rPr>
                          <m:t>T</m:t>
                        </m:r>
                      </m:e>
                      <m:sub>
                        <m:r>
                          <m:rPr>
                            <m:sty m:val="p"/>
                          </m:rPr>
                          <a:rPr lang="en-US" altLang="el-GR" sz="1400" b="0" i="0" dirty="0" smtClean="0">
                            <a:latin typeface="Cambria Math" panose="02040503050406030204" pitchFamily="18" charset="0"/>
                            <a:ea typeface="Cambria Math" panose="02040503050406030204" pitchFamily="18" charset="0"/>
                          </a:rPr>
                          <m:t>U</m:t>
                        </m:r>
                        <m:r>
                          <m:rPr>
                            <m:sty m:val="p"/>
                          </m:rPr>
                          <a:rPr lang="en-US" altLang="el-GR" sz="1400" i="0" dirty="0" smtClean="0">
                            <a:latin typeface="Cambria Math" panose="02040503050406030204" pitchFamily="18" charset="0"/>
                            <a:ea typeface="Cambria Math" panose="02040503050406030204" pitchFamily="18" charset="0"/>
                          </a:rPr>
                          <m:t>B</m:t>
                        </m:r>
                      </m:sub>
                    </m:sSub>
                    <m:r>
                      <a:rPr lang="en-US" altLang="el-GR" sz="1400" i="0" dirty="0" smtClean="0">
                        <a:latin typeface="Cambria Math" panose="02040503050406030204" pitchFamily="18" charset="0"/>
                        <a:ea typeface="Cambria Math" panose="02040503050406030204" pitchFamily="18" charset="0"/>
                      </a:rPr>
                      <m:t>)</m:t>
                    </m:r>
                  </m:oMath>
                </a14:m>
                <a:r>
                  <a:rPr kumimoji="0" lang="el-GR" altLang="el-GR" sz="1400" b="0" u="none" strike="noStrike" cap="none" normalizeH="0" baseline="0" dirty="0">
                    <a:ln>
                      <a:noFill/>
                    </a:ln>
                    <a:solidFill>
                      <a:schemeClr val="tx1"/>
                    </a:solidFill>
                    <a:effectLst/>
                  </a:rPr>
                  <a:t> </a:t>
                </a:r>
                <a:endParaRPr kumimoji="0" lang="en-US" altLang="el-GR" sz="1400" b="0" u="none" strike="noStrike" cap="none" normalizeH="0" baseline="0" dirty="0">
                  <a:ln>
                    <a:noFill/>
                  </a:ln>
                  <a:solidFill>
                    <a:schemeClr val="tx1"/>
                  </a:solidFill>
                  <a:effectLst/>
                </a:endParaRPr>
              </a:p>
              <a:p>
                <a:pPr eaLnBrk="0" fontAlgn="base" hangingPunct="0">
                  <a:spcBef>
                    <a:spcPct val="0"/>
                  </a:spcBef>
                  <a:spcAft>
                    <a:spcPct val="0"/>
                  </a:spcAft>
                  <a:buClrTx/>
                  <a:buSzTx/>
                </a:pPr>
                <a:endParaRPr lang="en-US" altLang="el-GR" sz="1400" dirty="0"/>
              </a:p>
              <a:p>
                <a:pPr marL="0" indent="0" eaLnBrk="0" fontAlgn="base" hangingPunct="0">
                  <a:spcBef>
                    <a:spcPct val="0"/>
                  </a:spcBef>
                  <a:spcAft>
                    <a:spcPct val="0"/>
                  </a:spcAft>
                  <a:buClrTx/>
                  <a:buSzTx/>
                  <a:buNone/>
                </a:pPr>
                <a:r>
                  <a:rPr lang="el-GR" sz="1400" dirty="0" err="1"/>
                  <a:t>Bilinear</a:t>
                </a:r>
                <a:r>
                  <a:rPr lang="el-GR" sz="1400" dirty="0"/>
                  <a:t> </a:t>
                </a:r>
                <a:r>
                  <a:rPr lang="el-GR" sz="1400" dirty="0" err="1"/>
                  <a:t>relation</a:t>
                </a:r>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z</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r>
                  <a:rPr lang="el-GR" sz="1400" dirty="0" err="1"/>
                  <a:t>Segment</a:t>
                </a:r>
                <a:r>
                  <a:rPr lang="el-GR" sz="1400" dirty="0"/>
                  <a:t> </a:t>
                </a:r>
                <a:r>
                  <a:rPr lang="el-GR" sz="1400" dirty="0" err="1"/>
                  <a:t>activation</a:t>
                </a:r>
                <a:r>
                  <a:rPr lang="el-GR" sz="1400" dirty="0"/>
                  <a:t> and </a:t>
                </a:r>
                <a:r>
                  <a:rPr lang="el-GR" sz="1400" dirty="0" err="1"/>
                  <a:t>variable</a:t>
                </a:r>
                <a:r>
                  <a:rPr lang="el-GR" sz="1400" dirty="0"/>
                  <a:t> </a:t>
                </a:r>
                <a:r>
                  <a:rPr lang="el-GR" sz="1400" dirty="0" err="1"/>
                  <a:t>bounds</a:t>
                </a:r>
                <a:endParaRPr lang="en-US" sz="1400" dirty="0"/>
              </a:p>
              <a:p>
                <a:pPr marL="0" indent="0" eaLnBrk="0" fontAlgn="base" hangingPunct="0">
                  <a:spcBef>
                    <a:spcPct val="0"/>
                  </a:spcBef>
                  <a:spcAft>
                    <a:spcPct val="0"/>
                  </a:spcAft>
                  <a:buClrTx/>
                  <a:buSzTx/>
                  <a:buNone/>
                </a:pPr>
                <a14:m>
                  <m:oMathPara xmlns:m="http://schemas.openxmlformats.org/officeDocument/2006/math">
                    <m:oMath>
                      <m:nary>
                        <m:naryPr>
                          <m:chr m:val="∑"/>
                          <m:limLoc m:val="undOvr"/>
                          <m:supHide m:val="on"/>
                          <m:ctrlPr>
                            <a:rPr kumimoji="0" lang="en-US" altLang="el-GR" sz="1400" b="0" i="0" u="none" strike="noStrike" cap="none" normalizeH="0" baseline="0" dirty="0" smtClean="0">
                              <a:ln>
                                <a:noFill/>
                              </a:ln>
                              <a:solidFill>
                                <a:schemeClr val="tx1"/>
                              </a:solidFill>
                              <a:effectLst/>
                              <a:latin typeface="Cambria Math" panose="02040503050406030204" pitchFamily="18" charset="0"/>
                            </a:rPr>
                          </m:ctrlPr>
                        </m:naryPr>
                        <m:sub>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s</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r>
                            <a:rPr kumimoji="0" lang="en-US" altLang="el-GR" sz="1400" b="0" i="0" u="none" strike="noStrike" cap="none" normalizeH="0" baseline="0" dirty="0" smtClean="0">
                              <a:ln>
                                <a:noFill/>
                              </a:ln>
                              <a:solidFill>
                                <a:schemeClr val="tx1"/>
                              </a:solidFill>
                              <a:effectLst/>
                              <a:latin typeface="Cambria Math" panose="02040503050406030204" pitchFamily="18" charset="0"/>
                            </a:rPr>
                            <m:t>𝒮</m:t>
                          </m:r>
                        </m:sub>
                        <m:sup/>
                        <m:e>
                          <m:sSub>
                            <m:sSubPr>
                              <m:ctrlPr>
                                <a:rPr kumimoji="0" lang="en-US"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hp</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t</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s</m:t>
                              </m:r>
                            </m:sub>
                          </m:sSub>
                        </m:e>
                      </m:nary>
                      <m:r>
                        <a:rPr kumimoji="0" lang="en-US" altLang="el-GR" sz="1400" b="0" i="0" u="none" strike="noStrike" cap="none" normalizeH="0" baseline="0" dirty="0" smtClean="0">
                          <a:ln>
                            <a:noFill/>
                          </a:ln>
                          <a:solidFill>
                            <a:schemeClr val="tx1"/>
                          </a:solidFill>
                          <a:effectLst/>
                          <a:latin typeface="Cambria Math" panose="02040503050406030204" pitchFamily="18" charset="0"/>
                        </a:rPr>
                        <m:t>=1,  </m:t>
                      </m:r>
                      <m:sSub>
                        <m:sSubPr>
                          <m:ctrlPr>
                            <a:rPr kumimoji="0" lang="en-US"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hp</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t</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d>
                        <m:dPr>
                          <m:begChr m:val="{"/>
                          <m:endChr m:val="}"/>
                          <m:ctrlPr>
                            <a:rPr kumimoji="0" lang="en-US" altLang="el-GR" sz="1400" b="0" i="0" u="none" strike="noStrike" cap="none" normalizeH="0" baseline="0" dirty="0" smtClean="0">
                              <a:ln>
                                <a:noFill/>
                              </a:ln>
                              <a:solidFill>
                                <a:schemeClr val="tx1"/>
                              </a:solidFill>
                              <a:effectLst/>
                              <a:latin typeface="Cambria Math" panose="02040503050406030204" pitchFamily="18" charset="0"/>
                            </a:rPr>
                          </m:ctrlPr>
                        </m:dPr>
                        <m:e>
                          <m:r>
                            <a:rPr kumimoji="0" lang="en-US" altLang="el-GR" sz="1400" b="0" i="0" u="none" strike="noStrike" cap="none" normalizeH="0" baseline="0" dirty="0" smtClean="0">
                              <a:ln>
                                <a:noFill/>
                              </a:ln>
                              <a:solidFill>
                                <a:schemeClr val="tx1"/>
                              </a:solidFill>
                              <a:effectLst/>
                              <a:latin typeface="Cambria Math" panose="02040503050406030204" pitchFamily="18" charset="0"/>
                            </a:rPr>
                            <m:t>0,1</m:t>
                          </m:r>
                        </m:e>
                      </m:d>
                      <m:r>
                        <a:rPr kumimoji="0" lang="en-US"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n-US" altLang="el-GR" sz="1400" b="0" i="0" u="none" strike="noStrike" cap="none" normalizeH="0" baseline="0" dirty="0" smtClean="0">
                          <a:ln>
                            <a:noFill/>
                          </a:ln>
                          <a:solidFill>
                            <a:schemeClr val="tx1"/>
                          </a:solidFill>
                          <a:effectLst/>
                          <a:latin typeface="Cambria Math" panose="02040503050406030204" pitchFamily="18" charset="0"/>
                        </a:rPr>
                        <m:t>t</m:t>
                      </m:r>
                      <m:r>
                        <a:rPr kumimoji="0" lang="en-US"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r>
                        <a:rPr kumimoji="0" lang="el-GR" altLang="el-GR" sz="1400" b="0" i="0" u="none" strike="noStrike" cap="none" normalizeH="0" baseline="0" dirty="0" smtClean="0">
                          <a:ln>
                            <a:noFill/>
                          </a:ln>
                          <a:solidFill>
                            <a:schemeClr val="tx1"/>
                          </a:solidFill>
                          <a:effectLst/>
                          <a:latin typeface="Cambria Math" panose="02040503050406030204" pitchFamily="18" charset="0"/>
                        </a:rPr>
                        <m:t>0≤</m:t>
                      </m:r>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1" u="none" strike="noStrike" cap="none" normalizeH="0" baseline="0" dirty="0" smtClean="0">
                              <a:ln>
                                <a:noFill/>
                              </a:ln>
                              <a:solidFill>
                                <a:schemeClr val="tx1"/>
                              </a:solidFill>
                              <a:effectLst/>
                              <a:latin typeface="Cambria Math" panose="02040503050406030204" pitchFamily="18" charset="0"/>
                            </a:rPr>
                          </m:ctrlPr>
                        </m:sSubPr>
                        <m:e>
                          <m:bar>
                            <m:barPr>
                              <m:pos m:val="top"/>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bar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ba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L</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U</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r>
                  <a:rPr lang="el-GR" sz="1400" dirty="0" err="1"/>
                  <a:t>Segment-wise</a:t>
                </a:r>
                <a:r>
                  <a:rPr lang="el-GR" sz="1400" dirty="0"/>
                  <a:t> </a:t>
                </a:r>
                <a:r>
                  <a:rPr lang="el-GR" sz="1400" dirty="0" err="1"/>
                  <a:t>McCormick</a:t>
                </a:r>
                <a:r>
                  <a:rPr lang="el-GR" sz="1400" dirty="0"/>
                  <a:t> </a:t>
                </a:r>
                <a:r>
                  <a:rPr lang="el-GR" sz="1400" dirty="0" err="1"/>
                  <a:t>envelope</a:t>
                </a:r>
                <a:r>
                  <a:rPr lang="en-US" sz="1400" dirty="0"/>
                  <a:t> (since </a:t>
                </a:r>
                <a14:m>
                  <m:oMath xmlns:m="http://schemas.openxmlformats.org/officeDocument/2006/math">
                    <m:sSub>
                      <m:sSubPr>
                        <m:ctrlPr>
                          <a:rPr lang="en-US" sz="1400" b="0" i="1" smtClean="0">
                            <a:latin typeface="Cambria Math" panose="02040503050406030204" pitchFamily="18" charset="0"/>
                          </a:rPr>
                        </m:ctrlPr>
                      </m:sSubPr>
                      <m:e>
                        <m:r>
                          <m:rPr>
                            <m:sty m:val="p"/>
                          </m:rPr>
                          <a:rPr lang="en-US" sz="1400" b="0" i="1" smtClean="0">
                            <a:latin typeface="Cambria Math" panose="02040503050406030204" pitchFamily="18" charset="0"/>
                          </a:rPr>
                          <m:t>Q</m:t>
                        </m:r>
                      </m:e>
                      <m:sub>
                        <m:r>
                          <m:rPr>
                            <m:sty m:val="p"/>
                          </m:rPr>
                          <a:rPr lang="en-US" sz="1400" b="0" i="1" smtClean="0">
                            <a:latin typeface="Cambria Math" panose="02040503050406030204" pitchFamily="18" charset="0"/>
                          </a:rPr>
                          <m:t>LB</m:t>
                        </m:r>
                      </m:sub>
                    </m:sSub>
                    <m:r>
                      <a:rPr lang="en-US" sz="1400" b="0" i="1" smtClean="0">
                        <a:latin typeface="Cambria Math" panose="02040503050406030204" pitchFamily="18" charset="0"/>
                      </a:rPr>
                      <m:t>=0)</m:t>
                    </m:r>
                  </m:oMath>
                </a14:m>
                <a:endParaRPr lang="en-US" sz="1400" dirty="0"/>
              </a:p>
              <a:p>
                <a:pPr marL="0" indent="0" eaLnBrk="0" fontAlgn="base" hangingPunct="0">
                  <a:spcBef>
                    <a:spcPct val="0"/>
                  </a:spcBef>
                  <a:spcAft>
                    <a:spcPct val="0"/>
                  </a:spcAft>
                  <a:buClrTx/>
                  <a:buSzTx/>
                  <a:buNone/>
                </a:pPr>
                <a14:m>
                  <m:oMathPara xmlns:m="http://schemas.openxmlformats.org/officeDocument/2006/math">
                    <m:oMath>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z</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L</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z</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1" u="none" strike="noStrike" cap="none" normalizeH="0" baseline="0" dirty="0" smtClean="0">
                              <a:ln>
                                <a:noFill/>
                              </a:ln>
                              <a:solidFill>
                                <a:schemeClr val="tx1"/>
                              </a:solidFill>
                              <a:effectLst/>
                              <a:latin typeface="Cambria Math" panose="02040503050406030204" pitchFamily="18" charset="0"/>
                            </a:rPr>
                          </m:ctrlPr>
                        </m:sSubPr>
                        <m:e>
                          <m:bar>
                            <m:barPr>
                              <m:pos m:val="top"/>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bar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ba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sub>
                      </m:sSub>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U</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1" u="none" strike="noStrike" cap="none" normalizeH="0" baseline="0" dirty="0" smtClean="0">
                              <a:ln>
                                <a:noFill/>
                              </a:ln>
                              <a:solidFill>
                                <a:schemeClr val="tx1"/>
                              </a:solidFill>
                              <a:effectLst/>
                              <a:latin typeface="Cambria Math" panose="02040503050406030204" pitchFamily="18" charset="0"/>
                            </a:rPr>
                          </m:ctrlPr>
                        </m:sSubPr>
                        <m:e>
                          <m:bar>
                            <m:barPr>
                              <m:pos m:val="top"/>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bar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ba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sub>
                      </m:sSub>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U</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z</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1" u="none" strike="noStrike" cap="none" normalizeH="0" baseline="0" dirty="0" smtClean="0">
                              <a:ln>
                                <a:noFill/>
                              </a:ln>
                              <a:solidFill>
                                <a:schemeClr val="tx1"/>
                              </a:solidFill>
                              <a:effectLst/>
                              <a:latin typeface="Cambria Math" panose="02040503050406030204" pitchFamily="18" charset="0"/>
                            </a:rPr>
                          </m:ctrlPr>
                        </m:sSubPr>
                        <m:e>
                          <m:bar>
                            <m:barPr>
                              <m:pos m:val="top"/>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bar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ba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sub>
                      </m:sSub>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L</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
                        <m:sSubPr>
                          <m:ctrlPr>
                            <a:rPr kumimoji="0" lang="el-GR" altLang="el-GR" sz="1400" b="0" i="1" u="none" strike="noStrike" cap="none" normalizeH="0" baseline="0" dirty="0" smtClean="0">
                              <a:ln>
                                <a:noFill/>
                              </a:ln>
                              <a:solidFill>
                                <a:schemeClr val="tx1"/>
                              </a:solidFill>
                              <a:effectLst/>
                              <a:latin typeface="Cambria Math" panose="02040503050406030204" pitchFamily="18" charset="0"/>
                            </a:rPr>
                          </m:ctrlPr>
                        </m:sSubPr>
                        <m:e>
                          <m:bar>
                            <m:barPr>
                              <m:pos m:val="top"/>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bar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ba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sub>
                      </m:sSub>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L</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y</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n-US" altLang="el-GR" sz="1400" b="0" u="none" strike="noStrike" cap="none" normalizeH="0" baseline="0" dirty="0">
                  <a:ln>
                    <a:noFill/>
                  </a:ln>
                  <a:solidFill>
                    <a:schemeClr val="tx1"/>
                  </a:solidFill>
                  <a:effectLst/>
                </a:endParaRPr>
              </a:p>
              <a:p>
                <a:pPr marL="0" indent="0" eaLnBrk="0" fontAlgn="base" hangingPunct="0">
                  <a:spcBef>
                    <a:spcPct val="0"/>
                  </a:spcBef>
                  <a:spcAft>
                    <a:spcPct val="0"/>
                  </a:spcAft>
                  <a:buClrTx/>
                  <a:buSzTx/>
                  <a:buNone/>
                </a:pPr>
                <a14:m>
                  <m:oMathPara xmlns:m="http://schemas.openxmlformats.org/officeDocument/2006/math">
                    <m:oMath>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z</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sSubSup>
                        <m:sSubSup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Sup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evap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up>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U</m:t>
                          </m:r>
                        </m:sup>
                      </m:sSubSup>
                      <m:sSub>
                        <m:sSubPr>
                          <m:ctrlPr>
                            <a:rPr kumimoji="0" lang="el-GR" altLang="el-GR" sz="1400" b="0" i="0" u="none" strike="noStrike" cap="none" normalizeH="0" baseline="0" dirty="0" smtClean="0">
                              <a:ln>
                                <a:noFill/>
                              </a:ln>
                              <a:solidFill>
                                <a:schemeClr val="tx1"/>
                              </a:solidFill>
                              <a:effectLst/>
                              <a:latin typeface="Cambria Math" panose="02040503050406030204" pitchFamily="18" charset="0"/>
                            </a:rPr>
                          </m:ctrlPr>
                        </m:sSubPr>
                        <m:e>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Q</m:t>
                          </m:r>
                        </m:e>
                        <m:sub>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hp</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sub>
                      </m:sSub>
                      <m:r>
                        <a:rPr kumimoji="0" lang="el-GR" altLang="el-GR" sz="1400" b="0" i="0" u="none" strike="noStrike" cap="none" normalizeH="0" baseline="0" dirty="0" smtClean="0">
                          <a:ln>
                            <a:noFill/>
                          </a:ln>
                          <a:solidFill>
                            <a:schemeClr val="tx1"/>
                          </a:solidFill>
                          <a:effectLst/>
                          <a:latin typeface="Cambria Math" panose="02040503050406030204" pitchFamily="18" charset="0"/>
                        </a:rPr>
                        <m:t>,  ∀</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t</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r>
                        <m:rPr>
                          <m:sty m:val="p"/>
                        </m:rPr>
                        <a:rPr kumimoji="0" lang="el-GR" altLang="el-GR" sz="1400" b="0" i="0" u="none" strike="noStrike" cap="none" normalizeH="0" baseline="0" dirty="0" smtClean="0">
                          <a:ln>
                            <a:noFill/>
                          </a:ln>
                          <a:solidFill>
                            <a:schemeClr val="tx1"/>
                          </a:solidFill>
                          <a:effectLst/>
                          <a:latin typeface="Cambria Math" panose="02040503050406030204" pitchFamily="18" charset="0"/>
                        </a:rPr>
                        <m:t>s</m:t>
                      </m:r>
                      <m:r>
                        <a:rPr kumimoji="0" lang="el-GR" altLang="el-GR" sz="1400" b="0" i="0" u="none" strike="noStrike" cap="none" normalizeH="0" baseline="0" dirty="0" smtClean="0">
                          <a:ln>
                            <a:noFill/>
                          </a:ln>
                          <a:solidFill>
                            <a:schemeClr val="tx1"/>
                          </a:solidFill>
                          <a:effectLst/>
                          <a:latin typeface="Cambria Math" panose="02040503050406030204" pitchFamily="18" charset="0"/>
                        </a:rPr>
                        <m:t>.</m:t>
                      </m:r>
                    </m:oMath>
                  </m:oMathPara>
                </a14:m>
                <a:endParaRPr kumimoji="0" lang="el-GR" altLang="el-GR" sz="1400" b="0" u="none" strike="noStrike" cap="none" normalizeH="0" baseline="0" dirty="0">
                  <a:ln>
                    <a:noFill/>
                  </a:ln>
                  <a:solidFill>
                    <a:schemeClr val="tx1"/>
                  </a:solidFill>
                  <a:effectLst/>
                </a:endParaRPr>
              </a:p>
            </p:txBody>
          </p:sp>
        </mc:Choice>
        <mc:Fallback xmlns="">
          <p:sp>
            <p:nvSpPr>
              <p:cNvPr id="5" name="Rectangle 2">
                <a:extLst>
                  <a:ext uri="{FF2B5EF4-FFF2-40B4-BE49-F238E27FC236}">
                    <a16:creationId xmlns:a16="http://schemas.microsoft.com/office/drawing/2014/main" id="{3BADA6E2-D34E-2E2A-F45B-63080FCB866C}"/>
                  </a:ext>
                </a:extLst>
              </p:cNvPr>
              <p:cNvSpPr>
                <a:spLocks noGrp="1" noRot="1" noChangeAspect="1" noMove="1" noResize="1" noEditPoints="1" noAdjustHandles="1" noChangeArrowheads="1" noChangeShapeType="1" noTextEdit="1"/>
              </p:cNvSpPr>
              <p:nvPr>
                <p:ph idx="1"/>
              </p:nvPr>
            </p:nvSpPr>
            <p:spPr bwMode="auto">
              <a:xfrm>
                <a:off x="570384" y="819591"/>
                <a:ext cx="6275040" cy="5468741"/>
              </a:xfrm>
              <a:prstGeom prst="rect">
                <a:avLst/>
              </a:prstGeom>
              <a:blipFill>
                <a:blip r:embed="rId2"/>
                <a:stretch>
                  <a:fillRect l="-1749" b="-100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
        <p:nvSpPr>
          <p:cNvPr id="3" name="TextBox 2">
            <a:extLst>
              <a:ext uri="{FF2B5EF4-FFF2-40B4-BE49-F238E27FC236}">
                <a16:creationId xmlns:a16="http://schemas.microsoft.com/office/drawing/2014/main" id="{4EC9C055-A800-1DA7-EBE6-CD49B0459B21}"/>
              </a:ext>
            </a:extLst>
          </p:cNvPr>
          <p:cNvSpPr txBox="1"/>
          <p:nvPr/>
        </p:nvSpPr>
        <p:spPr>
          <a:xfrm>
            <a:off x="-31576" y="6609784"/>
            <a:ext cx="5115503" cy="215444"/>
          </a:xfrm>
          <a:prstGeom prst="rect">
            <a:avLst/>
          </a:prstGeom>
          <a:noFill/>
        </p:spPr>
        <p:txBody>
          <a:bodyPr wrap="none" rtlCol="0">
            <a:spAutoFit/>
          </a:bodyPr>
          <a:lstStyle/>
          <a:p>
            <a:r>
              <a:rPr lang="en-US" sz="800" dirty="0"/>
              <a:t>[12] McCormick envelopes - </a:t>
            </a:r>
            <a:r>
              <a:rPr lang="en-US" sz="800" dirty="0" err="1"/>
              <a:t>cornell</a:t>
            </a:r>
            <a:r>
              <a:rPr lang="en-US" sz="800" dirty="0"/>
              <a:t> university computational optimization open textbook- optimization wiki.</a:t>
            </a:r>
            <a:endParaRPr lang="el-GR" sz="800" dirty="0"/>
          </a:p>
        </p:txBody>
      </p:sp>
      <p:sp>
        <p:nvSpPr>
          <p:cNvPr id="4" name="Slide Number Placeholder 3">
            <a:extLst>
              <a:ext uri="{FF2B5EF4-FFF2-40B4-BE49-F238E27FC236}">
                <a16:creationId xmlns:a16="http://schemas.microsoft.com/office/drawing/2014/main" id="{41D80E1F-7624-ACCB-2561-EB8494815AC9}"/>
              </a:ext>
            </a:extLst>
          </p:cNvPr>
          <p:cNvSpPr>
            <a:spLocks noGrp="1"/>
          </p:cNvSpPr>
          <p:nvPr>
            <p:ph type="sldNum" sz="quarter" idx="4"/>
          </p:nvPr>
        </p:nvSpPr>
        <p:spPr/>
        <p:txBody>
          <a:bodyPr/>
          <a:lstStyle/>
          <a:p>
            <a:fld id="{CC7E3F2E-5E17-4E15-9E32-D4A7BBAEA187}" type="slidenum">
              <a:rPr lang="el-GR" smtClean="0"/>
              <a:t>20</a:t>
            </a:fld>
            <a:endParaRPr lang="el-GR"/>
          </a:p>
        </p:txBody>
      </p:sp>
    </p:spTree>
    <p:extLst>
      <p:ext uri="{BB962C8B-B14F-4D97-AF65-F5344CB8AC3E}">
        <p14:creationId xmlns:p14="http://schemas.microsoft.com/office/powerpoint/2010/main" val="2459286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B516-F908-5B7C-19C8-0485E2B64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877D3-BB98-8B37-F08D-9552C6B46BBC}"/>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Verification </a:t>
            </a:r>
            <a:endParaRPr lang="el-GR" i="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20A67EC4-642F-DDB9-2BA5-3460F260AE59}"/>
              </a:ext>
            </a:extLst>
          </p:cNvPr>
          <p:cNvSpPr>
            <a:spLocks noGrp="1"/>
          </p:cNvSpPr>
          <p:nvPr>
            <p:ph type="sldNum" sz="quarter" idx="4"/>
          </p:nvPr>
        </p:nvSpPr>
        <p:spPr/>
        <p:txBody>
          <a:bodyPr/>
          <a:lstStyle/>
          <a:p>
            <a:fld id="{CC7E3F2E-5E17-4E15-9E32-D4A7BBAEA187}" type="slidenum">
              <a:rPr lang="el-GR" smtClean="0"/>
              <a:t>21</a:t>
            </a:fld>
            <a:endParaRPr lang="el-GR"/>
          </a:p>
        </p:txBody>
      </p:sp>
      <p:pic>
        <p:nvPicPr>
          <p:cNvPr id="5" name="Picture 4">
            <a:extLst>
              <a:ext uri="{FF2B5EF4-FFF2-40B4-BE49-F238E27FC236}">
                <a16:creationId xmlns:a16="http://schemas.microsoft.com/office/drawing/2014/main" id="{3C198AC6-B4F0-7729-8F2A-7531C55B57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84784"/>
            <a:ext cx="9144000" cy="4104456"/>
          </a:xfrm>
          <a:prstGeom prst="rect">
            <a:avLst/>
          </a:prstGeom>
        </p:spPr>
      </p:pic>
    </p:spTree>
    <p:extLst>
      <p:ext uri="{BB962C8B-B14F-4D97-AF65-F5344CB8AC3E}">
        <p14:creationId xmlns:p14="http://schemas.microsoft.com/office/powerpoint/2010/main" val="1280561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CAF1B-B6EC-FC68-F1BF-5A5F26852197}"/>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Verification</a:t>
            </a:r>
            <a:endParaRPr lang="el-GR" i="1"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B7620D24-2E07-307C-C70C-4E95709AD9EA}"/>
              </a:ext>
            </a:extLst>
          </p:cNvPr>
          <p:cNvGraphicFramePr>
            <a:graphicFrameLocks noGrp="1"/>
          </p:cNvGraphicFramePr>
          <p:nvPr>
            <p:ph idx="1"/>
            <p:extLst>
              <p:ext uri="{D42A27DB-BD31-4B8C-83A1-F6EECF244321}">
                <p14:modId xmlns:p14="http://schemas.microsoft.com/office/powerpoint/2010/main" val="3813246679"/>
              </p:ext>
            </p:extLst>
          </p:nvPr>
        </p:nvGraphicFramePr>
        <p:xfrm>
          <a:off x="457200" y="1600200"/>
          <a:ext cx="8229600" cy="4312920"/>
        </p:xfrm>
        <a:graphic>
          <a:graphicData uri="http://schemas.openxmlformats.org/drawingml/2006/table">
            <a:tbl>
              <a:tblPr firstRow="1" bandRow="1">
                <a:tableStyleId>{00A15C55-8517-42AA-B614-E9B94910E393}</a:tableStyleId>
              </a:tblPr>
              <a:tblGrid>
                <a:gridCol w="2743200">
                  <a:extLst>
                    <a:ext uri="{9D8B030D-6E8A-4147-A177-3AD203B41FA5}">
                      <a16:colId xmlns:a16="http://schemas.microsoft.com/office/drawing/2014/main" val="1258123729"/>
                    </a:ext>
                  </a:extLst>
                </a:gridCol>
                <a:gridCol w="2743200">
                  <a:extLst>
                    <a:ext uri="{9D8B030D-6E8A-4147-A177-3AD203B41FA5}">
                      <a16:colId xmlns:a16="http://schemas.microsoft.com/office/drawing/2014/main" val="2170238384"/>
                    </a:ext>
                  </a:extLst>
                </a:gridCol>
                <a:gridCol w="2743200">
                  <a:extLst>
                    <a:ext uri="{9D8B030D-6E8A-4147-A177-3AD203B41FA5}">
                      <a16:colId xmlns:a16="http://schemas.microsoft.com/office/drawing/2014/main" val="3242672599"/>
                    </a:ext>
                  </a:extLst>
                </a:gridCol>
              </a:tblGrid>
              <a:tr h="370840">
                <a:tc>
                  <a:txBody>
                    <a:bodyPr/>
                    <a:lstStyle/>
                    <a:p>
                      <a:pPr>
                        <a:buNone/>
                      </a:pPr>
                      <a:r>
                        <a:rPr lang="el-GR" b="1" dirty="0" err="1"/>
                        <a:t>Quantity</a:t>
                      </a:r>
                      <a:endParaRPr lang="el-GR" dirty="0"/>
                    </a:p>
                  </a:txBody>
                  <a:tcPr anchor="ctr"/>
                </a:tc>
                <a:tc>
                  <a:txBody>
                    <a:bodyPr/>
                    <a:lstStyle/>
                    <a:p>
                      <a:pPr>
                        <a:buNone/>
                      </a:pPr>
                      <a:r>
                        <a:rPr lang="el-GR" b="1" dirty="0" err="1"/>
                        <a:t>Charging</a:t>
                      </a:r>
                      <a:r>
                        <a:rPr lang="el-GR" b="1" dirty="0"/>
                        <a:t>: </a:t>
                      </a:r>
                      <a:r>
                        <a:rPr lang="el-GR" b="1" dirty="0" err="1"/>
                        <a:t>condenser</a:t>
                      </a:r>
                      <a:endParaRPr lang="el-GR" dirty="0"/>
                    </a:p>
                  </a:txBody>
                  <a:tcPr anchor="ctr"/>
                </a:tc>
                <a:tc>
                  <a:txBody>
                    <a:bodyPr/>
                    <a:lstStyle/>
                    <a:p>
                      <a:pPr>
                        <a:buNone/>
                      </a:pPr>
                      <a:r>
                        <a:rPr lang="el-GR" b="1"/>
                        <a:t>Discharging: evaporator</a:t>
                      </a:r>
                      <a:endParaRPr lang="el-GR"/>
                    </a:p>
                  </a:txBody>
                  <a:tcPr anchor="ctr"/>
                </a:tc>
                <a:extLst>
                  <a:ext uri="{0D108BD9-81ED-4DB2-BD59-A6C34878D82A}">
                    <a16:rowId xmlns:a16="http://schemas.microsoft.com/office/drawing/2014/main" val="3680077738"/>
                  </a:ext>
                </a:extLst>
              </a:tr>
              <a:tr h="370840">
                <a:tc>
                  <a:txBody>
                    <a:bodyPr/>
                    <a:lstStyle/>
                    <a:p>
                      <a:pPr>
                        <a:buNone/>
                      </a:pPr>
                      <a:r>
                        <a:rPr lang="el-GR"/>
                        <a:t>Mean MINLP temperature [°C]</a:t>
                      </a:r>
                    </a:p>
                  </a:txBody>
                  <a:tcPr anchor="ctr"/>
                </a:tc>
                <a:tc>
                  <a:txBody>
                    <a:bodyPr/>
                    <a:lstStyle/>
                    <a:p>
                      <a:pPr>
                        <a:buNone/>
                      </a:pPr>
                      <a:r>
                        <a:rPr lang="el-GR"/>
                        <a:t>29.926</a:t>
                      </a:r>
                    </a:p>
                  </a:txBody>
                  <a:tcPr anchor="ctr"/>
                </a:tc>
                <a:tc>
                  <a:txBody>
                    <a:bodyPr/>
                    <a:lstStyle/>
                    <a:p>
                      <a:pPr>
                        <a:buNone/>
                      </a:pPr>
                      <a:r>
                        <a:rPr lang="el-GR"/>
                        <a:t>10.868</a:t>
                      </a:r>
                    </a:p>
                  </a:txBody>
                  <a:tcPr anchor="ctr"/>
                </a:tc>
                <a:extLst>
                  <a:ext uri="{0D108BD9-81ED-4DB2-BD59-A6C34878D82A}">
                    <a16:rowId xmlns:a16="http://schemas.microsoft.com/office/drawing/2014/main" val="2744979055"/>
                  </a:ext>
                </a:extLst>
              </a:tr>
              <a:tr h="370840">
                <a:tc>
                  <a:txBody>
                    <a:bodyPr/>
                    <a:lstStyle/>
                    <a:p>
                      <a:pPr>
                        <a:buNone/>
                      </a:pPr>
                      <a:r>
                        <a:rPr lang="el-GR"/>
                        <a:t>Mean Modelica temperature [°C]</a:t>
                      </a:r>
                    </a:p>
                  </a:txBody>
                  <a:tcPr anchor="ctr"/>
                </a:tc>
                <a:tc>
                  <a:txBody>
                    <a:bodyPr/>
                    <a:lstStyle/>
                    <a:p>
                      <a:pPr>
                        <a:buNone/>
                      </a:pPr>
                      <a:r>
                        <a:rPr lang="el-GR"/>
                        <a:t>31.315</a:t>
                      </a:r>
                    </a:p>
                  </a:txBody>
                  <a:tcPr anchor="ctr"/>
                </a:tc>
                <a:tc>
                  <a:txBody>
                    <a:bodyPr/>
                    <a:lstStyle/>
                    <a:p>
                      <a:pPr>
                        <a:buNone/>
                      </a:pPr>
                      <a:r>
                        <a:rPr lang="el-GR"/>
                        <a:t>9.936</a:t>
                      </a:r>
                    </a:p>
                  </a:txBody>
                  <a:tcPr anchor="ctr"/>
                </a:tc>
                <a:extLst>
                  <a:ext uri="{0D108BD9-81ED-4DB2-BD59-A6C34878D82A}">
                    <a16:rowId xmlns:a16="http://schemas.microsoft.com/office/drawing/2014/main" val="2171574468"/>
                  </a:ext>
                </a:extLst>
              </a:tr>
              <a:tr h="370840">
                <a:tc>
                  <a:txBody>
                    <a:bodyPr/>
                    <a:lstStyle/>
                    <a:p>
                      <a:pPr>
                        <a:buNone/>
                      </a:pPr>
                      <a:r>
                        <a:rPr lang="el-GR"/>
                        <a:t>Mean bias error [K]</a:t>
                      </a:r>
                    </a:p>
                  </a:txBody>
                  <a:tcPr anchor="ctr"/>
                </a:tc>
                <a:tc>
                  <a:txBody>
                    <a:bodyPr/>
                    <a:lstStyle/>
                    <a:p>
                      <a:pPr>
                        <a:buNone/>
                      </a:pPr>
                      <a:r>
                        <a:rPr lang="el-GR" dirty="0"/>
                        <a:t>-1.389</a:t>
                      </a:r>
                    </a:p>
                  </a:txBody>
                  <a:tcPr anchor="ctr"/>
                </a:tc>
                <a:tc>
                  <a:txBody>
                    <a:bodyPr/>
                    <a:lstStyle/>
                    <a:p>
                      <a:pPr>
                        <a:buNone/>
                      </a:pPr>
                      <a:r>
                        <a:rPr lang="el-GR"/>
                        <a:t>0.932</a:t>
                      </a:r>
                    </a:p>
                  </a:txBody>
                  <a:tcPr anchor="ctr"/>
                </a:tc>
                <a:extLst>
                  <a:ext uri="{0D108BD9-81ED-4DB2-BD59-A6C34878D82A}">
                    <a16:rowId xmlns:a16="http://schemas.microsoft.com/office/drawing/2014/main" val="242454478"/>
                  </a:ext>
                </a:extLst>
              </a:tr>
              <a:tr h="370840">
                <a:tc>
                  <a:txBody>
                    <a:bodyPr/>
                    <a:lstStyle/>
                    <a:p>
                      <a:pPr>
                        <a:buNone/>
                      </a:pPr>
                      <a:r>
                        <a:rPr lang="el-GR"/>
                        <a:t>Median error [K]</a:t>
                      </a:r>
                    </a:p>
                  </a:txBody>
                  <a:tcPr anchor="ctr"/>
                </a:tc>
                <a:tc>
                  <a:txBody>
                    <a:bodyPr/>
                    <a:lstStyle/>
                    <a:p>
                      <a:pPr>
                        <a:buNone/>
                      </a:pPr>
                      <a:r>
                        <a:rPr lang="el-GR"/>
                        <a:t>-2.307</a:t>
                      </a:r>
                    </a:p>
                  </a:txBody>
                  <a:tcPr anchor="ctr"/>
                </a:tc>
                <a:tc>
                  <a:txBody>
                    <a:bodyPr/>
                    <a:lstStyle/>
                    <a:p>
                      <a:pPr>
                        <a:buNone/>
                      </a:pPr>
                      <a:r>
                        <a:rPr lang="el-GR"/>
                        <a:t>1.796</a:t>
                      </a:r>
                    </a:p>
                  </a:txBody>
                  <a:tcPr anchor="ctr"/>
                </a:tc>
                <a:extLst>
                  <a:ext uri="{0D108BD9-81ED-4DB2-BD59-A6C34878D82A}">
                    <a16:rowId xmlns:a16="http://schemas.microsoft.com/office/drawing/2014/main" val="1112035075"/>
                  </a:ext>
                </a:extLst>
              </a:tr>
              <a:tr h="370840">
                <a:tc>
                  <a:txBody>
                    <a:bodyPr/>
                    <a:lstStyle/>
                    <a:p>
                      <a:pPr>
                        <a:buNone/>
                      </a:pPr>
                      <a:r>
                        <a:rPr lang="el-GR"/>
                        <a:t>Mean absolute error [K]</a:t>
                      </a:r>
                    </a:p>
                  </a:txBody>
                  <a:tcPr anchor="ctr"/>
                </a:tc>
                <a:tc>
                  <a:txBody>
                    <a:bodyPr/>
                    <a:lstStyle/>
                    <a:p>
                      <a:pPr>
                        <a:buNone/>
                      </a:pPr>
                      <a:r>
                        <a:rPr lang="el-GR"/>
                        <a:t>2.141</a:t>
                      </a:r>
                    </a:p>
                  </a:txBody>
                  <a:tcPr anchor="ctr"/>
                </a:tc>
                <a:tc>
                  <a:txBody>
                    <a:bodyPr/>
                    <a:lstStyle/>
                    <a:p>
                      <a:pPr>
                        <a:buNone/>
                      </a:pPr>
                      <a:r>
                        <a:rPr lang="el-GR"/>
                        <a:t>2.885</a:t>
                      </a:r>
                    </a:p>
                  </a:txBody>
                  <a:tcPr anchor="ctr"/>
                </a:tc>
                <a:extLst>
                  <a:ext uri="{0D108BD9-81ED-4DB2-BD59-A6C34878D82A}">
                    <a16:rowId xmlns:a16="http://schemas.microsoft.com/office/drawing/2014/main" val="1029839225"/>
                  </a:ext>
                </a:extLst>
              </a:tr>
              <a:tr h="370840">
                <a:tc>
                  <a:txBody>
                    <a:bodyPr/>
                    <a:lstStyle/>
                    <a:p>
                      <a:pPr>
                        <a:buNone/>
                      </a:pPr>
                      <a:r>
                        <a:rPr lang="el-GR"/>
                        <a:t>Root-mean-square error [K]</a:t>
                      </a:r>
                    </a:p>
                  </a:txBody>
                  <a:tcPr anchor="ctr"/>
                </a:tc>
                <a:tc>
                  <a:txBody>
                    <a:bodyPr/>
                    <a:lstStyle/>
                    <a:p>
                      <a:pPr>
                        <a:buNone/>
                      </a:pPr>
                      <a:r>
                        <a:rPr lang="el-GR"/>
                        <a:t>2.406</a:t>
                      </a:r>
                    </a:p>
                  </a:txBody>
                  <a:tcPr anchor="ctr"/>
                </a:tc>
                <a:tc>
                  <a:txBody>
                    <a:bodyPr/>
                    <a:lstStyle/>
                    <a:p>
                      <a:pPr>
                        <a:buNone/>
                      </a:pPr>
                      <a:r>
                        <a:rPr lang="el-GR"/>
                        <a:t>3.217</a:t>
                      </a:r>
                    </a:p>
                  </a:txBody>
                  <a:tcPr anchor="ctr"/>
                </a:tc>
                <a:extLst>
                  <a:ext uri="{0D108BD9-81ED-4DB2-BD59-A6C34878D82A}">
                    <a16:rowId xmlns:a16="http://schemas.microsoft.com/office/drawing/2014/main" val="104345738"/>
                  </a:ext>
                </a:extLst>
              </a:tr>
              <a:tr h="370840">
                <a:tc>
                  <a:txBody>
                    <a:bodyPr/>
                    <a:lstStyle/>
                    <a:p>
                      <a:pPr>
                        <a:buNone/>
                      </a:pPr>
                      <a:r>
                        <a:rPr lang="el-GR"/>
                        <a:t>Maximum absolute error [K]</a:t>
                      </a:r>
                    </a:p>
                  </a:txBody>
                  <a:tcPr anchor="ctr"/>
                </a:tc>
                <a:tc>
                  <a:txBody>
                    <a:bodyPr/>
                    <a:lstStyle/>
                    <a:p>
                      <a:pPr>
                        <a:buNone/>
                      </a:pPr>
                      <a:r>
                        <a:rPr lang="el-GR"/>
                        <a:t>3.543</a:t>
                      </a:r>
                    </a:p>
                  </a:txBody>
                  <a:tcPr anchor="ctr"/>
                </a:tc>
                <a:tc>
                  <a:txBody>
                    <a:bodyPr/>
                    <a:lstStyle/>
                    <a:p>
                      <a:pPr>
                        <a:buNone/>
                      </a:pPr>
                      <a:r>
                        <a:rPr lang="el-GR" dirty="0"/>
                        <a:t>8.213</a:t>
                      </a:r>
                    </a:p>
                  </a:txBody>
                  <a:tcPr anchor="ctr"/>
                </a:tc>
                <a:extLst>
                  <a:ext uri="{0D108BD9-81ED-4DB2-BD59-A6C34878D82A}">
                    <a16:rowId xmlns:a16="http://schemas.microsoft.com/office/drawing/2014/main" val="3453465"/>
                  </a:ext>
                </a:extLst>
              </a:tr>
            </a:tbl>
          </a:graphicData>
        </a:graphic>
      </p:graphicFrame>
      <p:sp>
        <p:nvSpPr>
          <p:cNvPr id="3" name="Slide Number Placeholder 2">
            <a:extLst>
              <a:ext uri="{FF2B5EF4-FFF2-40B4-BE49-F238E27FC236}">
                <a16:creationId xmlns:a16="http://schemas.microsoft.com/office/drawing/2014/main" id="{5DF57415-D4FC-A5F6-09D2-F9E4D5370DD0}"/>
              </a:ext>
            </a:extLst>
          </p:cNvPr>
          <p:cNvSpPr>
            <a:spLocks noGrp="1"/>
          </p:cNvSpPr>
          <p:nvPr>
            <p:ph type="sldNum" sz="quarter" idx="4"/>
          </p:nvPr>
        </p:nvSpPr>
        <p:spPr/>
        <p:txBody>
          <a:bodyPr/>
          <a:lstStyle/>
          <a:p>
            <a:fld id="{CC7E3F2E-5E17-4E15-9E32-D4A7BBAEA187}" type="slidenum">
              <a:rPr lang="el-GR" smtClean="0"/>
              <a:t>22</a:t>
            </a:fld>
            <a:endParaRPr lang="el-GR"/>
          </a:p>
        </p:txBody>
      </p:sp>
    </p:spTree>
    <p:extLst>
      <p:ext uri="{BB962C8B-B14F-4D97-AF65-F5344CB8AC3E}">
        <p14:creationId xmlns:p14="http://schemas.microsoft.com/office/powerpoint/2010/main" val="3645545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3524-2424-A8AA-8F55-16E70E5700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3E5A990-3540-0FB5-C647-C6057FDAD1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519" y="1196752"/>
            <a:ext cx="9144000" cy="4464496"/>
          </a:xfrm>
          <a:prstGeom prst="rect">
            <a:avLst/>
          </a:prstGeom>
        </p:spPr>
      </p:pic>
      <p:sp>
        <p:nvSpPr>
          <p:cNvPr id="2" name="Title 1">
            <a:extLst>
              <a:ext uri="{FF2B5EF4-FFF2-40B4-BE49-F238E27FC236}">
                <a16:creationId xmlns:a16="http://schemas.microsoft.com/office/drawing/2014/main" id="{D3AB7ABF-0229-9202-9B72-AEE12A508ECC}"/>
              </a:ext>
            </a:extLst>
          </p:cNvPr>
          <p:cNvSpPr>
            <a:spLocks noGrp="1"/>
          </p:cNvSpPr>
          <p:nvPr>
            <p:ph type="title"/>
          </p:nvPr>
        </p:nvSpPr>
        <p:spPr>
          <a:xfrm>
            <a:off x="457200" y="197768"/>
            <a:ext cx="7139136" cy="1143000"/>
          </a:xfrm>
        </p:spPr>
        <p:txBody>
          <a:bodyPr/>
          <a:lstStyle/>
          <a:p>
            <a:r>
              <a:rPr lang="en-US" i="1" dirty="0">
                <a:effectLst>
                  <a:outerShdw blurRad="38100" dist="38100" dir="2700000" algn="tl">
                    <a:srgbClr val="000000">
                      <a:alpha val="43137"/>
                    </a:srgbClr>
                  </a:outerShdw>
                </a:effectLst>
              </a:rPr>
              <a:t>Operational Strategies</a:t>
            </a:r>
            <a:endParaRPr lang="el-GR" i="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5900AE03-F875-467D-43B8-022785E34C62}"/>
              </a:ext>
            </a:extLst>
          </p:cNvPr>
          <p:cNvSpPr>
            <a:spLocks noGrp="1"/>
          </p:cNvSpPr>
          <p:nvPr>
            <p:ph type="sldNum" sz="quarter" idx="4"/>
          </p:nvPr>
        </p:nvSpPr>
        <p:spPr/>
        <p:txBody>
          <a:bodyPr/>
          <a:lstStyle/>
          <a:p>
            <a:fld id="{CC7E3F2E-5E17-4E15-9E32-D4A7BBAEA187}" type="slidenum">
              <a:rPr lang="el-GR" smtClean="0"/>
              <a:t>23</a:t>
            </a:fld>
            <a:endParaRPr lang="el-GR"/>
          </a:p>
        </p:txBody>
      </p:sp>
    </p:spTree>
    <p:extLst>
      <p:ext uri="{BB962C8B-B14F-4D97-AF65-F5344CB8AC3E}">
        <p14:creationId xmlns:p14="http://schemas.microsoft.com/office/powerpoint/2010/main" val="645132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B0AB2-266C-7E42-F473-91DA147FF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8DE8E-E934-D9F1-55AF-549FD7652017}"/>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Results - Mathematical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Formulations</a:t>
            </a:r>
            <a:endParaRPr lang="el-GR" i="1"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FE1500EF-81B7-DD07-051B-054E2417118F}"/>
              </a:ext>
            </a:extLst>
          </p:cNvPr>
          <p:cNvGraphicFramePr>
            <a:graphicFrameLocks noGrp="1"/>
          </p:cNvGraphicFramePr>
          <p:nvPr>
            <p:ph idx="1"/>
          </p:nvPr>
        </p:nvGraphicFramePr>
        <p:xfrm>
          <a:off x="472680" y="1124744"/>
          <a:ext cx="8229600" cy="3708400"/>
        </p:xfrm>
        <a:graphic>
          <a:graphicData uri="http://schemas.openxmlformats.org/drawingml/2006/table">
            <a:tbl>
              <a:tblPr firstRow="1" bandRow="1">
                <a:tableStyleId>{00A15C55-8517-42AA-B614-E9B94910E393}</a:tableStyleId>
              </a:tblPr>
              <a:tblGrid>
                <a:gridCol w="2155104">
                  <a:extLst>
                    <a:ext uri="{9D8B030D-6E8A-4147-A177-3AD203B41FA5}">
                      <a16:colId xmlns:a16="http://schemas.microsoft.com/office/drawing/2014/main" val="2132700379"/>
                    </a:ext>
                  </a:extLst>
                </a:gridCol>
                <a:gridCol w="1959696">
                  <a:extLst>
                    <a:ext uri="{9D8B030D-6E8A-4147-A177-3AD203B41FA5}">
                      <a16:colId xmlns:a16="http://schemas.microsoft.com/office/drawing/2014/main" val="1932372919"/>
                    </a:ext>
                  </a:extLst>
                </a:gridCol>
                <a:gridCol w="2057400">
                  <a:extLst>
                    <a:ext uri="{9D8B030D-6E8A-4147-A177-3AD203B41FA5}">
                      <a16:colId xmlns:a16="http://schemas.microsoft.com/office/drawing/2014/main" val="1707287827"/>
                    </a:ext>
                  </a:extLst>
                </a:gridCol>
                <a:gridCol w="2057400">
                  <a:extLst>
                    <a:ext uri="{9D8B030D-6E8A-4147-A177-3AD203B41FA5}">
                      <a16:colId xmlns:a16="http://schemas.microsoft.com/office/drawing/2014/main" val="1767179068"/>
                    </a:ext>
                  </a:extLst>
                </a:gridCol>
              </a:tblGrid>
              <a:tr h="370840">
                <a:tc>
                  <a:txBody>
                    <a:bodyPr/>
                    <a:lstStyle/>
                    <a:p>
                      <a:pPr>
                        <a:buNone/>
                      </a:pPr>
                      <a:r>
                        <a:rPr lang="el-GR" dirty="0" err="1"/>
                        <a:t>Technology</a:t>
                      </a:r>
                      <a:endParaRPr lang="el-GR" dirty="0"/>
                    </a:p>
                  </a:txBody>
                  <a:tcPr anchor="ctr"/>
                </a:tc>
                <a:tc>
                  <a:txBody>
                    <a:bodyPr/>
                    <a:lstStyle/>
                    <a:p>
                      <a:pPr algn="ctr">
                        <a:buNone/>
                      </a:pPr>
                      <a:r>
                        <a:rPr lang="en-US" dirty="0"/>
                        <a:t>MINLP</a:t>
                      </a:r>
                      <a:endParaRPr lang="el-GR" dirty="0"/>
                    </a:p>
                  </a:txBody>
                  <a:tcPr anchor="ctr"/>
                </a:tc>
                <a:tc>
                  <a:txBody>
                    <a:bodyPr/>
                    <a:lstStyle/>
                    <a:p>
                      <a:pPr algn="ctr">
                        <a:buNone/>
                      </a:pPr>
                      <a:r>
                        <a:rPr lang="en-US" dirty="0"/>
                        <a:t>3seg. MILP</a:t>
                      </a:r>
                      <a:endParaRPr lang="el-GR" dirty="0"/>
                    </a:p>
                  </a:txBody>
                  <a:tcPr anchor="ctr"/>
                </a:tc>
                <a:tc>
                  <a:txBody>
                    <a:bodyPr/>
                    <a:lstStyle/>
                    <a:p>
                      <a:pPr algn="ctr">
                        <a:buNone/>
                      </a:pPr>
                      <a:r>
                        <a:rPr lang="en-US" dirty="0"/>
                        <a:t>Heuristic</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l-GR">
                          <a:effectLst>
                            <a:outerShdw blurRad="38100" dist="38100" dir="2700000" algn="tl">
                              <a:srgbClr val="000000">
                                <a:alpha val="43137"/>
                              </a:srgbClr>
                            </a:outerShdw>
                          </a:effectLst>
                        </a:rPr>
                        <a:t>Heat Pump (kW)</a:t>
                      </a:r>
                      <a:endParaRPr lang="el-GR" i="1">
                        <a:effectLst>
                          <a:outerShdw blurRad="38100" dist="38100" dir="2700000" algn="tl">
                            <a:srgbClr val="000000">
                              <a:alpha val="43137"/>
                            </a:srgbClr>
                          </a:outerShdw>
                        </a:effectLst>
                      </a:endParaRPr>
                    </a:p>
                  </a:txBody>
                  <a:tcPr anchor="ctr"/>
                </a:tc>
                <a:tc>
                  <a:txBody>
                    <a:bodyPr/>
                    <a:lstStyle/>
                    <a:p>
                      <a:pPr algn="ctr">
                        <a:buNone/>
                      </a:pPr>
                      <a:r>
                        <a:rPr lang="en-US" b="0" dirty="0"/>
                        <a:t>1139</a:t>
                      </a:r>
                      <a:endParaRPr lang="el-GR" b="0" dirty="0"/>
                    </a:p>
                  </a:txBody>
                  <a:tcPr anchor="ctr"/>
                </a:tc>
                <a:tc>
                  <a:txBody>
                    <a:bodyPr/>
                    <a:lstStyle/>
                    <a:p>
                      <a:pPr algn="ctr">
                        <a:buNone/>
                      </a:pPr>
                      <a:r>
                        <a:rPr lang="en-US" b="0" dirty="0"/>
                        <a:t>683</a:t>
                      </a:r>
                      <a:endParaRPr lang="el-GR" b="0" dirty="0"/>
                    </a:p>
                  </a:txBody>
                  <a:tcPr anchor="ctr"/>
                </a:tc>
                <a:tc>
                  <a:txBody>
                    <a:bodyPr/>
                    <a:lstStyle/>
                    <a:p>
                      <a:pPr algn="ctr">
                        <a:buNone/>
                      </a:pPr>
                      <a:r>
                        <a:rPr lang="en-US" b="0" dirty="0"/>
                        <a:t>1341</a:t>
                      </a:r>
                      <a:endParaRPr lang="el-GR" b="0" dirty="0"/>
                    </a:p>
                  </a:txBody>
                  <a:tcPr anchor="ctr"/>
                </a:tc>
                <a:extLst>
                  <a:ext uri="{0D108BD9-81ED-4DB2-BD59-A6C34878D82A}">
                    <a16:rowId xmlns:a16="http://schemas.microsoft.com/office/drawing/2014/main" val="4191835569"/>
                  </a:ext>
                </a:extLst>
              </a:tr>
              <a:tr h="370840">
                <a:tc>
                  <a:txBody>
                    <a:bodyPr/>
                    <a:lstStyle/>
                    <a:p>
                      <a:pPr>
                        <a:buNone/>
                      </a:pPr>
                      <a:r>
                        <a:rPr lang="el-GR" dirty="0" err="1">
                          <a:effectLst>
                            <a:outerShdw blurRad="38100" dist="38100" dir="2700000" algn="tl">
                              <a:srgbClr val="000000">
                                <a:alpha val="43137"/>
                              </a:srgbClr>
                            </a:outerShdw>
                          </a:effectLst>
                        </a:rPr>
                        <a:t>Boiler</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kW</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1738</a:t>
                      </a:r>
                      <a:endParaRPr lang="el-GR" b="0" dirty="0"/>
                    </a:p>
                  </a:txBody>
                  <a:tcPr anchor="ctr"/>
                </a:tc>
                <a:tc>
                  <a:txBody>
                    <a:bodyPr/>
                    <a:lstStyle/>
                    <a:p>
                      <a:pPr algn="ctr">
                        <a:buNone/>
                      </a:pPr>
                      <a:r>
                        <a:rPr lang="en-US" b="0" dirty="0"/>
                        <a:t>1589</a:t>
                      </a:r>
                      <a:endParaRPr lang="el-GR" b="0" dirty="0"/>
                    </a:p>
                  </a:txBody>
                  <a:tcPr anchor="ctr"/>
                </a:tc>
                <a:tc>
                  <a:txBody>
                    <a:bodyPr/>
                    <a:lstStyle/>
                    <a:p>
                      <a:pPr algn="ctr">
                        <a:buNone/>
                      </a:pPr>
                      <a:r>
                        <a:rPr lang="en-US" b="0" dirty="0"/>
                        <a:t>2236</a:t>
                      </a:r>
                      <a:endParaRPr lang="el-GR" b="0" dirty="0"/>
                    </a:p>
                  </a:txBody>
                  <a:tcPr anchor="ctr"/>
                </a:tc>
                <a:extLst>
                  <a:ext uri="{0D108BD9-81ED-4DB2-BD59-A6C34878D82A}">
                    <a16:rowId xmlns:a16="http://schemas.microsoft.com/office/drawing/2014/main" val="758723778"/>
                  </a:ext>
                </a:extLst>
              </a:tr>
              <a:tr h="370840">
                <a:tc>
                  <a:txBody>
                    <a:bodyPr/>
                    <a:lstStyle/>
                    <a:p>
                      <a:pPr>
                        <a:buNone/>
                      </a:pPr>
                      <a:r>
                        <a:rPr lang="el-GR">
                          <a:effectLst>
                            <a:outerShdw blurRad="38100" dist="38100" dir="2700000" algn="tl">
                              <a:srgbClr val="000000">
                                <a:alpha val="43137"/>
                              </a:srgbClr>
                            </a:outerShdw>
                          </a:effectLst>
                        </a:rPr>
                        <a:t>Cooling Tower (kW)</a:t>
                      </a:r>
                      <a:endParaRPr lang="el-GR" i="1">
                        <a:effectLst>
                          <a:outerShdw blurRad="38100" dist="38100" dir="2700000" algn="tl">
                            <a:srgbClr val="000000">
                              <a:alpha val="43137"/>
                            </a:srgbClr>
                          </a:outerShdw>
                        </a:effectLst>
                      </a:endParaRPr>
                    </a:p>
                  </a:txBody>
                  <a:tcPr anchor="ctr"/>
                </a:tc>
                <a:tc>
                  <a:txBody>
                    <a:bodyPr/>
                    <a:lstStyle/>
                    <a:p>
                      <a:pPr algn="ctr">
                        <a:buNone/>
                      </a:pPr>
                      <a:r>
                        <a:rPr lang="en-US" b="0" dirty="0"/>
                        <a:t>723</a:t>
                      </a:r>
                      <a:endParaRPr lang="el-GR" b="0" dirty="0"/>
                    </a:p>
                  </a:txBody>
                  <a:tcPr anchor="ctr"/>
                </a:tc>
                <a:tc>
                  <a:txBody>
                    <a:bodyPr/>
                    <a:lstStyle/>
                    <a:p>
                      <a:pPr algn="ctr">
                        <a:buNone/>
                      </a:pPr>
                      <a:r>
                        <a:rPr lang="en-US" b="0" dirty="0"/>
                        <a:t>624</a:t>
                      </a:r>
                      <a:endParaRPr lang="el-GR" b="0" dirty="0"/>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954731737"/>
                  </a:ext>
                </a:extLst>
              </a:tr>
              <a:tr h="370840">
                <a:tc>
                  <a:txBody>
                    <a:bodyPr/>
                    <a:lstStyle/>
                    <a:p>
                      <a:pPr>
                        <a:buNone/>
                      </a:pPr>
                      <a:r>
                        <a:rPr lang="el-GR" dirty="0">
                          <a:effectLst>
                            <a:outerShdw blurRad="38100" dist="38100" dir="2700000" algn="tl">
                              <a:srgbClr val="000000">
                                <a:alpha val="43137"/>
                              </a:srgbClr>
                            </a:outerShdw>
                          </a:effectLst>
                        </a:rPr>
                        <a:t>BTES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l-GR" b="0" dirty="0"/>
                        <a:t>4</a:t>
                      </a:r>
                    </a:p>
                  </a:txBody>
                  <a:tcPr anchor="ctr"/>
                </a:tc>
                <a:tc>
                  <a:txBody>
                    <a:bodyPr/>
                    <a:lstStyle/>
                    <a:p>
                      <a:pPr algn="ctr">
                        <a:buNone/>
                      </a:pPr>
                      <a:r>
                        <a:rPr lang="en-US" b="0" dirty="0"/>
                        <a:t>5</a:t>
                      </a:r>
                      <a:endParaRPr lang="el-GR" b="0" dirty="0"/>
                    </a:p>
                  </a:txBody>
                  <a:tcPr anchor="ctr"/>
                </a:tc>
                <a:tc>
                  <a:txBody>
                    <a:bodyPr/>
                    <a:lstStyle/>
                    <a:p>
                      <a:pPr algn="ctr">
                        <a:buNone/>
                      </a:pPr>
                      <a:r>
                        <a:rPr lang="el-GR" b="0" dirty="0"/>
                        <a:t> 4</a:t>
                      </a:r>
                    </a:p>
                  </a:txBody>
                  <a:tcPr anchor="ctr"/>
                </a:tc>
                <a:extLst>
                  <a:ext uri="{0D108BD9-81ED-4DB2-BD59-A6C34878D82A}">
                    <a16:rowId xmlns:a16="http://schemas.microsoft.com/office/drawing/2014/main" val="2725481236"/>
                  </a:ext>
                </a:extLst>
              </a:tr>
              <a:tr h="370840">
                <a:tc>
                  <a:txBody>
                    <a:bodyPr/>
                    <a:lstStyle/>
                    <a:p>
                      <a:pPr>
                        <a:buNone/>
                      </a:pPr>
                      <a:r>
                        <a:rPr lang="en-US" dirty="0">
                          <a:effectLst>
                            <a:outerShdw blurRad="38100" dist="38100" dir="2700000" algn="tl">
                              <a:srgbClr val="000000">
                                <a:alpha val="43137"/>
                              </a:srgbClr>
                            </a:outerShdw>
                          </a:effectLst>
                        </a:rPr>
                        <a:t>Volume (m</a:t>
                      </a:r>
                      <a:r>
                        <a:rPr lang="en-US" baseline="30000" dirty="0">
                          <a:effectLst>
                            <a:outerShdw blurRad="38100" dist="38100" dir="2700000" algn="tl">
                              <a:srgbClr val="000000">
                                <a:alpha val="43137"/>
                              </a:srgbClr>
                            </a:outerShdw>
                          </a:effectLst>
                        </a:rPr>
                        <a:t>3</a:t>
                      </a:r>
                      <a:r>
                        <a:rPr lang="en-US"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606</a:t>
                      </a:r>
                      <a:r>
                        <a:rPr lang="el-GR" sz="1800" b="0" dirty="0">
                          <a:solidFill>
                            <a:schemeClr val="tx1"/>
                          </a:solidFill>
                        </a:rPr>
                        <a:t>,100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extLst>
                  <a:ext uri="{0D108BD9-81ED-4DB2-BD59-A6C34878D82A}">
                    <a16:rowId xmlns:a16="http://schemas.microsoft.com/office/drawing/2014/main" val="2976211349"/>
                  </a:ext>
                </a:extLst>
              </a:tr>
              <a:tr h="370840">
                <a:tc>
                  <a:txBody>
                    <a:bodyPr/>
                    <a:lstStyle/>
                    <a:p>
                      <a:pPr>
                        <a:buNone/>
                      </a:pPr>
                      <a:r>
                        <a:rPr lang="el-GR" dirty="0" err="1">
                          <a:effectLst>
                            <a:outerShdw blurRad="38100" dist="38100" dir="2700000" algn="tl">
                              <a:srgbClr val="000000">
                                <a:alpha val="43137"/>
                              </a:srgbClr>
                            </a:outerShdw>
                          </a:effectLst>
                        </a:rPr>
                        <a:t>Annual</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Cost</a:t>
                      </a:r>
                      <a:r>
                        <a:rPr lang="el-GR"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kCHF</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995</a:t>
                      </a:r>
                      <a:endParaRPr lang="el-GR" b="0" dirty="0"/>
                    </a:p>
                  </a:txBody>
                  <a:tcPr anchor="ctr"/>
                </a:tc>
                <a:tc>
                  <a:txBody>
                    <a:bodyPr/>
                    <a:lstStyle/>
                    <a:p>
                      <a:pPr algn="ctr">
                        <a:buNone/>
                      </a:pPr>
                      <a:r>
                        <a:rPr lang="en-US" b="0" dirty="0"/>
                        <a:t>1056</a:t>
                      </a:r>
                      <a:endParaRPr lang="el-GR" b="0" dirty="0"/>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2740487473"/>
                  </a:ext>
                </a:extLst>
              </a:tr>
              <a:tr h="370840">
                <a:tc>
                  <a:txBody>
                    <a:bodyPr/>
                    <a:lstStyle/>
                    <a:p>
                      <a:pPr>
                        <a:buNone/>
                      </a:pPr>
                      <a:r>
                        <a:rPr lang="en-US" dirty="0">
                          <a:effectLst>
                            <a:outerShdw blurRad="38100" dist="38100" dir="2700000" algn="tl">
                              <a:srgbClr val="000000">
                                <a:alpha val="43137"/>
                              </a:srgbClr>
                            </a:outerShdw>
                          </a:effectLst>
                        </a:rPr>
                        <a:t>Bilinear </a:t>
                      </a:r>
                      <a:r>
                        <a:rPr lang="en-US" dirty="0" err="1">
                          <a:effectLst>
                            <a:outerShdw blurRad="38100" dist="38100" dir="2700000" algn="tl">
                              <a:srgbClr val="000000">
                                <a:alpha val="43137"/>
                              </a:srgbClr>
                            </a:outerShdw>
                          </a:effectLst>
                        </a:rPr>
                        <a:t>Cnstrains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17520</a:t>
                      </a:r>
                      <a:endParaRPr lang="el-GR" b="0" dirty="0"/>
                    </a:p>
                  </a:txBody>
                  <a:tcPr anchor="ctr"/>
                </a:tc>
                <a:tc>
                  <a:txBody>
                    <a:bodyPr/>
                    <a:lstStyle/>
                    <a:p>
                      <a:pPr algn="ctr">
                        <a:buNone/>
                      </a:pPr>
                      <a:r>
                        <a:rPr lang="en-US" b="0" dirty="0"/>
                        <a:t>-</a:t>
                      </a:r>
                      <a:endParaRPr lang="el-GR" b="0" dirty="0"/>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2699586126"/>
                  </a:ext>
                </a:extLst>
              </a:tr>
              <a:tr h="370840">
                <a:tc>
                  <a:txBody>
                    <a:bodyPr/>
                    <a:lstStyle/>
                    <a:p>
                      <a:pPr>
                        <a:buNone/>
                      </a:pPr>
                      <a:r>
                        <a:rPr lang="en-US" dirty="0">
                          <a:effectLst>
                            <a:outerShdw blurRad="38100" dist="38100" dir="2700000" algn="tl">
                              <a:srgbClr val="000000">
                                <a:alpha val="43137"/>
                              </a:srgbClr>
                            </a:outerShdw>
                          </a:effectLst>
                        </a:rPr>
                        <a:t>Binary Variables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26280</a:t>
                      </a:r>
                      <a:endParaRPr lang="el-GR" b="0" dirty="0"/>
                    </a:p>
                  </a:txBody>
                  <a:tcPr anchor="ctr"/>
                </a:tc>
                <a:tc>
                  <a:txBody>
                    <a:bodyPr/>
                    <a:lstStyle/>
                    <a:p>
                      <a:pPr algn="ctr">
                        <a:buNone/>
                      </a:pPr>
                      <a:r>
                        <a:rPr lang="en-US" b="0" dirty="0"/>
                        <a:t>26286</a:t>
                      </a:r>
                      <a:endParaRPr lang="el-GR" b="0" dirty="0"/>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1685366004"/>
                  </a:ext>
                </a:extLst>
              </a:tr>
              <a:tr h="370840">
                <a:tc>
                  <a:txBody>
                    <a:bodyPr/>
                    <a:lstStyle/>
                    <a:p>
                      <a:pPr>
                        <a:buNone/>
                      </a:pPr>
                      <a:r>
                        <a:rPr lang="en-US" dirty="0">
                          <a:effectLst>
                            <a:outerShdw blurRad="38100" dist="38100" dir="2700000" algn="tl">
                              <a:srgbClr val="000000">
                                <a:alpha val="43137"/>
                              </a:srgbClr>
                            </a:outerShdw>
                          </a:effectLst>
                        </a:rPr>
                        <a:t>Run time (s)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118</a:t>
                      </a:r>
                      <a:endParaRPr lang="el-GR" b="0" dirty="0"/>
                    </a:p>
                  </a:txBody>
                  <a:tcPr anchor="ctr"/>
                </a:tc>
                <a:tc>
                  <a:txBody>
                    <a:bodyPr/>
                    <a:lstStyle/>
                    <a:p>
                      <a:pPr algn="ctr">
                        <a:buNone/>
                      </a:pPr>
                      <a:r>
                        <a:rPr lang="en-US" b="0" dirty="0"/>
                        <a:t>306</a:t>
                      </a:r>
                      <a:endParaRPr lang="el-GR" b="0" dirty="0"/>
                    </a:p>
                  </a:txBody>
                  <a:tcPr anchor="ctr"/>
                </a:tc>
                <a:tc>
                  <a:txBody>
                    <a:bodyPr/>
                    <a:lstStyle/>
                    <a:p>
                      <a:pPr algn="ctr">
                        <a:buNone/>
                      </a:pPr>
                      <a:r>
                        <a:rPr lang="en-US" b="0" dirty="0"/>
                        <a:t>2</a:t>
                      </a:r>
                      <a:endParaRPr lang="el-GR" b="0" dirty="0"/>
                    </a:p>
                  </a:txBody>
                  <a:tcPr anchor="ctr"/>
                </a:tc>
                <a:extLst>
                  <a:ext uri="{0D108BD9-81ED-4DB2-BD59-A6C34878D82A}">
                    <a16:rowId xmlns:a16="http://schemas.microsoft.com/office/drawing/2014/main" val="1501277383"/>
                  </a:ext>
                </a:extLst>
              </a:tr>
            </a:tbl>
          </a:graphicData>
        </a:graphic>
      </p:graphicFrame>
      <p:sp>
        <p:nvSpPr>
          <p:cNvPr id="5" name="Rectangle 4">
            <a:extLst>
              <a:ext uri="{FF2B5EF4-FFF2-40B4-BE49-F238E27FC236}">
                <a16:creationId xmlns:a16="http://schemas.microsoft.com/office/drawing/2014/main" id="{2AB79CEE-6ED1-172A-91BC-C101AC875CC0}"/>
              </a:ext>
            </a:extLst>
          </p:cNvPr>
          <p:cNvSpPr/>
          <p:nvPr/>
        </p:nvSpPr>
        <p:spPr>
          <a:xfrm>
            <a:off x="2643264" y="5517232"/>
            <a:ext cx="3888432" cy="92697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dirty="0" err="1"/>
              <a:t>Lineari</a:t>
            </a:r>
            <a:r>
              <a:rPr lang="en-US" dirty="0"/>
              <a:t>z</a:t>
            </a:r>
            <a:r>
              <a:rPr lang="el-GR" dirty="0" err="1"/>
              <a:t>ation</a:t>
            </a:r>
            <a:r>
              <a:rPr lang="el-GR" dirty="0"/>
              <a:t> </a:t>
            </a:r>
            <a:r>
              <a:rPr lang="el-GR" dirty="0" err="1"/>
              <a:t>substantially</a:t>
            </a:r>
            <a:r>
              <a:rPr lang="el-GR" dirty="0"/>
              <a:t> </a:t>
            </a:r>
            <a:r>
              <a:rPr lang="el-GR" dirty="0" err="1"/>
              <a:t>increases</a:t>
            </a:r>
            <a:r>
              <a:rPr lang="el-GR" dirty="0"/>
              <a:t> the</a:t>
            </a:r>
            <a:r>
              <a:rPr lang="en-US" dirty="0"/>
              <a:t> computational effort</a:t>
            </a:r>
            <a:r>
              <a:rPr lang="el-GR" dirty="0"/>
              <a:t> of the </a:t>
            </a:r>
            <a:r>
              <a:rPr lang="el-GR" dirty="0" err="1"/>
              <a:t>optimi</a:t>
            </a:r>
            <a:r>
              <a:rPr lang="en-US" dirty="0"/>
              <a:t>z</a:t>
            </a:r>
            <a:r>
              <a:rPr lang="el-GR" dirty="0" err="1"/>
              <a:t>ation</a:t>
            </a:r>
            <a:r>
              <a:rPr lang="el-GR" dirty="0"/>
              <a:t> </a:t>
            </a:r>
            <a:r>
              <a:rPr lang="el-GR" dirty="0" err="1"/>
              <a:t>problem</a:t>
            </a:r>
            <a:endParaRPr lang="el-GR" dirty="0"/>
          </a:p>
        </p:txBody>
      </p:sp>
      <p:sp>
        <p:nvSpPr>
          <p:cNvPr id="3" name="Slide Number Placeholder 2">
            <a:extLst>
              <a:ext uri="{FF2B5EF4-FFF2-40B4-BE49-F238E27FC236}">
                <a16:creationId xmlns:a16="http://schemas.microsoft.com/office/drawing/2014/main" id="{681C9F86-E624-5480-92D5-D4C4A50D503F}"/>
              </a:ext>
            </a:extLst>
          </p:cNvPr>
          <p:cNvSpPr>
            <a:spLocks noGrp="1"/>
          </p:cNvSpPr>
          <p:nvPr>
            <p:ph type="sldNum" sz="quarter" idx="4"/>
          </p:nvPr>
        </p:nvSpPr>
        <p:spPr/>
        <p:txBody>
          <a:bodyPr/>
          <a:lstStyle/>
          <a:p>
            <a:fld id="{CC7E3F2E-5E17-4E15-9E32-D4A7BBAEA187}" type="slidenum">
              <a:rPr lang="el-GR" smtClean="0"/>
              <a:t>24</a:t>
            </a:fld>
            <a:endParaRPr lang="el-GR"/>
          </a:p>
        </p:txBody>
      </p:sp>
    </p:spTree>
    <p:extLst>
      <p:ext uri="{BB962C8B-B14F-4D97-AF65-F5344CB8AC3E}">
        <p14:creationId xmlns:p14="http://schemas.microsoft.com/office/powerpoint/2010/main" val="2491024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49F-E964-8072-3A0A-958DC856D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60807-FFBD-1540-7E36-E2F5560EA639}"/>
              </a:ext>
            </a:extLst>
          </p:cNvPr>
          <p:cNvSpPr>
            <a:spLocks noGrp="1"/>
          </p:cNvSpPr>
          <p:nvPr>
            <p:ph type="title"/>
          </p:nvPr>
        </p:nvSpPr>
        <p:spPr>
          <a:xfrm>
            <a:off x="457200" y="197768"/>
            <a:ext cx="5266928" cy="1143000"/>
          </a:xfrm>
        </p:spPr>
        <p:txBody>
          <a:bodyPr/>
          <a:lstStyle/>
          <a:p>
            <a:r>
              <a:rPr lang="en-US" i="1" dirty="0">
                <a:effectLst>
                  <a:outerShdw blurRad="38100" dist="38100" dir="2700000" algn="tl">
                    <a:srgbClr val="000000">
                      <a:alpha val="43137"/>
                    </a:srgbClr>
                  </a:outerShdw>
                </a:effectLst>
              </a:rPr>
              <a:t>Interpolation of BTES options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and 2 seg. MILP  </a:t>
            </a:r>
            <a:endParaRPr lang="el-GR" i="1"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40B375EC-39D3-409C-7576-DAA62E5F0C0F}"/>
              </a:ext>
            </a:extLst>
          </p:cNvPr>
          <p:cNvGraphicFramePr>
            <a:graphicFrameLocks noGrp="1"/>
          </p:cNvGraphicFramePr>
          <p:nvPr>
            <p:ph idx="1"/>
            <p:extLst>
              <p:ext uri="{D42A27DB-BD31-4B8C-83A1-F6EECF244321}">
                <p14:modId xmlns:p14="http://schemas.microsoft.com/office/powerpoint/2010/main" val="3159616945"/>
              </p:ext>
            </p:extLst>
          </p:nvPr>
        </p:nvGraphicFramePr>
        <p:xfrm>
          <a:off x="457200" y="3075354"/>
          <a:ext cx="8229600" cy="3774440"/>
        </p:xfrm>
        <a:graphic>
          <a:graphicData uri="http://schemas.openxmlformats.org/drawingml/2006/table">
            <a:tbl>
              <a:tblPr firstRow="1" bandRow="1">
                <a:tableStyleId>{00A15C55-8517-42AA-B614-E9B94910E393}</a:tableStyleId>
              </a:tblPr>
              <a:tblGrid>
                <a:gridCol w="2057400">
                  <a:extLst>
                    <a:ext uri="{9D8B030D-6E8A-4147-A177-3AD203B41FA5}">
                      <a16:colId xmlns:a16="http://schemas.microsoft.com/office/drawing/2014/main" val="2132700379"/>
                    </a:ext>
                  </a:extLst>
                </a:gridCol>
                <a:gridCol w="2057400">
                  <a:extLst>
                    <a:ext uri="{9D8B030D-6E8A-4147-A177-3AD203B41FA5}">
                      <a16:colId xmlns:a16="http://schemas.microsoft.com/office/drawing/2014/main" val="1932372919"/>
                    </a:ext>
                  </a:extLst>
                </a:gridCol>
                <a:gridCol w="2057400">
                  <a:extLst>
                    <a:ext uri="{9D8B030D-6E8A-4147-A177-3AD203B41FA5}">
                      <a16:colId xmlns:a16="http://schemas.microsoft.com/office/drawing/2014/main" val="1707287827"/>
                    </a:ext>
                  </a:extLst>
                </a:gridCol>
                <a:gridCol w="2057400">
                  <a:extLst>
                    <a:ext uri="{9D8B030D-6E8A-4147-A177-3AD203B41FA5}">
                      <a16:colId xmlns:a16="http://schemas.microsoft.com/office/drawing/2014/main" val="1767179068"/>
                    </a:ext>
                  </a:extLst>
                </a:gridCol>
              </a:tblGrid>
              <a:tr h="370840">
                <a:tc>
                  <a:txBody>
                    <a:bodyPr/>
                    <a:lstStyle/>
                    <a:p>
                      <a:pPr>
                        <a:buNone/>
                      </a:pPr>
                      <a:r>
                        <a:rPr lang="el-GR" dirty="0" err="1"/>
                        <a:t>Technology</a:t>
                      </a:r>
                      <a:endParaRPr lang="el-GR" dirty="0"/>
                    </a:p>
                  </a:txBody>
                  <a:tcPr anchor="ctr"/>
                </a:tc>
                <a:tc>
                  <a:txBody>
                    <a:bodyPr/>
                    <a:lstStyle/>
                    <a:p>
                      <a:pPr algn="ctr">
                        <a:buNone/>
                      </a:pPr>
                      <a:r>
                        <a:rPr lang="en-US" dirty="0"/>
                        <a:t>MINLP</a:t>
                      </a:r>
                      <a:endParaRPr lang="el-GR" dirty="0"/>
                    </a:p>
                  </a:txBody>
                  <a:tcPr anchor="ctr"/>
                </a:tc>
                <a:tc>
                  <a:txBody>
                    <a:bodyPr/>
                    <a:lstStyle/>
                    <a:p>
                      <a:pPr algn="ctr">
                        <a:buNone/>
                      </a:pPr>
                      <a:r>
                        <a:rPr lang="en-US" dirty="0"/>
                        <a:t>Interpolated MILP</a:t>
                      </a:r>
                      <a:endParaRPr lang="el-GR" dirty="0"/>
                    </a:p>
                  </a:txBody>
                  <a:tcPr anchor="ctr"/>
                </a:tc>
                <a:tc>
                  <a:txBody>
                    <a:bodyPr/>
                    <a:lstStyle/>
                    <a:p>
                      <a:pPr algn="ctr">
                        <a:buNone/>
                      </a:pPr>
                      <a:r>
                        <a:rPr lang="en-US" dirty="0"/>
                        <a:t>2 seg. MILP</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l-GR" i="1">
                          <a:effectLst>
                            <a:outerShdw blurRad="38100" dist="38100" dir="2700000" algn="tl">
                              <a:srgbClr val="000000">
                                <a:alpha val="43137"/>
                              </a:srgbClr>
                            </a:outerShdw>
                          </a:effectLst>
                        </a:rPr>
                        <a:t>Heat Pump (kW)</a:t>
                      </a:r>
                    </a:p>
                  </a:txBody>
                  <a:tcPr anchor="ctr"/>
                </a:tc>
                <a:tc>
                  <a:txBody>
                    <a:bodyPr/>
                    <a:lstStyle/>
                    <a:p>
                      <a:pPr algn="ctr">
                        <a:buNone/>
                      </a:pPr>
                      <a:r>
                        <a:rPr lang="en-US" b="0" dirty="0"/>
                        <a:t>1139</a:t>
                      </a:r>
                      <a:endParaRPr lang="el-GR" b="0" dirty="0"/>
                    </a:p>
                  </a:txBody>
                  <a:tcPr anchor="ctr"/>
                </a:tc>
                <a:tc>
                  <a:txBody>
                    <a:bodyPr/>
                    <a:lstStyle/>
                    <a:p>
                      <a:pPr algn="ctr">
                        <a:buNone/>
                      </a:pPr>
                      <a:r>
                        <a:rPr lang="en-US" b="0" dirty="0"/>
                        <a:t>1220</a:t>
                      </a:r>
                      <a:endParaRPr lang="el-GR" b="0" dirty="0"/>
                    </a:p>
                  </a:txBody>
                  <a:tcPr anchor="ctr"/>
                </a:tc>
                <a:tc>
                  <a:txBody>
                    <a:bodyPr/>
                    <a:lstStyle/>
                    <a:p>
                      <a:pPr algn="ctr">
                        <a:buNone/>
                      </a:pPr>
                      <a:r>
                        <a:rPr lang="en-US" b="0" dirty="0"/>
                        <a:t>1084</a:t>
                      </a:r>
                      <a:endParaRPr lang="el-GR" b="0" dirty="0"/>
                    </a:p>
                  </a:txBody>
                  <a:tcPr anchor="ctr"/>
                </a:tc>
                <a:extLst>
                  <a:ext uri="{0D108BD9-81ED-4DB2-BD59-A6C34878D82A}">
                    <a16:rowId xmlns:a16="http://schemas.microsoft.com/office/drawing/2014/main" val="4191835569"/>
                  </a:ext>
                </a:extLst>
              </a:tr>
              <a:tr h="370840">
                <a:tc>
                  <a:txBody>
                    <a:bodyPr/>
                    <a:lstStyle/>
                    <a:p>
                      <a:pPr>
                        <a:buNone/>
                      </a:pPr>
                      <a:r>
                        <a:rPr lang="el-GR" i="1" dirty="0" err="1">
                          <a:effectLst>
                            <a:outerShdw blurRad="38100" dist="38100" dir="2700000" algn="tl">
                              <a:srgbClr val="000000">
                                <a:alpha val="43137"/>
                              </a:srgbClr>
                            </a:outerShdw>
                          </a:effectLst>
                        </a:rPr>
                        <a:t>Boiler</a:t>
                      </a:r>
                      <a:r>
                        <a:rPr lang="el-GR" i="1" dirty="0">
                          <a:effectLst>
                            <a:outerShdw blurRad="38100" dist="38100" dir="2700000" algn="tl">
                              <a:srgbClr val="000000">
                                <a:alpha val="43137"/>
                              </a:srgbClr>
                            </a:outerShdw>
                          </a:effectLst>
                        </a:rPr>
                        <a:t> (</a:t>
                      </a:r>
                      <a:r>
                        <a:rPr lang="el-GR" i="1" dirty="0" err="1">
                          <a:effectLst>
                            <a:outerShdw blurRad="38100" dist="38100" dir="2700000" algn="tl">
                              <a:srgbClr val="000000">
                                <a:alpha val="43137"/>
                              </a:srgbClr>
                            </a:outerShdw>
                          </a:effectLst>
                        </a:rPr>
                        <a:t>kW</a:t>
                      </a:r>
                      <a:r>
                        <a:rPr lang="el-GR" i="1" dirty="0">
                          <a:effectLst>
                            <a:outerShdw blurRad="38100" dist="38100" dir="2700000" algn="tl">
                              <a:srgbClr val="000000">
                                <a:alpha val="43137"/>
                              </a:srgbClr>
                            </a:outerShdw>
                          </a:effectLst>
                        </a:rPr>
                        <a:t>)</a:t>
                      </a:r>
                    </a:p>
                  </a:txBody>
                  <a:tcPr anchor="ctr"/>
                </a:tc>
                <a:tc>
                  <a:txBody>
                    <a:bodyPr/>
                    <a:lstStyle/>
                    <a:p>
                      <a:pPr algn="ctr">
                        <a:buNone/>
                      </a:pPr>
                      <a:r>
                        <a:rPr lang="en-US" b="0" dirty="0"/>
                        <a:t>1738</a:t>
                      </a:r>
                      <a:endParaRPr lang="el-GR" b="0" dirty="0"/>
                    </a:p>
                  </a:txBody>
                  <a:tcPr anchor="ctr"/>
                </a:tc>
                <a:tc>
                  <a:txBody>
                    <a:bodyPr/>
                    <a:lstStyle/>
                    <a:p>
                      <a:pPr algn="ctr">
                        <a:buNone/>
                      </a:pPr>
                      <a:r>
                        <a:rPr lang="en-US" b="0" dirty="0"/>
                        <a:t>1738</a:t>
                      </a:r>
                      <a:endParaRPr lang="el-GR" b="0" dirty="0"/>
                    </a:p>
                  </a:txBody>
                  <a:tcPr anchor="ctr"/>
                </a:tc>
                <a:tc>
                  <a:txBody>
                    <a:bodyPr/>
                    <a:lstStyle/>
                    <a:p>
                      <a:pPr algn="ctr">
                        <a:buNone/>
                      </a:pPr>
                      <a:r>
                        <a:rPr lang="en-US" b="0" dirty="0"/>
                        <a:t>1589</a:t>
                      </a:r>
                      <a:endParaRPr lang="el-GR" b="0" dirty="0"/>
                    </a:p>
                  </a:txBody>
                  <a:tcPr anchor="ctr"/>
                </a:tc>
                <a:extLst>
                  <a:ext uri="{0D108BD9-81ED-4DB2-BD59-A6C34878D82A}">
                    <a16:rowId xmlns:a16="http://schemas.microsoft.com/office/drawing/2014/main" val="758723778"/>
                  </a:ext>
                </a:extLst>
              </a:tr>
              <a:tr h="370840">
                <a:tc>
                  <a:txBody>
                    <a:bodyPr/>
                    <a:lstStyle/>
                    <a:p>
                      <a:pPr>
                        <a:buNone/>
                      </a:pPr>
                      <a:r>
                        <a:rPr lang="el-GR" i="1" dirty="0" err="1">
                          <a:effectLst>
                            <a:outerShdw blurRad="38100" dist="38100" dir="2700000" algn="tl">
                              <a:srgbClr val="000000">
                                <a:alpha val="43137"/>
                              </a:srgbClr>
                            </a:outerShdw>
                          </a:effectLst>
                        </a:rPr>
                        <a:t>Cooling</a:t>
                      </a:r>
                      <a:r>
                        <a:rPr lang="el-GR" i="1" dirty="0">
                          <a:effectLst>
                            <a:outerShdw blurRad="38100" dist="38100" dir="2700000" algn="tl">
                              <a:srgbClr val="000000">
                                <a:alpha val="43137"/>
                              </a:srgbClr>
                            </a:outerShdw>
                          </a:effectLst>
                        </a:rPr>
                        <a:t> </a:t>
                      </a:r>
                      <a:r>
                        <a:rPr lang="el-GR" i="1" dirty="0" err="1">
                          <a:effectLst>
                            <a:outerShdw blurRad="38100" dist="38100" dir="2700000" algn="tl">
                              <a:srgbClr val="000000">
                                <a:alpha val="43137"/>
                              </a:srgbClr>
                            </a:outerShdw>
                          </a:effectLst>
                        </a:rPr>
                        <a:t>Tower</a:t>
                      </a:r>
                      <a:r>
                        <a:rPr lang="el-GR" i="1" dirty="0">
                          <a:effectLst>
                            <a:outerShdw blurRad="38100" dist="38100" dir="2700000" algn="tl">
                              <a:srgbClr val="000000">
                                <a:alpha val="43137"/>
                              </a:srgbClr>
                            </a:outerShdw>
                          </a:effectLst>
                        </a:rPr>
                        <a:t> (</a:t>
                      </a:r>
                      <a:r>
                        <a:rPr lang="el-GR" i="1" dirty="0" err="1">
                          <a:effectLst>
                            <a:outerShdw blurRad="38100" dist="38100" dir="2700000" algn="tl">
                              <a:srgbClr val="000000">
                                <a:alpha val="43137"/>
                              </a:srgbClr>
                            </a:outerShdw>
                          </a:effectLst>
                        </a:rPr>
                        <a:t>kW</a:t>
                      </a:r>
                      <a:r>
                        <a:rPr lang="el-GR" i="1" dirty="0">
                          <a:effectLst>
                            <a:outerShdw blurRad="38100" dist="38100" dir="2700000" algn="tl">
                              <a:srgbClr val="000000">
                                <a:alpha val="43137"/>
                              </a:srgbClr>
                            </a:outerShdw>
                          </a:effectLst>
                        </a:rPr>
                        <a:t>)</a:t>
                      </a:r>
                    </a:p>
                  </a:txBody>
                  <a:tcPr anchor="ctr"/>
                </a:tc>
                <a:tc>
                  <a:txBody>
                    <a:bodyPr/>
                    <a:lstStyle/>
                    <a:p>
                      <a:pPr algn="ctr">
                        <a:buNone/>
                      </a:pPr>
                      <a:r>
                        <a:rPr lang="en-US" b="0" dirty="0"/>
                        <a:t>723</a:t>
                      </a:r>
                      <a:endParaRPr lang="el-GR" b="0" dirty="0"/>
                    </a:p>
                  </a:txBody>
                  <a:tcPr anchor="ctr"/>
                </a:tc>
                <a:tc>
                  <a:txBody>
                    <a:bodyPr/>
                    <a:lstStyle/>
                    <a:p>
                      <a:pPr algn="ctr">
                        <a:buNone/>
                      </a:pPr>
                      <a:r>
                        <a:rPr lang="en-US" b="0" dirty="0"/>
                        <a:t>610</a:t>
                      </a:r>
                      <a:endParaRPr lang="el-GR" b="0" dirty="0"/>
                    </a:p>
                  </a:txBody>
                  <a:tcPr anchor="ctr"/>
                </a:tc>
                <a:tc>
                  <a:txBody>
                    <a:bodyPr/>
                    <a:lstStyle/>
                    <a:p>
                      <a:pPr algn="ctr">
                        <a:buNone/>
                      </a:pPr>
                      <a:r>
                        <a:rPr lang="en-US" b="0" dirty="0"/>
                        <a:t>725</a:t>
                      </a:r>
                      <a:endParaRPr lang="el-GR" b="0" dirty="0"/>
                    </a:p>
                  </a:txBody>
                  <a:tcPr anchor="ctr"/>
                </a:tc>
                <a:extLst>
                  <a:ext uri="{0D108BD9-81ED-4DB2-BD59-A6C34878D82A}">
                    <a16:rowId xmlns:a16="http://schemas.microsoft.com/office/drawing/2014/main" val="954731737"/>
                  </a:ext>
                </a:extLst>
              </a:tr>
              <a:tr h="370840">
                <a:tc>
                  <a:txBody>
                    <a:bodyPr/>
                    <a:lstStyle/>
                    <a:p>
                      <a:pPr>
                        <a:buNone/>
                      </a:pPr>
                      <a:r>
                        <a:rPr lang="el-GR" i="1" dirty="0">
                          <a:effectLst>
                            <a:outerShdw blurRad="38100" dist="38100" dir="2700000" algn="tl">
                              <a:srgbClr val="000000">
                                <a:alpha val="43137"/>
                              </a:srgbClr>
                            </a:outerShdw>
                          </a:effectLst>
                        </a:rPr>
                        <a:t>BTES</a:t>
                      </a:r>
                    </a:p>
                  </a:txBody>
                  <a:tcPr anchor="ctr"/>
                </a:tc>
                <a:tc>
                  <a:txBody>
                    <a:bodyPr/>
                    <a:lstStyle/>
                    <a:p>
                      <a:pPr algn="ctr">
                        <a:buNone/>
                      </a:pPr>
                      <a:r>
                        <a:rPr lang="el-GR" b="0" dirty="0"/>
                        <a:t>4</a:t>
                      </a:r>
                    </a:p>
                  </a:txBody>
                  <a:tcPr anchor="ctr"/>
                </a:tc>
                <a:tc>
                  <a:txBody>
                    <a:bodyPr/>
                    <a:lstStyle/>
                    <a:p>
                      <a:pPr algn="ctr">
                        <a:buNone/>
                      </a:pPr>
                      <a:r>
                        <a:rPr lang="en-US" b="0" dirty="0"/>
                        <a:t>4’’</a:t>
                      </a:r>
                      <a:endParaRPr lang="el-GR" b="0" dirty="0"/>
                    </a:p>
                  </a:txBody>
                  <a:tcPr anchor="ctr"/>
                </a:tc>
                <a:tc>
                  <a:txBody>
                    <a:bodyPr/>
                    <a:lstStyle/>
                    <a:p>
                      <a:pPr algn="ctr">
                        <a:buNone/>
                      </a:pPr>
                      <a:r>
                        <a:rPr lang="el-GR" b="0" dirty="0"/>
                        <a:t> 4</a:t>
                      </a:r>
                    </a:p>
                  </a:txBody>
                  <a:tcPr anchor="ctr"/>
                </a:tc>
                <a:extLst>
                  <a:ext uri="{0D108BD9-81ED-4DB2-BD59-A6C34878D82A}">
                    <a16:rowId xmlns:a16="http://schemas.microsoft.com/office/drawing/2014/main" val="2725481236"/>
                  </a:ext>
                </a:extLst>
              </a:tr>
              <a:tr h="370840">
                <a:tc>
                  <a:txBody>
                    <a:bodyPr/>
                    <a:lstStyle/>
                    <a:p>
                      <a:pPr>
                        <a:buNone/>
                      </a:pPr>
                      <a:r>
                        <a:rPr lang="en-US" i="1" dirty="0">
                          <a:effectLst>
                            <a:outerShdw blurRad="38100" dist="38100" dir="2700000" algn="tl">
                              <a:srgbClr val="000000">
                                <a:alpha val="43137"/>
                              </a:srgbClr>
                            </a:outerShdw>
                          </a:effectLst>
                        </a:rPr>
                        <a:t>Volume (m</a:t>
                      </a:r>
                      <a:r>
                        <a:rPr lang="en-US" i="1" baseline="30000" dirty="0">
                          <a:effectLst>
                            <a:outerShdw blurRad="38100" dist="38100" dir="2700000" algn="tl">
                              <a:srgbClr val="000000">
                                <a:alpha val="43137"/>
                              </a:srgbClr>
                            </a:outerShdw>
                          </a:effectLst>
                        </a:rPr>
                        <a:t>3</a:t>
                      </a:r>
                      <a:r>
                        <a:rPr lang="en-US" i="1"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471,400</a:t>
                      </a:r>
                      <a:endParaRPr lang="el-GR" sz="1800" b="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404,100</a:t>
                      </a:r>
                    </a:p>
                  </a:txBody>
                  <a:tcPr anchor="ctr"/>
                </a:tc>
                <a:extLst>
                  <a:ext uri="{0D108BD9-81ED-4DB2-BD59-A6C34878D82A}">
                    <a16:rowId xmlns:a16="http://schemas.microsoft.com/office/drawing/2014/main" val="2192412529"/>
                  </a:ext>
                </a:extLst>
              </a:tr>
              <a:tr h="370840">
                <a:tc>
                  <a:txBody>
                    <a:bodyPr/>
                    <a:lstStyle/>
                    <a:p>
                      <a:pPr>
                        <a:buNone/>
                      </a:pPr>
                      <a:r>
                        <a:rPr lang="el-GR" i="1" dirty="0" err="1">
                          <a:effectLst>
                            <a:outerShdw blurRad="38100" dist="38100" dir="2700000" algn="tl">
                              <a:srgbClr val="000000">
                                <a:alpha val="43137"/>
                              </a:srgbClr>
                            </a:outerShdw>
                          </a:effectLst>
                        </a:rPr>
                        <a:t>Annual</a:t>
                      </a:r>
                      <a:r>
                        <a:rPr lang="el-GR" i="1" dirty="0">
                          <a:effectLst>
                            <a:outerShdw blurRad="38100" dist="38100" dir="2700000" algn="tl">
                              <a:srgbClr val="000000">
                                <a:alpha val="43137"/>
                              </a:srgbClr>
                            </a:outerShdw>
                          </a:effectLst>
                        </a:rPr>
                        <a:t> </a:t>
                      </a:r>
                      <a:r>
                        <a:rPr lang="el-GR" i="1" dirty="0" err="1">
                          <a:effectLst>
                            <a:outerShdw blurRad="38100" dist="38100" dir="2700000" algn="tl">
                              <a:srgbClr val="000000">
                                <a:alpha val="43137"/>
                              </a:srgbClr>
                            </a:outerShdw>
                          </a:effectLst>
                        </a:rPr>
                        <a:t>Cost</a:t>
                      </a:r>
                      <a:r>
                        <a:rPr lang="el-GR" i="1" dirty="0">
                          <a:effectLst>
                            <a:outerShdw blurRad="38100" dist="38100" dir="2700000" algn="tl">
                              <a:srgbClr val="000000">
                                <a:alpha val="43137"/>
                              </a:srgbClr>
                            </a:outerShdw>
                          </a:effectLst>
                        </a:rPr>
                        <a:t> (</a:t>
                      </a:r>
                      <a:r>
                        <a:rPr lang="en-US" i="1" dirty="0" err="1">
                          <a:effectLst>
                            <a:outerShdw blurRad="38100" dist="38100" dir="2700000" algn="tl">
                              <a:srgbClr val="000000">
                                <a:alpha val="43137"/>
                              </a:srgbClr>
                            </a:outerShdw>
                          </a:effectLst>
                        </a:rPr>
                        <a:t>kCHF</a:t>
                      </a:r>
                      <a:r>
                        <a:rPr lang="el-GR" i="1" dirty="0">
                          <a:effectLst>
                            <a:outerShdw blurRad="38100" dist="38100" dir="2700000" algn="tl">
                              <a:srgbClr val="000000">
                                <a:alpha val="43137"/>
                              </a:srgbClr>
                            </a:outerShdw>
                          </a:effectLst>
                        </a:rPr>
                        <a:t>)</a:t>
                      </a:r>
                    </a:p>
                  </a:txBody>
                  <a:tcPr anchor="ctr"/>
                </a:tc>
                <a:tc>
                  <a:txBody>
                    <a:bodyPr/>
                    <a:lstStyle/>
                    <a:p>
                      <a:pPr algn="ctr">
                        <a:buNone/>
                      </a:pPr>
                      <a:r>
                        <a:rPr lang="en-US" b="0" dirty="0"/>
                        <a:t>995</a:t>
                      </a:r>
                      <a:endParaRPr lang="el-GR" b="0" dirty="0"/>
                    </a:p>
                  </a:txBody>
                  <a:tcPr anchor="ctr"/>
                </a:tc>
                <a:tc>
                  <a:txBody>
                    <a:bodyPr/>
                    <a:lstStyle/>
                    <a:p>
                      <a:pPr algn="ctr">
                        <a:buNone/>
                      </a:pPr>
                      <a:r>
                        <a:rPr lang="en-US" b="0" dirty="0"/>
                        <a:t>999</a:t>
                      </a:r>
                      <a:endParaRPr lang="el-GR" b="0" dirty="0"/>
                    </a:p>
                  </a:txBody>
                  <a:tcPr anchor="ctr"/>
                </a:tc>
                <a:tc>
                  <a:txBody>
                    <a:bodyPr/>
                    <a:lstStyle/>
                    <a:p>
                      <a:pPr algn="ctr">
                        <a:buNone/>
                      </a:pPr>
                      <a:r>
                        <a:rPr lang="en-US" b="0" dirty="0"/>
                        <a:t>987</a:t>
                      </a:r>
                      <a:endParaRPr lang="el-GR" b="0" dirty="0"/>
                    </a:p>
                  </a:txBody>
                  <a:tcPr anchor="ctr"/>
                </a:tc>
                <a:extLst>
                  <a:ext uri="{0D108BD9-81ED-4DB2-BD59-A6C34878D82A}">
                    <a16:rowId xmlns:a16="http://schemas.microsoft.com/office/drawing/2014/main" val="2740487473"/>
                  </a:ext>
                </a:extLst>
              </a:tr>
              <a:tr h="370840">
                <a:tc>
                  <a:txBody>
                    <a:bodyPr/>
                    <a:lstStyle/>
                    <a:p>
                      <a:pPr>
                        <a:buNone/>
                      </a:pPr>
                      <a:r>
                        <a:rPr lang="en-US" i="1" dirty="0">
                          <a:effectLst>
                            <a:outerShdw blurRad="38100" dist="38100" dir="2700000" algn="tl">
                              <a:srgbClr val="000000">
                                <a:alpha val="43137"/>
                              </a:srgbClr>
                            </a:outerShdw>
                          </a:effectLst>
                        </a:rPr>
                        <a:t>Run time (s)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118</a:t>
                      </a:r>
                      <a:endParaRPr lang="el-GR" b="0" dirty="0"/>
                    </a:p>
                  </a:txBody>
                  <a:tcPr anchor="ctr"/>
                </a:tc>
                <a:tc>
                  <a:txBody>
                    <a:bodyPr/>
                    <a:lstStyle/>
                    <a:p>
                      <a:pPr algn="ctr">
                        <a:buNone/>
                      </a:pPr>
                      <a:r>
                        <a:rPr lang="en-US" b="0" dirty="0"/>
                        <a:t>282</a:t>
                      </a:r>
                      <a:endParaRPr lang="el-GR" b="0" dirty="0"/>
                    </a:p>
                  </a:txBody>
                  <a:tcPr anchor="ctr"/>
                </a:tc>
                <a:tc>
                  <a:txBody>
                    <a:bodyPr/>
                    <a:lstStyle/>
                    <a:p>
                      <a:pPr algn="ctr">
                        <a:buNone/>
                      </a:pPr>
                      <a:r>
                        <a:rPr lang="en-US" b="0" dirty="0"/>
                        <a:t>183</a:t>
                      </a:r>
                      <a:endParaRPr lang="el-GR" b="0" dirty="0"/>
                    </a:p>
                  </a:txBody>
                  <a:tcPr anchor="ctr"/>
                </a:tc>
                <a:extLst>
                  <a:ext uri="{0D108BD9-81ED-4DB2-BD59-A6C34878D82A}">
                    <a16:rowId xmlns:a16="http://schemas.microsoft.com/office/drawing/2014/main" val="1501277383"/>
                  </a:ext>
                </a:extLst>
              </a:tr>
            </a:tbl>
          </a:graphicData>
        </a:graphic>
      </p:graphicFrame>
      <p:sp>
        <p:nvSpPr>
          <p:cNvPr id="5" name="Rectangle 4">
            <a:extLst>
              <a:ext uri="{FF2B5EF4-FFF2-40B4-BE49-F238E27FC236}">
                <a16:creationId xmlns:a16="http://schemas.microsoft.com/office/drawing/2014/main" id="{046B0E8E-C6EA-5A36-42B4-3C2319620F31}"/>
              </a:ext>
            </a:extLst>
          </p:cNvPr>
          <p:cNvSpPr/>
          <p:nvPr/>
        </p:nvSpPr>
        <p:spPr>
          <a:xfrm>
            <a:off x="6804248" y="1196752"/>
            <a:ext cx="2179766" cy="17715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The relaxation of the McCormick envelope in this case lies closer to the optimal solution because of the different relaxation bounds</a:t>
            </a:r>
            <a:endParaRPr lang="el-GR" sz="1600" dirty="0"/>
          </a:p>
        </p:txBody>
      </p:sp>
      <mc:AlternateContent xmlns:mc="http://schemas.openxmlformats.org/markup-compatibility/2006" xmlns:a14="http://schemas.microsoft.com/office/drawing/2010/main">
        <mc:Choice Requires="a14">
          <p:graphicFrame>
            <p:nvGraphicFramePr>
              <p:cNvPr id="3" name="Content Placeholder 3">
                <a:extLst>
                  <a:ext uri="{FF2B5EF4-FFF2-40B4-BE49-F238E27FC236}">
                    <a16:creationId xmlns:a16="http://schemas.microsoft.com/office/drawing/2014/main" id="{15CC4EDB-25AE-D308-63FC-D17D76FD5CED}"/>
                  </a:ext>
                </a:extLst>
              </p:cNvPr>
              <p:cNvGraphicFramePr>
                <a:graphicFrameLocks/>
              </p:cNvGraphicFramePr>
              <p:nvPr>
                <p:extLst>
                  <p:ext uri="{D42A27DB-BD31-4B8C-83A1-F6EECF244321}">
                    <p14:modId xmlns:p14="http://schemas.microsoft.com/office/powerpoint/2010/main" val="1070486949"/>
                  </p:ext>
                </p:extLst>
              </p:nvPr>
            </p:nvGraphicFramePr>
            <p:xfrm>
              <a:off x="457200" y="1196752"/>
              <a:ext cx="6172200" cy="1483360"/>
            </p:xfrm>
            <a:graphic>
              <a:graphicData uri="http://schemas.openxmlformats.org/drawingml/2006/table">
                <a:tbl>
                  <a:tblPr firstRow="1" bandRow="1">
                    <a:tableStyleId>{00A15C55-8517-42AA-B614-E9B94910E393}</a:tableStyleId>
                  </a:tblPr>
                  <a:tblGrid>
                    <a:gridCol w="2394704">
                      <a:extLst>
                        <a:ext uri="{9D8B030D-6E8A-4147-A177-3AD203B41FA5}">
                          <a16:colId xmlns:a16="http://schemas.microsoft.com/office/drawing/2014/main" val="2132700379"/>
                        </a:ext>
                      </a:extLst>
                    </a:gridCol>
                    <a:gridCol w="1720096">
                      <a:extLst>
                        <a:ext uri="{9D8B030D-6E8A-4147-A177-3AD203B41FA5}">
                          <a16:colId xmlns:a16="http://schemas.microsoft.com/office/drawing/2014/main" val="1932372919"/>
                        </a:ext>
                      </a:extLst>
                    </a:gridCol>
                    <a:gridCol w="2057400">
                      <a:extLst>
                        <a:ext uri="{9D8B030D-6E8A-4147-A177-3AD203B41FA5}">
                          <a16:colId xmlns:a16="http://schemas.microsoft.com/office/drawing/2014/main" val="1707287827"/>
                        </a:ext>
                      </a:extLst>
                    </a:gridCol>
                  </a:tblGrid>
                  <a:tr h="370840">
                    <a:tc>
                      <a:txBody>
                        <a:bodyPr/>
                        <a:lstStyle/>
                        <a:p>
                          <a:pPr>
                            <a:buNone/>
                          </a:pPr>
                          <a:r>
                            <a:rPr lang="en-US" dirty="0"/>
                            <a:t>Parameter</a:t>
                          </a:r>
                          <a:endParaRPr lang="el-GR" dirty="0"/>
                        </a:p>
                      </a:txBody>
                      <a:tcPr anchor="ctr"/>
                    </a:tc>
                    <a:tc>
                      <a:txBody>
                        <a:bodyPr/>
                        <a:lstStyle/>
                        <a:p>
                          <a:pPr algn="ctr">
                            <a:buNone/>
                          </a:pPr>
                          <a:r>
                            <a:rPr lang="en-US" dirty="0"/>
                            <a:t>Option 4’</a:t>
                          </a:r>
                          <a:endParaRPr lang="el-GR" dirty="0"/>
                        </a:p>
                      </a:txBody>
                      <a:tcPr anchor="ctr"/>
                    </a:tc>
                    <a:tc>
                      <a:txBody>
                        <a:bodyPr/>
                        <a:lstStyle/>
                        <a:p>
                          <a:pPr algn="ctr">
                            <a:buNone/>
                          </a:pPr>
                          <a:r>
                            <a:rPr lang="en-US" dirty="0"/>
                            <a:t>Option 4’’</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n-US" i="1" dirty="0">
                              <a:effectLst>
                                <a:outerShdw blurRad="38100" dist="38100" dir="2700000" algn="tl">
                                  <a:srgbClr val="000000">
                                    <a:alpha val="43137"/>
                                  </a:srgbClr>
                                </a:outerShdw>
                              </a:effectLst>
                            </a:rPr>
                            <a:t>Diameter</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84.0</a:t>
                          </a:r>
                          <a:endParaRPr lang="el-GR" b="0" dirty="0"/>
                        </a:p>
                      </a:txBody>
                      <a:tcPr anchor="ctr"/>
                    </a:tc>
                    <a:tc>
                      <a:txBody>
                        <a:bodyPr/>
                        <a:lstStyle/>
                        <a:p>
                          <a:pPr algn="ctr">
                            <a:buNone/>
                          </a:pPr>
                          <a:r>
                            <a:rPr lang="en-US" b="0" dirty="0"/>
                            <a:t>87.8</a:t>
                          </a:r>
                          <a:endParaRPr lang="el-GR" b="0" dirty="0"/>
                        </a:p>
                      </a:txBody>
                      <a:tcPr anchor="ctr"/>
                    </a:tc>
                    <a:extLst>
                      <a:ext uri="{0D108BD9-81ED-4DB2-BD59-A6C34878D82A}">
                        <a16:rowId xmlns:a16="http://schemas.microsoft.com/office/drawing/2014/main" val="4191835569"/>
                      </a:ext>
                    </a:extLst>
                  </a:tr>
                  <a:tr h="370840">
                    <a:tc>
                      <a:txBody>
                        <a:bodyPr/>
                        <a:lstStyle/>
                        <a:p>
                          <a:pPr>
                            <a:buNone/>
                          </a:pPr>
                          <a:r>
                            <a:rPr lang="en-US" i="1" dirty="0">
                              <a:effectLst>
                                <a:outerShdw blurRad="38100" dist="38100" dir="2700000" algn="tl">
                                  <a:srgbClr val="000000">
                                    <a:alpha val="43137"/>
                                  </a:srgbClr>
                                </a:outerShdw>
                              </a:effectLst>
                            </a:rPr>
                            <a:t>Volume (</a:t>
                          </a:r>
                          <a14:m>
                            <m:oMath xmlns:m="http://schemas.openxmlformats.org/officeDocument/2006/math">
                              <m:sSup>
                                <m:sSupPr>
                                  <m:ctrlPr>
                                    <a:rPr lang="en-US" b="0" i="1" smtClean="0">
                                      <a:effectLst>
                                        <a:outerShdw blurRad="38100" dist="38100" dir="2700000" algn="tl">
                                          <a:srgbClr val="000000">
                                            <a:alpha val="43137"/>
                                          </a:srgbClr>
                                        </a:outerShdw>
                                      </a:effectLst>
                                      <a:latin typeface="Cambria Math" panose="02040503050406030204" pitchFamily="18" charset="0"/>
                                    </a:rPr>
                                  </m:ctrlPr>
                                </m:sSupPr>
                                <m:e>
                                  <m:r>
                                    <a:rPr lang="en-US" b="0" i="1" smtClean="0">
                                      <a:effectLst>
                                        <a:outerShdw blurRad="38100" dist="38100" dir="2700000" algn="tl">
                                          <a:srgbClr val="000000">
                                            <a:alpha val="43137"/>
                                          </a:srgbClr>
                                        </a:outerShdw>
                                      </a:effectLst>
                                      <a:latin typeface="Cambria Math" panose="02040503050406030204" pitchFamily="18" charset="0"/>
                                    </a:rPr>
                                    <m:t>10</m:t>
                                  </m:r>
                                </m:e>
                                <m:sup>
                                  <m:r>
                                    <a:rPr lang="en-US" b="0" i="1" smtClean="0">
                                      <a:effectLst>
                                        <a:outerShdw blurRad="38100" dist="38100" dir="2700000" algn="tl">
                                          <a:srgbClr val="000000">
                                            <a:alpha val="43137"/>
                                          </a:srgbClr>
                                        </a:outerShdw>
                                      </a:effectLst>
                                      <a:latin typeface="Cambria Math" panose="02040503050406030204" pitchFamily="18" charset="0"/>
                                    </a:rPr>
                                    <m:t>3</m:t>
                                  </m:r>
                                </m:sup>
                              </m:sSup>
                              <m:sSup>
                                <m:sSupPr>
                                  <m:ctrlPr>
                                    <a:rPr lang="en-US" b="0" i="1" smtClean="0">
                                      <a:effectLst>
                                        <a:outerShdw blurRad="38100" dist="38100" dir="2700000" algn="tl">
                                          <a:srgbClr val="000000">
                                            <a:alpha val="43137"/>
                                          </a:srgbClr>
                                        </a:outerShdw>
                                      </a:effectLst>
                                      <a:latin typeface="Cambria Math" panose="02040503050406030204" pitchFamily="18" charset="0"/>
                                    </a:rPr>
                                  </m:ctrlPr>
                                </m:sSupPr>
                                <m:e>
                                  <m:r>
                                    <a:rPr lang="en-US" b="0" i="1" smtClean="0">
                                      <a:effectLst>
                                        <a:outerShdw blurRad="38100" dist="38100" dir="2700000" algn="tl">
                                          <a:srgbClr val="000000">
                                            <a:alpha val="43137"/>
                                          </a:srgbClr>
                                        </a:outerShdw>
                                      </a:effectLst>
                                      <a:latin typeface="Cambria Math" panose="02040503050406030204" pitchFamily="18" charset="0"/>
                                    </a:rPr>
                                    <m:t>𝑚</m:t>
                                  </m:r>
                                </m:e>
                                <m:sup>
                                  <m:r>
                                    <a:rPr lang="en-US" b="0" i="1" smtClean="0">
                                      <a:effectLst>
                                        <a:outerShdw blurRad="38100" dist="38100" dir="2700000" algn="tl">
                                          <a:srgbClr val="000000">
                                            <a:alpha val="43137"/>
                                          </a:srgbClr>
                                        </a:outerShdw>
                                      </a:effectLst>
                                      <a:latin typeface="Cambria Math" panose="02040503050406030204" pitchFamily="18" charset="0"/>
                                    </a:rPr>
                                    <m:t>3</m:t>
                                  </m:r>
                                </m:sup>
                              </m:sSup>
                              <m:r>
                                <a:rPr lang="en-US" b="0" i="1" smtClean="0">
                                  <a:effectLst>
                                    <a:outerShdw blurRad="38100" dist="38100" dir="2700000" algn="tl">
                                      <a:srgbClr val="000000">
                                        <a:alpha val="43137"/>
                                      </a:srgbClr>
                                    </a:outerShdw>
                                  </a:effectLst>
                                  <a:latin typeface="Cambria Math" panose="02040503050406030204" pitchFamily="18" charset="0"/>
                                </a:rPr>
                                <m:t>)</m:t>
                              </m:r>
                            </m:oMath>
                          </a14:m>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471.4</a:t>
                          </a:r>
                          <a:endParaRPr lang="el-GR" b="0" dirty="0"/>
                        </a:p>
                      </a:txBody>
                      <a:tcPr anchor="ctr"/>
                    </a:tc>
                    <a:tc>
                      <a:txBody>
                        <a:bodyPr/>
                        <a:lstStyle/>
                        <a:p>
                          <a:pPr algn="ctr">
                            <a:buNone/>
                          </a:pPr>
                          <a:r>
                            <a:rPr lang="en-US" b="0" dirty="0"/>
                            <a:t>538.8</a:t>
                          </a:r>
                          <a:endParaRPr lang="el-GR" b="0" dirty="0"/>
                        </a:p>
                      </a:txBody>
                      <a:tcPr anchor="ctr"/>
                    </a:tc>
                    <a:extLst>
                      <a:ext uri="{0D108BD9-81ED-4DB2-BD59-A6C34878D82A}">
                        <a16:rowId xmlns:a16="http://schemas.microsoft.com/office/drawing/2014/main" val="758723778"/>
                      </a:ext>
                    </a:extLst>
                  </a:tr>
                  <a:tr h="370840">
                    <a:tc>
                      <a:txBody>
                        <a:bodyPr/>
                        <a:lstStyle/>
                        <a:p>
                          <a:pPr>
                            <a:buNone/>
                          </a:pPr>
                          <a:r>
                            <a:rPr lang="en-US" i="1" dirty="0">
                              <a:effectLst>
                                <a:outerShdw blurRad="38100" dist="38100" dir="2700000" algn="tl">
                                  <a:srgbClr val="000000">
                                    <a:alpha val="43137"/>
                                  </a:srgbClr>
                                </a:outerShdw>
                              </a:effectLst>
                            </a:rPr>
                            <a:t>Number of boreholes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392</a:t>
                          </a:r>
                          <a:endParaRPr lang="el-GR" b="0" dirty="0"/>
                        </a:p>
                      </a:txBody>
                      <a:tcPr anchor="ctr"/>
                    </a:tc>
                    <a:tc>
                      <a:txBody>
                        <a:bodyPr/>
                        <a:lstStyle/>
                        <a:p>
                          <a:pPr algn="ctr">
                            <a:buNone/>
                          </a:pPr>
                          <a:r>
                            <a:rPr lang="en-US" b="0" dirty="0"/>
                            <a:t>429</a:t>
                          </a:r>
                          <a:endParaRPr lang="el-GR" b="0" dirty="0"/>
                        </a:p>
                      </a:txBody>
                      <a:tcPr anchor="ctr"/>
                    </a:tc>
                    <a:extLst>
                      <a:ext uri="{0D108BD9-81ED-4DB2-BD59-A6C34878D82A}">
                        <a16:rowId xmlns:a16="http://schemas.microsoft.com/office/drawing/2014/main" val="954731737"/>
                      </a:ext>
                    </a:extLst>
                  </a:tr>
                </a:tbl>
              </a:graphicData>
            </a:graphic>
          </p:graphicFrame>
        </mc:Choice>
        <mc:Fallback xmlns="">
          <p:graphicFrame>
            <p:nvGraphicFramePr>
              <p:cNvPr id="3" name="Content Placeholder 3">
                <a:extLst>
                  <a:ext uri="{FF2B5EF4-FFF2-40B4-BE49-F238E27FC236}">
                    <a16:creationId xmlns:a16="http://schemas.microsoft.com/office/drawing/2014/main" id="{15CC4EDB-25AE-D308-63FC-D17D76FD5CED}"/>
                  </a:ext>
                </a:extLst>
              </p:cNvPr>
              <p:cNvGraphicFramePr>
                <a:graphicFrameLocks/>
              </p:cNvGraphicFramePr>
              <p:nvPr>
                <p:extLst>
                  <p:ext uri="{D42A27DB-BD31-4B8C-83A1-F6EECF244321}">
                    <p14:modId xmlns:p14="http://schemas.microsoft.com/office/powerpoint/2010/main" val="1070486949"/>
                  </p:ext>
                </p:extLst>
              </p:nvPr>
            </p:nvGraphicFramePr>
            <p:xfrm>
              <a:off x="457200" y="1196752"/>
              <a:ext cx="6172200" cy="1483360"/>
            </p:xfrm>
            <a:graphic>
              <a:graphicData uri="http://schemas.openxmlformats.org/drawingml/2006/table">
                <a:tbl>
                  <a:tblPr firstRow="1" bandRow="1">
                    <a:tableStyleId>{00A15C55-8517-42AA-B614-E9B94910E393}</a:tableStyleId>
                  </a:tblPr>
                  <a:tblGrid>
                    <a:gridCol w="2394704">
                      <a:extLst>
                        <a:ext uri="{9D8B030D-6E8A-4147-A177-3AD203B41FA5}">
                          <a16:colId xmlns:a16="http://schemas.microsoft.com/office/drawing/2014/main" val="2132700379"/>
                        </a:ext>
                      </a:extLst>
                    </a:gridCol>
                    <a:gridCol w="1720096">
                      <a:extLst>
                        <a:ext uri="{9D8B030D-6E8A-4147-A177-3AD203B41FA5}">
                          <a16:colId xmlns:a16="http://schemas.microsoft.com/office/drawing/2014/main" val="1932372919"/>
                        </a:ext>
                      </a:extLst>
                    </a:gridCol>
                    <a:gridCol w="2057400">
                      <a:extLst>
                        <a:ext uri="{9D8B030D-6E8A-4147-A177-3AD203B41FA5}">
                          <a16:colId xmlns:a16="http://schemas.microsoft.com/office/drawing/2014/main" val="1707287827"/>
                        </a:ext>
                      </a:extLst>
                    </a:gridCol>
                  </a:tblGrid>
                  <a:tr h="370840">
                    <a:tc>
                      <a:txBody>
                        <a:bodyPr/>
                        <a:lstStyle/>
                        <a:p>
                          <a:pPr>
                            <a:buNone/>
                          </a:pPr>
                          <a:r>
                            <a:rPr lang="en-US" dirty="0"/>
                            <a:t>Parameter</a:t>
                          </a:r>
                          <a:endParaRPr lang="el-GR" dirty="0"/>
                        </a:p>
                      </a:txBody>
                      <a:tcPr anchor="ctr"/>
                    </a:tc>
                    <a:tc>
                      <a:txBody>
                        <a:bodyPr/>
                        <a:lstStyle/>
                        <a:p>
                          <a:pPr algn="ctr">
                            <a:buNone/>
                          </a:pPr>
                          <a:r>
                            <a:rPr lang="en-US" dirty="0"/>
                            <a:t>Option 4’</a:t>
                          </a:r>
                          <a:endParaRPr lang="el-GR" dirty="0"/>
                        </a:p>
                      </a:txBody>
                      <a:tcPr anchor="ctr"/>
                    </a:tc>
                    <a:tc>
                      <a:txBody>
                        <a:bodyPr/>
                        <a:lstStyle/>
                        <a:p>
                          <a:pPr algn="ctr">
                            <a:buNone/>
                          </a:pPr>
                          <a:r>
                            <a:rPr lang="en-US" dirty="0"/>
                            <a:t>Option 4’’</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n-US" i="1" dirty="0">
                              <a:effectLst>
                                <a:outerShdw blurRad="38100" dist="38100" dir="2700000" algn="tl">
                                  <a:srgbClr val="000000">
                                    <a:alpha val="43137"/>
                                  </a:srgbClr>
                                </a:outerShdw>
                              </a:effectLst>
                            </a:rPr>
                            <a:t>Diameter</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84.0</a:t>
                          </a:r>
                          <a:endParaRPr lang="el-GR" b="0" dirty="0"/>
                        </a:p>
                      </a:txBody>
                      <a:tcPr anchor="ctr"/>
                    </a:tc>
                    <a:tc>
                      <a:txBody>
                        <a:bodyPr/>
                        <a:lstStyle/>
                        <a:p>
                          <a:pPr algn="ctr">
                            <a:buNone/>
                          </a:pPr>
                          <a:r>
                            <a:rPr lang="en-US" b="0" dirty="0"/>
                            <a:t>87.8</a:t>
                          </a:r>
                          <a:endParaRPr lang="el-GR" b="0" dirty="0"/>
                        </a:p>
                      </a:txBody>
                      <a:tcPr anchor="ctr"/>
                    </a:tc>
                    <a:extLst>
                      <a:ext uri="{0D108BD9-81ED-4DB2-BD59-A6C34878D82A}">
                        <a16:rowId xmlns:a16="http://schemas.microsoft.com/office/drawing/2014/main" val="4191835569"/>
                      </a:ext>
                    </a:extLst>
                  </a:tr>
                  <a:tr h="370840">
                    <a:tc>
                      <a:txBody>
                        <a:bodyPr/>
                        <a:lstStyle/>
                        <a:p>
                          <a:endParaRPr lang="el-GR"/>
                        </a:p>
                      </a:txBody>
                      <a:tcPr anchor="ctr">
                        <a:blipFill>
                          <a:blip r:embed="rId3"/>
                          <a:stretch>
                            <a:fillRect l="-509" t="-206557" r="-158779" b="-134426"/>
                          </a:stretch>
                        </a:blipFill>
                      </a:tcPr>
                    </a:tc>
                    <a:tc>
                      <a:txBody>
                        <a:bodyPr/>
                        <a:lstStyle/>
                        <a:p>
                          <a:pPr algn="ctr">
                            <a:buNone/>
                          </a:pPr>
                          <a:r>
                            <a:rPr lang="en-US" b="0" dirty="0"/>
                            <a:t>471.4</a:t>
                          </a:r>
                          <a:endParaRPr lang="el-GR" b="0" dirty="0"/>
                        </a:p>
                      </a:txBody>
                      <a:tcPr anchor="ctr"/>
                    </a:tc>
                    <a:tc>
                      <a:txBody>
                        <a:bodyPr/>
                        <a:lstStyle/>
                        <a:p>
                          <a:pPr algn="ctr">
                            <a:buNone/>
                          </a:pPr>
                          <a:r>
                            <a:rPr lang="en-US" b="0" dirty="0"/>
                            <a:t>538.8</a:t>
                          </a:r>
                          <a:endParaRPr lang="el-GR" b="0" dirty="0"/>
                        </a:p>
                      </a:txBody>
                      <a:tcPr anchor="ctr"/>
                    </a:tc>
                    <a:extLst>
                      <a:ext uri="{0D108BD9-81ED-4DB2-BD59-A6C34878D82A}">
                        <a16:rowId xmlns:a16="http://schemas.microsoft.com/office/drawing/2014/main" val="758723778"/>
                      </a:ext>
                    </a:extLst>
                  </a:tr>
                  <a:tr h="370840">
                    <a:tc>
                      <a:txBody>
                        <a:bodyPr/>
                        <a:lstStyle/>
                        <a:p>
                          <a:pPr>
                            <a:buNone/>
                          </a:pPr>
                          <a:r>
                            <a:rPr lang="en-US" i="1" dirty="0">
                              <a:effectLst>
                                <a:outerShdw blurRad="38100" dist="38100" dir="2700000" algn="tl">
                                  <a:srgbClr val="000000">
                                    <a:alpha val="43137"/>
                                  </a:srgbClr>
                                </a:outerShdw>
                              </a:effectLst>
                            </a:rPr>
                            <a:t>Number of boreholes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392</a:t>
                          </a:r>
                          <a:endParaRPr lang="el-GR" b="0" dirty="0"/>
                        </a:p>
                      </a:txBody>
                      <a:tcPr anchor="ctr"/>
                    </a:tc>
                    <a:tc>
                      <a:txBody>
                        <a:bodyPr/>
                        <a:lstStyle/>
                        <a:p>
                          <a:pPr algn="ctr">
                            <a:buNone/>
                          </a:pPr>
                          <a:r>
                            <a:rPr lang="en-US" b="0" dirty="0"/>
                            <a:t>429</a:t>
                          </a:r>
                          <a:endParaRPr lang="el-GR" b="0" dirty="0"/>
                        </a:p>
                      </a:txBody>
                      <a:tcPr anchor="ctr"/>
                    </a:tc>
                    <a:extLst>
                      <a:ext uri="{0D108BD9-81ED-4DB2-BD59-A6C34878D82A}">
                        <a16:rowId xmlns:a16="http://schemas.microsoft.com/office/drawing/2014/main" val="954731737"/>
                      </a:ext>
                    </a:extLst>
                  </a:tr>
                </a:tbl>
              </a:graphicData>
            </a:graphic>
          </p:graphicFrame>
        </mc:Fallback>
      </mc:AlternateContent>
      <p:sp>
        <p:nvSpPr>
          <p:cNvPr id="6" name="Slide Number Placeholder 5">
            <a:extLst>
              <a:ext uri="{FF2B5EF4-FFF2-40B4-BE49-F238E27FC236}">
                <a16:creationId xmlns:a16="http://schemas.microsoft.com/office/drawing/2014/main" id="{F8190695-64CF-443A-D5E1-F02521346EE9}"/>
              </a:ext>
            </a:extLst>
          </p:cNvPr>
          <p:cNvSpPr>
            <a:spLocks noGrp="1"/>
          </p:cNvSpPr>
          <p:nvPr>
            <p:ph type="sldNum" sz="quarter" idx="4"/>
          </p:nvPr>
        </p:nvSpPr>
        <p:spPr/>
        <p:txBody>
          <a:bodyPr/>
          <a:lstStyle/>
          <a:p>
            <a:fld id="{CC7E3F2E-5E17-4E15-9E32-D4A7BBAEA187}" type="slidenum">
              <a:rPr lang="el-GR" smtClean="0"/>
              <a:t>25</a:t>
            </a:fld>
            <a:endParaRPr lang="el-GR"/>
          </a:p>
        </p:txBody>
      </p:sp>
    </p:spTree>
    <p:extLst>
      <p:ext uri="{BB962C8B-B14F-4D97-AF65-F5344CB8AC3E}">
        <p14:creationId xmlns:p14="http://schemas.microsoft.com/office/powerpoint/2010/main" val="461541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CB115-6048-62C7-C4CE-CFACCC8456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16428"/>
            <a:ext cx="9144000" cy="5225143"/>
          </a:xfrm>
          <a:prstGeom prst="rect">
            <a:avLst/>
          </a:prstGeom>
        </p:spPr>
      </p:pic>
      <p:sp>
        <p:nvSpPr>
          <p:cNvPr id="2" name="Slide Number Placeholder 1">
            <a:extLst>
              <a:ext uri="{FF2B5EF4-FFF2-40B4-BE49-F238E27FC236}">
                <a16:creationId xmlns:a16="http://schemas.microsoft.com/office/drawing/2014/main" id="{CAA7F6B3-1A52-A6E2-5877-013BAD257E85}"/>
              </a:ext>
            </a:extLst>
          </p:cNvPr>
          <p:cNvSpPr>
            <a:spLocks noGrp="1"/>
          </p:cNvSpPr>
          <p:nvPr>
            <p:ph type="sldNum" sz="quarter" idx="4"/>
          </p:nvPr>
        </p:nvSpPr>
        <p:spPr/>
        <p:txBody>
          <a:bodyPr/>
          <a:lstStyle/>
          <a:p>
            <a:fld id="{CC7E3F2E-5E17-4E15-9E32-D4A7BBAEA187}" type="slidenum">
              <a:rPr lang="el-GR" smtClean="0"/>
              <a:t>26</a:t>
            </a:fld>
            <a:endParaRPr lang="el-GR"/>
          </a:p>
        </p:txBody>
      </p:sp>
    </p:spTree>
    <p:extLst>
      <p:ext uri="{BB962C8B-B14F-4D97-AF65-F5344CB8AC3E}">
        <p14:creationId xmlns:p14="http://schemas.microsoft.com/office/powerpoint/2010/main" val="4072938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7787-1116-BDD6-3BFD-A90C5AF7B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124EA-C040-8731-8540-FAB8E922DFA4}"/>
              </a:ext>
            </a:extLst>
          </p:cNvPr>
          <p:cNvSpPr>
            <a:spLocks noGrp="1"/>
          </p:cNvSpPr>
          <p:nvPr>
            <p:ph type="title"/>
          </p:nvPr>
        </p:nvSpPr>
        <p:spPr>
          <a:xfrm>
            <a:off x="457200" y="197768"/>
            <a:ext cx="7139136" cy="1143000"/>
          </a:xfrm>
        </p:spPr>
        <p:txBody>
          <a:bodyPr anchor="t">
            <a:normAutofit/>
          </a:bodyPr>
          <a:lstStyle/>
          <a:p>
            <a:r>
              <a:rPr lang="en-US" i="1" dirty="0">
                <a:effectLst>
                  <a:outerShdw blurRad="38100" dist="38100" dir="2700000" algn="tl">
                    <a:srgbClr val="000000">
                      <a:alpha val="43137"/>
                    </a:srgbClr>
                  </a:outerShdw>
                </a:effectLst>
              </a:rPr>
              <a:t>Results - MILP </a:t>
            </a:r>
            <a:br>
              <a:rPr lang="en-US" i="1" dirty="0">
                <a:effectLst>
                  <a:outerShdw blurRad="38100" dist="38100" dir="2700000" algn="tl">
                    <a:srgbClr val="000000">
                      <a:alpha val="43137"/>
                    </a:srgbClr>
                  </a:outerShdw>
                </a:effectLst>
              </a:rPr>
            </a:br>
            <a:r>
              <a:rPr lang="en-US" i="1" dirty="0">
                <a:effectLst>
                  <a:outerShdw blurRad="38100" dist="38100" dir="2700000" algn="tl">
                    <a:srgbClr val="000000">
                      <a:alpha val="43137"/>
                    </a:srgbClr>
                  </a:outerShdw>
                </a:effectLst>
              </a:rPr>
              <a:t>simplifications/sizes</a:t>
            </a:r>
            <a:endParaRPr lang="el-GR" i="1" dirty="0">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203383FA-FB6F-E059-F0F2-ABD27D7BED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96752"/>
            <a:ext cx="8856984" cy="5463479"/>
          </a:xfrm>
          <a:prstGeom prst="rect">
            <a:avLst/>
          </a:prstGeom>
          <a:noFill/>
        </p:spPr>
      </p:pic>
      <p:sp>
        <p:nvSpPr>
          <p:cNvPr id="6" name="Rectangle 5">
            <a:extLst>
              <a:ext uri="{FF2B5EF4-FFF2-40B4-BE49-F238E27FC236}">
                <a16:creationId xmlns:a16="http://schemas.microsoft.com/office/drawing/2014/main" id="{EA19BEFB-5A93-4044-156F-59F3BF4637A2}"/>
              </a:ext>
            </a:extLst>
          </p:cNvPr>
          <p:cNvSpPr/>
          <p:nvPr/>
        </p:nvSpPr>
        <p:spPr>
          <a:xfrm>
            <a:off x="143508" y="3113437"/>
            <a:ext cx="8856984" cy="288032"/>
          </a:xfrm>
          <a:prstGeom prst="rect">
            <a:avLst/>
          </a:prstGeom>
          <a:noFill/>
          <a:ln w="57150">
            <a:solidFill>
              <a:schemeClr val="accent3">
                <a:lumMod val="50000"/>
                <a:lumOff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 name="Rectangle 7">
            <a:extLst>
              <a:ext uri="{FF2B5EF4-FFF2-40B4-BE49-F238E27FC236}">
                <a16:creationId xmlns:a16="http://schemas.microsoft.com/office/drawing/2014/main" id="{274F834C-127A-E15B-301C-40728A78224B}"/>
              </a:ext>
            </a:extLst>
          </p:cNvPr>
          <p:cNvSpPr/>
          <p:nvPr/>
        </p:nvSpPr>
        <p:spPr>
          <a:xfrm>
            <a:off x="143508" y="5949280"/>
            <a:ext cx="8856984" cy="288032"/>
          </a:xfrm>
          <a:prstGeom prst="rect">
            <a:avLst/>
          </a:prstGeom>
          <a:noFill/>
          <a:ln w="57150">
            <a:solidFill>
              <a:schemeClr val="accent3">
                <a:lumMod val="50000"/>
                <a:lumOff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 name="Rectangle 9">
            <a:extLst>
              <a:ext uri="{FF2B5EF4-FFF2-40B4-BE49-F238E27FC236}">
                <a16:creationId xmlns:a16="http://schemas.microsoft.com/office/drawing/2014/main" id="{ED5F85D0-AB6E-2EE9-AF4E-6FD405D5D367}"/>
              </a:ext>
            </a:extLst>
          </p:cNvPr>
          <p:cNvSpPr/>
          <p:nvPr/>
        </p:nvSpPr>
        <p:spPr>
          <a:xfrm>
            <a:off x="143120" y="6329760"/>
            <a:ext cx="8856984" cy="288032"/>
          </a:xfrm>
          <a:prstGeom prst="rect">
            <a:avLst/>
          </a:prstGeom>
          <a:noFill/>
          <a:ln w="57150">
            <a:solidFill>
              <a:schemeClr val="accent3">
                <a:lumMod val="50000"/>
                <a:lumOff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2" name="Rectangle 11">
            <a:extLst>
              <a:ext uri="{FF2B5EF4-FFF2-40B4-BE49-F238E27FC236}">
                <a16:creationId xmlns:a16="http://schemas.microsoft.com/office/drawing/2014/main" id="{2AC0C6C1-5531-68D7-7DBB-C856A9C46AAE}"/>
              </a:ext>
            </a:extLst>
          </p:cNvPr>
          <p:cNvSpPr/>
          <p:nvPr/>
        </p:nvSpPr>
        <p:spPr>
          <a:xfrm rot="5400000">
            <a:off x="2710026" y="3621173"/>
            <a:ext cx="5045049" cy="1033070"/>
          </a:xfrm>
          <a:prstGeom prst="rect">
            <a:avLst/>
          </a:prstGeom>
          <a:noFill/>
          <a:ln w="57150">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 name="Slide Number Placeholder 2">
            <a:extLst>
              <a:ext uri="{FF2B5EF4-FFF2-40B4-BE49-F238E27FC236}">
                <a16:creationId xmlns:a16="http://schemas.microsoft.com/office/drawing/2014/main" id="{B12F545A-090B-050F-F2B4-3A08C4E0546C}"/>
              </a:ext>
            </a:extLst>
          </p:cNvPr>
          <p:cNvSpPr>
            <a:spLocks noGrp="1"/>
          </p:cNvSpPr>
          <p:nvPr>
            <p:ph type="sldNum" sz="quarter" idx="4"/>
          </p:nvPr>
        </p:nvSpPr>
        <p:spPr/>
        <p:txBody>
          <a:bodyPr/>
          <a:lstStyle/>
          <a:p>
            <a:fld id="{CC7E3F2E-5E17-4E15-9E32-D4A7BBAEA187}" type="slidenum">
              <a:rPr lang="el-GR" smtClean="0"/>
              <a:t>27</a:t>
            </a:fld>
            <a:endParaRPr lang="el-GR"/>
          </a:p>
        </p:txBody>
      </p:sp>
      <p:sp>
        <p:nvSpPr>
          <p:cNvPr id="4" name="Rectangle 3">
            <a:extLst>
              <a:ext uri="{FF2B5EF4-FFF2-40B4-BE49-F238E27FC236}">
                <a16:creationId xmlns:a16="http://schemas.microsoft.com/office/drawing/2014/main" id="{DC18C4C8-7B1C-E94E-7272-F174F9F9249C}"/>
              </a:ext>
            </a:extLst>
          </p:cNvPr>
          <p:cNvSpPr/>
          <p:nvPr/>
        </p:nvSpPr>
        <p:spPr>
          <a:xfrm>
            <a:off x="2411760" y="1615182"/>
            <a:ext cx="6476544" cy="373657"/>
          </a:xfrm>
          <a:prstGeom prst="rect">
            <a:avLst/>
          </a:prstGeom>
          <a:noFill/>
          <a:ln w="57150">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3092781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AE2B-75BE-057D-1276-DEF93E399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79C8E-4D0B-BCEA-D40D-1FC1388F8FD8}"/>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Extended Case Study</a:t>
            </a:r>
            <a:endParaRPr lang="el-GR" i="1" dirty="0">
              <a:effectLst>
                <a:outerShdw blurRad="38100" dist="38100" dir="2700000" algn="tl">
                  <a:srgbClr val="000000">
                    <a:alpha val="43137"/>
                  </a:srgbClr>
                </a:outerShdw>
              </a:effectLst>
            </a:endParaRPr>
          </a:p>
        </p:txBody>
      </p:sp>
      <p:graphicFrame>
        <p:nvGraphicFramePr>
          <p:cNvPr id="3" name="Content Placeholder 3">
            <a:extLst>
              <a:ext uri="{FF2B5EF4-FFF2-40B4-BE49-F238E27FC236}">
                <a16:creationId xmlns:a16="http://schemas.microsoft.com/office/drawing/2014/main" id="{208CF4E3-9A36-884E-5AA6-86E6B61BD782}"/>
              </a:ext>
            </a:extLst>
          </p:cNvPr>
          <p:cNvGraphicFramePr>
            <a:graphicFrameLocks noGrp="1"/>
          </p:cNvGraphicFramePr>
          <p:nvPr>
            <p:ph idx="1"/>
          </p:nvPr>
        </p:nvGraphicFramePr>
        <p:xfrm>
          <a:off x="1179790" y="1412776"/>
          <a:ext cx="6992608" cy="4785360"/>
        </p:xfrm>
        <a:graphic>
          <a:graphicData uri="http://schemas.openxmlformats.org/drawingml/2006/table">
            <a:tbl>
              <a:tblPr firstRow="1" bandRow="1">
                <a:tableStyleId>{00A15C55-8517-42AA-B614-E9B94910E393}</a:tableStyleId>
              </a:tblPr>
              <a:tblGrid>
                <a:gridCol w="1748152">
                  <a:extLst>
                    <a:ext uri="{9D8B030D-6E8A-4147-A177-3AD203B41FA5}">
                      <a16:colId xmlns:a16="http://schemas.microsoft.com/office/drawing/2014/main" val="2132700379"/>
                    </a:ext>
                  </a:extLst>
                </a:gridCol>
                <a:gridCol w="1748152">
                  <a:extLst>
                    <a:ext uri="{9D8B030D-6E8A-4147-A177-3AD203B41FA5}">
                      <a16:colId xmlns:a16="http://schemas.microsoft.com/office/drawing/2014/main" val="1932372919"/>
                    </a:ext>
                  </a:extLst>
                </a:gridCol>
                <a:gridCol w="1748152">
                  <a:extLst>
                    <a:ext uri="{9D8B030D-6E8A-4147-A177-3AD203B41FA5}">
                      <a16:colId xmlns:a16="http://schemas.microsoft.com/office/drawing/2014/main" val="1707287827"/>
                    </a:ext>
                  </a:extLst>
                </a:gridCol>
                <a:gridCol w="1748152">
                  <a:extLst>
                    <a:ext uri="{9D8B030D-6E8A-4147-A177-3AD203B41FA5}">
                      <a16:colId xmlns:a16="http://schemas.microsoft.com/office/drawing/2014/main" val="666949265"/>
                    </a:ext>
                  </a:extLst>
                </a:gridCol>
              </a:tblGrid>
              <a:tr h="370840">
                <a:tc>
                  <a:txBody>
                    <a:bodyPr/>
                    <a:lstStyle/>
                    <a:p>
                      <a:pPr>
                        <a:buNone/>
                      </a:pPr>
                      <a:r>
                        <a:rPr lang="el-GR" dirty="0" err="1"/>
                        <a:t>Technology</a:t>
                      </a:r>
                      <a:endParaRPr lang="el-GR" dirty="0"/>
                    </a:p>
                  </a:txBody>
                  <a:tcPr anchor="ctr"/>
                </a:tc>
                <a:tc>
                  <a:txBody>
                    <a:bodyPr/>
                    <a:lstStyle/>
                    <a:p>
                      <a:pPr algn="ctr">
                        <a:buNone/>
                      </a:pPr>
                      <a:r>
                        <a:rPr lang="en-US" dirty="0"/>
                        <a:t>MINLP</a:t>
                      </a:r>
                      <a:endParaRPr lang="el-GR" dirty="0"/>
                    </a:p>
                  </a:txBody>
                  <a:tcPr anchor="ctr"/>
                </a:tc>
                <a:tc>
                  <a:txBody>
                    <a:bodyPr/>
                    <a:lstStyle/>
                    <a:p>
                      <a:pPr algn="ctr">
                        <a:buNone/>
                      </a:pPr>
                      <a:r>
                        <a:rPr lang="en-US" dirty="0"/>
                        <a:t>1 seg. MILP</a:t>
                      </a:r>
                      <a:endParaRPr lang="el-GR" dirty="0"/>
                    </a:p>
                  </a:txBody>
                  <a:tcPr anchor="ctr"/>
                </a:tc>
                <a:tc>
                  <a:txBody>
                    <a:bodyPr/>
                    <a:lstStyle/>
                    <a:p>
                      <a:pPr algn="ctr">
                        <a:buNone/>
                      </a:pPr>
                      <a:r>
                        <a:rPr lang="en-US" dirty="0"/>
                        <a:t>|MILP-MINLP| [%]</a:t>
                      </a:r>
                      <a:endParaRPr lang="el-GR" dirty="0"/>
                    </a:p>
                  </a:txBody>
                  <a:tcPr anchor="ctr"/>
                </a:tc>
                <a:extLst>
                  <a:ext uri="{0D108BD9-81ED-4DB2-BD59-A6C34878D82A}">
                    <a16:rowId xmlns:a16="http://schemas.microsoft.com/office/drawing/2014/main" val="2478972241"/>
                  </a:ext>
                </a:extLst>
              </a:tr>
              <a:tr h="370840">
                <a:tc>
                  <a:txBody>
                    <a:bodyPr/>
                    <a:lstStyle/>
                    <a:p>
                      <a:pPr>
                        <a:buNone/>
                      </a:pPr>
                      <a:r>
                        <a:rPr lang="en-US" dirty="0">
                          <a:effectLst>
                            <a:outerShdw blurRad="38100" dist="38100" dir="2700000" algn="tl">
                              <a:srgbClr val="000000">
                                <a:alpha val="43137"/>
                              </a:srgbClr>
                            </a:outerShdw>
                          </a:effectLst>
                        </a:rPr>
                        <a:t>BTES </a:t>
                      </a:r>
                      <a:r>
                        <a:rPr lang="el-GR" dirty="0" err="1">
                          <a:effectLst>
                            <a:outerShdw blurRad="38100" dist="38100" dir="2700000" algn="tl">
                              <a:srgbClr val="000000">
                                <a:alpha val="43137"/>
                              </a:srgbClr>
                            </a:outerShdw>
                          </a:effectLst>
                        </a:rPr>
                        <a:t>Heat</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Pump</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kW</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297</a:t>
                      </a:r>
                      <a:endParaRPr lang="el-GR" b="0" dirty="0"/>
                    </a:p>
                  </a:txBody>
                  <a:tcPr anchor="ctr"/>
                </a:tc>
                <a:tc>
                  <a:txBody>
                    <a:bodyPr/>
                    <a:lstStyle/>
                    <a:p>
                      <a:pPr algn="ctr">
                        <a:buNone/>
                      </a:pPr>
                      <a:r>
                        <a:rPr lang="en-US" b="0" dirty="0"/>
                        <a:t>326</a:t>
                      </a:r>
                      <a:endParaRPr lang="el-GR" b="0" dirty="0"/>
                    </a:p>
                  </a:txBody>
                  <a:tcPr anchor="ctr"/>
                </a:tc>
                <a:tc>
                  <a:txBody>
                    <a:bodyPr/>
                    <a:lstStyle/>
                    <a:p>
                      <a:pPr algn="ctr">
                        <a:buNone/>
                      </a:pPr>
                      <a:r>
                        <a:rPr lang="en-US" b="0" dirty="0"/>
                        <a:t>10.11</a:t>
                      </a:r>
                      <a:endParaRPr lang="el-GR" b="0" dirty="0"/>
                    </a:p>
                  </a:txBody>
                  <a:tcPr anchor="ctr"/>
                </a:tc>
                <a:extLst>
                  <a:ext uri="{0D108BD9-81ED-4DB2-BD59-A6C34878D82A}">
                    <a16:rowId xmlns:a16="http://schemas.microsoft.com/office/drawing/2014/main" val="4191835569"/>
                  </a:ext>
                </a:extLst>
              </a:tr>
              <a:tr h="370840">
                <a:tc>
                  <a:txBody>
                    <a:bodyPr/>
                    <a:lstStyle/>
                    <a:p>
                      <a:pPr>
                        <a:buNone/>
                      </a:pPr>
                      <a:r>
                        <a:rPr lang="el-GR" dirty="0" err="1">
                          <a:effectLst>
                            <a:outerShdw blurRad="38100" dist="38100" dir="2700000" algn="tl">
                              <a:srgbClr val="000000">
                                <a:alpha val="43137"/>
                              </a:srgbClr>
                            </a:outerShdw>
                          </a:effectLst>
                        </a:rPr>
                        <a:t>Boiler</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kW</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875</a:t>
                      </a:r>
                      <a:endParaRPr lang="el-GR" b="0" dirty="0"/>
                    </a:p>
                  </a:txBody>
                  <a:tcPr anchor="ctr"/>
                </a:tc>
                <a:tc>
                  <a:txBody>
                    <a:bodyPr/>
                    <a:lstStyle/>
                    <a:p>
                      <a:pPr algn="ctr">
                        <a:buNone/>
                      </a:pPr>
                      <a:r>
                        <a:rPr lang="en-US" b="0" dirty="0"/>
                        <a:t>866</a:t>
                      </a:r>
                      <a:endParaRPr lang="el-GR" b="0" dirty="0"/>
                    </a:p>
                  </a:txBody>
                  <a:tcPr anchor="ctr"/>
                </a:tc>
                <a:tc>
                  <a:txBody>
                    <a:bodyPr/>
                    <a:lstStyle/>
                    <a:p>
                      <a:pPr algn="ctr">
                        <a:buNone/>
                      </a:pPr>
                      <a:r>
                        <a:rPr lang="en-US" b="0" dirty="0"/>
                        <a:t>1.04</a:t>
                      </a:r>
                      <a:endParaRPr lang="el-GR" b="0" dirty="0"/>
                    </a:p>
                  </a:txBody>
                  <a:tcPr anchor="ctr"/>
                </a:tc>
                <a:extLst>
                  <a:ext uri="{0D108BD9-81ED-4DB2-BD59-A6C34878D82A}">
                    <a16:rowId xmlns:a16="http://schemas.microsoft.com/office/drawing/2014/main" val="758723778"/>
                  </a:ext>
                </a:extLst>
              </a:tr>
              <a:tr h="370840">
                <a:tc>
                  <a:txBody>
                    <a:bodyPr/>
                    <a:lstStyle/>
                    <a:p>
                      <a:pPr>
                        <a:buNone/>
                      </a:pPr>
                      <a:r>
                        <a:rPr lang="el-GR" dirty="0" err="1">
                          <a:effectLst>
                            <a:outerShdw blurRad="38100" dist="38100" dir="2700000" algn="tl">
                              <a:srgbClr val="000000">
                                <a:alpha val="43137"/>
                              </a:srgbClr>
                            </a:outerShdw>
                          </a:effectLst>
                        </a:rPr>
                        <a:t>Cooling</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Tower</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kW</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829</a:t>
                      </a:r>
                      <a:endParaRPr lang="el-GR" b="0" dirty="0"/>
                    </a:p>
                  </a:txBody>
                  <a:tcPr anchor="ctr"/>
                </a:tc>
                <a:tc>
                  <a:txBody>
                    <a:bodyPr/>
                    <a:lstStyle/>
                    <a:p>
                      <a:pPr algn="ctr">
                        <a:buNone/>
                      </a:pPr>
                      <a:r>
                        <a:rPr lang="en-US" b="0" dirty="0"/>
                        <a:t>830</a:t>
                      </a:r>
                      <a:endParaRPr lang="el-GR" b="0" dirty="0"/>
                    </a:p>
                  </a:txBody>
                  <a:tcPr anchor="ctr"/>
                </a:tc>
                <a:tc>
                  <a:txBody>
                    <a:bodyPr/>
                    <a:lstStyle/>
                    <a:p>
                      <a:pPr algn="ctr">
                        <a:buNone/>
                      </a:pPr>
                      <a:r>
                        <a:rPr lang="en-US" b="0" dirty="0"/>
                        <a:t>0.06</a:t>
                      </a:r>
                      <a:endParaRPr lang="el-GR" b="0" dirty="0"/>
                    </a:p>
                  </a:txBody>
                  <a:tcPr anchor="ctr"/>
                </a:tc>
                <a:extLst>
                  <a:ext uri="{0D108BD9-81ED-4DB2-BD59-A6C34878D82A}">
                    <a16:rowId xmlns:a16="http://schemas.microsoft.com/office/drawing/2014/main" val="954731737"/>
                  </a:ext>
                </a:extLst>
              </a:tr>
              <a:tr h="370840">
                <a:tc>
                  <a:txBody>
                    <a:bodyPr/>
                    <a:lstStyle/>
                    <a:p>
                      <a:pPr>
                        <a:buNone/>
                      </a:pPr>
                      <a:r>
                        <a:rPr lang="en-US" dirty="0">
                          <a:effectLst>
                            <a:outerShdw blurRad="38100" dist="38100" dir="2700000" algn="tl">
                              <a:srgbClr val="000000">
                                <a:alpha val="43137"/>
                              </a:srgbClr>
                            </a:outerShdw>
                          </a:effectLst>
                        </a:rPr>
                        <a:t>ASHP (kW)</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1064</a:t>
                      </a:r>
                      <a:endParaRPr lang="el-GR" b="0" dirty="0"/>
                    </a:p>
                  </a:txBody>
                  <a:tcPr anchor="ctr"/>
                </a:tc>
                <a:tc>
                  <a:txBody>
                    <a:bodyPr/>
                    <a:lstStyle/>
                    <a:p>
                      <a:pPr algn="ctr">
                        <a:buNone/>
                      </a:pPr>
                      <a:r>
                        <a:rPr lang="en-US" b="0" dirty="0"/>
                        <a:t>1043</a:t>
                      </a:r>
                      <a:endParaRPr lang="el-GR" b="0" dirty="0"/>
                    </a:p>
                  </a:txBody>
                  <a:tcPr anchor="ctr"/>
                </a:tc>
                <a:tc>
                  <a:txBody>
                    <a:bodyPr/>
                    <a:lstStyle/>
                    <a:p>
                      <a:pPr algn="ctr">
                        <a:buNone/>
                      </a:pPr>
                      <a:r>
                        <a:rPr lang="en-US" b="0" dirty="0"/>
                        <a:t>1.97</a:t>
                      </a:r>
                      <a:endParaRPr lang="el-GR" b="0" dirty="0"/>
                    </a:p>
                  </a:txBody>
                  <a:tcPr anchor="ctr"/>
                </a:tc>
                <a:extLst>
                  <a:ext uri="{0D108BD9-81ED-4DB2-BD59-A6C34878D82A}">
                    <a16:rowId xmlns:a16="http://schemas.microsoft.com/office/drawing/2014/main" val="2397061734"/>
                  </a:ext>
                </a:extLst>
              </a:tr>
              <a:tr h="370840">
                <a:tc>
                  <a:txBody>
                    <a:bodyPr/>
                    <a:lstStyle/>
                    <a:p>
                      <a:pPr>
                        <a:buNone/>
                      </a:pPr>
                      <a:r>
                        <a:rPr lang="en-US" dirty="0">
                          <a:effectLst>
                            <a:outerShdw blurRad="38100" dist="38100" dir="2700000" algn="tl">
                              <a:srgbClr val="000000">
                                <a:alpha val="43137"/>
                              </a:srgbClr>
                            </a:outerShdw>
                          </a:effectLst>
                        </a:rPr>
                        <a:t>Air Chiller (kW) </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356</a:t>
                      </a:r>
                      <a:endParaRPr lang="el-GR" b="0" dirty="0"/>
                    </a:p>
                  </a:txBody>
                  <a:tcPr anchor="ctr"/>
                </a:tc>
                <a:tc>
                  <a:txBody>
                    <a:bodyPr/>
                    <a:lstStyle/>
                    <a:p>
                      <a:pPr algn="ctr">
                        <a:buNone/>
                      </a:pPr>
                      <a:r>
                        <a:rPr lang="en-US" b="0" dirty="0"/>
                        <a:t>356</a:t>
                      </a:r>
                      <a:endParaRPr lang="el-GR" b="0" dirty="0"/>
                    </a:p>
                  </a:txBody>
                  <a:tcPr anchor="ctr"/>
                </a:tc>
                <a:tc>
                  <a:txBody>
                    <a:bodyPr/>
                    <a:lstStyle/>
                    <a:p>
                      <a:pPr algn="ctr">
                        <a:buNone/>
                      </a:pPr>
                      <a:r>
                        <a:rPr lang="en-US" b="0" dirty="0"/>
                        <a:t>0.00</a:t>
                      </a:r>
                      <a:endParaRPr lang="el-GR" b="0" dirty="0"/>
                    </a:p>
                  </a:txBody>
                  <a:tcPr anchor="ctr"/>
                </a:tc>
                <a:extLst>
                  <a:ext uri="{0D108BD9-81ED-4DB2-BD59-A6C34878D82A}">
                    <a16:rowId xmlns:a16="http://schemas.microsoft.com/office/drawing/2014/main" val="1687749677"/>
                  </a:ext>
                </a:extLst>
              </a:tr>
              <a:tr h="370840">
                <a:tc>
                  <a:txBody>
                    <a:bodyPr/>
                    <a:lstStyle/>
                    <a:p>
                      <a:pPr>
                        <a:buNone/>
                      </a:pPr>
                      <a:r>
                        <a:rPr lang="el-GR" dirty="0">
                          <a:effectLst>
                            <a:outerShdw blurRad="38100" dist="38100" dir="2700000" algn="tl">
                              <a:srgbClr val="000000">
                                <a:alpha val="43137"/>
                              </a:srgbClr>
                            </a:outerShdw>
                          </a:effectLst>
                        </a:rPr>
                        <a:t>BTES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1</a:t>
                      </a:r>
                      <a:endParaRPr lang="el-GR" b="0" dirty="0"/>
                    </a:p>
                  </a:txBody>
                  <a:tcPr anchor="ctr"/>
                </a:tc>
                <a:tc>
                  <a:txBody>
                    <a:bodyPr/>
                    <a:lstStyle/>
                    <a:p>
                      <a:pPr algn="ctr">
                        <a:buNone/>
                      </a:pPr>
                      <a:r>
                        <a:rPr lang="en-US" b="0" dirty="0"/>
                        <a:t>1</a:t>
                      </a:r>
                      <a:endParaRPr lang="el-GR" b="0" dirty="0"/>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2725481236"/>
                  </a:ext>
                </a:extLst>
              </a:tr>
              <a:tr h="370840">
                <a:tc>
                  <a:txBody>
                    <a:bodyPr/>
                    <a:lstStyle/>
                    <a:p>
                      <a:pPr>
                        <a:buNone/>
                      </a:pPr>
                      <a:r>
                        <a:rPr lang="en-US" dirty="0">
                          <a:effectLst>
                            <a:outerShdw blurRad="38100" dist="38100" dir="2700000" algn="tl">
                              <a:srgbClr val="000000">
                                <a:alpha val="43137"/>
                              </a:srgbClr>
                            </a:outerShdw>
                          </a:effectLst>
                        </a:rPr>
                        <a:t>Volume (m</a:t>
                      </a:r>
                      <a:r>
                        <a:rPr lang="en-US" baseline="30000" dirty="0">
                          <a:effectLst>
                            <a:outerShdw blurRad="38100" dist="38100" dir="2700000" algn="tl">
                              <a:srgbClr val="000000">
                                <a:alpha val="43137"/>
                              </a:srgbClr>
                            </a:outerShdw>
                          </a:effectLst>
                        </a:rPr>
                        <a:t>3</a:t>
                      </a:r>
                      <a:r>
                        <a:rPr lang="en-US" dirty="0">
                          <a:effectLst>
                            <a:outerShdw blurRad="38100" dist="38100" dir="2700000" algn="tl">
                              <a:srgbClr val="000000">
                                <a:alpha val="43137"/>
                              </a:srgbClr>
                            </a:outerShdw>
                          </a:effectLst>
                        </a:rPr>
                        <a:t>)</a:t>
                      </a:r>
                      <a:endParaRPr lang="el-GR" i="1" baseline="30000" dirty="0">
                        <a:effectLst>
                          <a:outerShdw blurRad="38100" dist="38100" dir="2700000" algn="tl">
                            <a:srgbClr val="000000">
                              <a:alpha val="43137"/>
                            </a:srgbClr>
                          </a:outerShdw>
                        </a:effectLs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179,600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800" b="0" dirty="0">
                          <a:solidFill>
                            <a:schemeClr val="tx1"/>
                          </a:solidFill>
                        </a:rPr>
                        <a:t>179,600</a:t>
                      </a:r>
                    </a:p>
                  </a:txBody>
                  <a:tcPr anchor="ctr"/>
                </a:tc>
                <a:tc>
                  <a:txBody>
                    <a:bodyPr/>
                    <a:lstStyle/>
                    <a:p>
                      <a:pPr algn="ctr">
                        <a:buNone/>
                      </a:pPr>
                      <a:r>
                        <a:rPr lang="en-US" b="0" dirty="0"/>
                        <a:t>-</a:t>
                      </a:r>
                      <a:endParaRPr lang="el-GR" b="0" dirty="0"/>
                    </a:p>
                  </a:txBody>
                  <a:tcPr anchor="ctr"/>
                </a:tc>
                <a:extLst>
                  <a:ext uri="{0D108BD9-81ED-4DB2-BD59-A6C34878D82A}">
                    <a16:rowId xmlns:a16="http://schemas.microsoft.com/office/drawing/2014/main" val="4123158456"/>
                  </a:ext>
                </a:extLst>
              </a:tr>
              <a:tr h="370840">
                <a:tc>
                  <a:txBody>
                    <a:bodyPr/>
                    <a:lstStyle/>
                    <a:p>
                      <a:pPr>
                        <a:buNone/>
                      </a:pPr>
                      <a:r>
                        <a:rPr lang="el-GR" dirty="0" err="1">
                          <a:effectLst>
                            <a:outerShdw blurRad="38100" dist="38100" dir="2700000" algn="tl">
                              <a:srgbClr val="000000">
                                <a:alpha val="43137"/>
                              </a:srgbClr>
                            </a:outerShdw>
                          </a:effectLst>
                        </a:rPr>
                        <a:t>Annual</a:t>
                      </a:r>
                      <a:r>
                        <a:rPr lang="el-GR" dirty="0">
                          <a:effectLst>
                            <a:outerShdw blurRad="38100" dist="38100" dir="2700000" algn="tl">
                              <a:srgbClr val="000000">
                                <a:alpha val="43137"/>
                              </a:srgbClr>
                            </a:outerShdw>
                          </a:effectLst>
                        </a:rPr>
                        <a:t> </a:t>
                      </a:r>
                      <a:r>
                        <a:rPr lang="el-GR" dirty="0" err="1">
                          <a:effectLst>
                            <a:outerShdw blurRad="38100" dist="38100" dir="2700000" algn="tl">
                              <a:srgbClr val="000000">
                                <a:alpha val="43137"/>
                              </a:srgbClr>
                            </a:outerShdw>
                          </a:effectLst>
                        </a:rPr>
                        <a:t>Cost</a:t>
                      </a:r>
                      <a:r>
                        <a:rPr lang="el-GR"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kCHF</a:t>
                      </a:r>
                      <a:r>
                        <a:rPr lang="el-GR" dirty="0">
                          <a:effectLst>
                            <a:outerShdw blurRad="38100" dist="38100" dir="2700000" algn="tl">
                              <a:srgbClr val="000000">
                                <a:alpha val="43137"/>
                              </a:srgbClr>
                            </a:outerShdw>
                          </a:effectLst>
                        </a:rPr>
                        <a:t>)</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825</a:t>
                      </a:r>
                      <a:endParaRPr lang="el-GR" b="0" dirty="0"/>
                    </a:p>
                  </a:txBody>
                  <a:tcPr anchor="ctr"/>
                </a:tc>
                <a:tc>
                  <a:txBody>
                    <a:bodyPr/>
                    <a:lstStyle/>
                    <a:p>
                      <a:pPr algn="ctr">
                        <a:buNone/>
                      </a:pPr>
                      <a:r>
                        <a:rPr lang="en-US" b="0" dirty="0"/>
                        <a:t>802</a:t>
                      </a:r>
                      <a:endParaRPr lang="el-GR" b="0" dirty="0"/>
                    </a:p>
                  </a:txBody>
                  <a:tcPr anchor="ctr"/>
                </a:tc>
                <a:tc>
                  <a:txBody>
                    <a:bodyPr/>
                    <a:lstStyle/>
                    <a:p>
                      <a:pPr algn="ctr">
                        <a:buNone/>
                      </a:pPr>
                      <a:r>
                        <a:rPr lang="en-US" b="0" dirty="0"/>
                        <a:t>3.44</a:t>
                      </a:r>
                      <a:endParaRPr lang="el-GR" b="0" dirty="0"/>
                    </a:p>
                  </a:txBody>
                  <a:tcPr anchor="ctr"/>
                </a:tc>
                <a:extLst>
                  <a:ext uri="{0D108BD9-81ED-4DB2-BD59-A6C34878D82A}">
                    <a16:rowId xmlns:a16="http://schemas.microsoft.com/office/drawing/2014/main" val="2740487473"/>
                  </a:ext>
                </a:extLst>
              </a:tr>
              <a:tr h="370840">
                <a:tc>
                  <a:txBody>
                    <a:bodyPr/>
                    <a:lstStyle/>
                    <a:p>
                      <a:pPr>
                        <a:buNone/>
                      </a:pPr>
                      <a:r>
                        <a:rPr lang="en-US" dirty="0">
                          <a:effectLst>
                            <a:outerShdw blurRad="38100" dist="38100" dir="2700000" algn="tl">
                              <a:srgbClr val="000000">
                                <a:alpha val="43137"/>
                              </a:srgbClr>
                            </a:outerShdw>
                          </a:effectLst>
                        </a:rPr>
                        <a:t>Run time (s)</a:t>
                      </a:r>
                      <a:endParaRPr lang="el-GR" i="1" dirty="0">
                        <a:effectLst>
                          <a:outerShdw blurRad="38100" dist="38100" dir="2700000" algn="tl">
                            <a:srgbClr val="000000">
                              <a:alpha val="43137"/>
                            </a:srgbClr>
                          </a:outerShdw>
                        </a:effectLst>
                      </a:endParaRPr>
                    </a:p>
                  </a:txBody>
                  <a:tcPr anchor="ctr"/>
                </a:tc>
                <a:tc>
                  <a:txBody>
                    <a:bodyPr/>
                    <a:lstStyle/>
                    <a:p>
                      <a:pPr algn="ctr">
                        <a:buNone/>
                      </a:pPr>
                      <a:r>
                        <a:rPr lang="en-US" b="0" dirty="0"/>
                        <a:t>366</a:t>
                      </a:r>
                      <a:endParaRPr lang="el-GR" b="0" dirty="0"/>
                    </a:p>
                  </a:txBody>
                  <a:tcPr anchor="ctr"/>
                </a:tc>
                <a:tc>
                  <a:txBody>
                    <a:bodyPr/>
                    <a:lstStyle/>
                    <a:p>
                      <a:pPr algn="ctr">
                        <a:buNone/>
                      </a:pPr>
                      <a:r>
                        <a:rPr lang="en-US" b="0" dirty="0"/>
                        <a:t>253</a:t>
                      </a:r>
                      <a:endParaRPr lang="el-GR" b="0" dirty="0"/>
                    </a:p>
                  </a:txBody>
                  <a:tcPr anchor="ctr"/>
                </a:tc>
                <a:tc>
                  <a:txBody>
                    <a:bodyPr/>
                    <a:lstStyle/>
                    <a:p>
                      <a:pPr algn="ctr">
                        <a:buNone/>
                      </a:pPr>
                      <a:r>
                        <a:rPr lang="en-US" b="0" dirty="0"/>
                        <a:t>30.91</a:t>
                      </a:r>
                      <a:endParaRPr lang="el-GR" b="0" dirty="0"/>
                    </a:p>
                  </a:txBody>
                  <a:tcPr anchor="ctr"/>
                </a:tc>
                <a:extLst>
                  <a:ext uri="{0D108BD9-81ED-4DB2-BD59-A6C34878D82A}">
                    <a16:rowId xmlns:a16="http://schemas.microsoft.com/office/drawing/2014/main" val="1501277383"/>
                  </a:ext>
                </a:extLst>
              </a:tr>
            </a:tbl>
          </a:graphicData>
        </a:graphic>
      </p:graphicFrame>
      <p:sp>
        <p:nvSpPr>
          <p:cNvPr id="4" name="Slide Number Placeholder 3">
            <a:extLst>
              <a:ext uri="{FF2B5EF4-FFF2-40B4-BE49-F238E27FC236}">
                <a16:creationId xmlns:a16="http://schemas.microsoft.com/office/drawing/2014/main" id="{25C3C404-EBC3-6EA2-15CD-4FA3BC4BD960}"/>
              </a:ext>
            </a:extLst>
          </p:cNvPr>
          <p:cNvSpPr>
            <a:spLocks noGrp="1"/>
          </p:cNvSpPr>
          <p:nvPr>
            <p:ph type="sldNum" sz="quarter" idx="4"/>
          </p:nvPr>
        </p:nvSpPr>
        <p:spPr/>
        <p:txBody>
          <a:bodyPr/>
          <a:lstStyle/>
          <a:p>
            <a:fld id="{CC7E3F2E-5E17-4E15-9E32-D4A7BBAEA187}" type="slidenum">
              <a:rPr lang="el-GR" smtClean="0"/>
              <a:t>28</a:t>
            </a:fld>
            <a:endParaRPr lang="el-GR"/>
          </a:p>
        </p:txBody>
      </p:sp>
    </p:spTree>
    <p:extLst>
      <p:ext uri="{BB962C8B-B14F-4D97-AF65-F5344CB8AC3E}">
        <p14:creationId xmlns:p14="http://schemas.microsoft.com/office/powerpoint/2010/main" val="1909802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EEB3-2DA7-ADBA-E45E-B7501F232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B2D7E-E7CC-8CAE-9F4B-6782E3DD2BB1}"/>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Heuristic Model</a:t>
            </a:r>
            <a:endParaRPr lang="el-GR" i="1" dirty="0">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3CDCC5D0-6E09-6F1E-53E5-D6F2080BA479}"/>
              </a:ext>
            </a:extLst>
          </p:cNvPr>
          <p:cNvSpPr>
            <a:spLocks noGrp="1"/>
          </p:cNvSpPr>
          <p:nvPr>
            <p:ph idx="1"/>
          </p:nvPr>
        </p:nvSpPr>
        <p:spPr/>
        <p:txBody>
          <a:bodyPr/>
          <a:lstStyle/>
          <a:p>
            <a:r>
              <a:rPr lang="el-GR" dirty="0" err="1"/>
              <a:t>Provides</a:t>
            </a:r>
            <a:r>
              <a:rPr lang="el-GR" dirty="0"/>
              <a:t> a </a:t>
            </a:r>
            <a:r>
              <a:rPr lang="el-GR" dirty="0" err="1"/>
              <a:t>simple</a:t>
            </a:r>
            <a:r>
              <a:rPr lang="el-GR" dirty="0"/>
              <a:t>, non-</a:t>
            </a:r>
            <a:r>
              <a:rPr lang="el-GR" dirty="0" err="1"/>
              <a:t>optimization</a:t>
            </a:r>
            <a:r>
              <a:rPr lang="el-GR" dirty="0"/>
              <a:t> </a:t>
            </a:r>
            <a:r>
              <a:rPr lang="el-GR" dirty="0" err="1"/>
              <a:t>baseline</a:t>
            </a:r>
            <a:r>
              <a:rPr lang="el-GR" dirty="0"/>
              <a:t> for </a:t>
            </a:r>
            <a:r>
              <a:rPr lang="el-GR" dirty="0" err="1"/>
              <a:t>sizing</a:t>
            </a:r>
            <a:r>
              <a:rPr lang="el-GR" dirty="0"/>
              <a:t> the </a:t>
            </a:r>
            <a:r>
              <a:rPr lang="el-GR" dirty="0" err="1"/>
              <a:t>borehole</a:t>
            </a:r>
            <a:r>
              <a:rPr lang="el-GR" dirty="0"/>
              <a:t> </a:t>
            </a:r>
            <a:r>
              <a:rPr lang="el-GR" dirty="0" err="1"/>
              <a:t>thermal</a:t>
            </a:r>
            <a:r>
              <a:rPr lang="el-GR" dirty="0"/>
              <a:t> </a:t>
            </a:r>
            <a:r>
              <a:rPr lang="el-GR" dirty="0" err="1"/>
              <a:t>energy</a:t>
            </a:r>
            <a:r>
              <a:rPr lang="el-GR" dirty="0"/>
              <a:t> </a:t>
            </a:r>
            <a:r>
              <a:rPr lang="el-GR" dirty="0" err="1"/>
              <a:t>storage</a:t>
            </a:r>
            <a:r>
              <a:rPr lang="el-GR" dirty="0"/>
              <a:t> (BTES).</a:t>
            </a:r>
            <a:endParaRPr lang="en-US" dirty="0"/>
          </a:p>
          <a:p>
            <a:r>
              <a:rPr lang="el-GR" dirty="0" err="1"/>
              <a:t>Stores</a:t>
            </a:r>
            <a:r>
              <a:rPr lang="el-GR" dirty="0"/>
              <a:t> the </a:t>
            </a:r>
            <a:r>
              <a:rPr lang="el-GR" dirty="0" err="1"/>
              <a:t>smaller</a:t>
            </a:r>
            <a:r>
              <a:rPr lang="el-GR" dirty="0"/>
              <a:t> of the </a:t>
            </a:r>
            <a:r>
              <a:rPr lang="el-GR" dirty="0" err="1"/>
              <a:t>available</a:t>
            </a:r>
            <a:r>
              <a:rPr lang="el-GR" dirty="0"/>
              <a:t> </a:t>
            </a:r>
            <a:r>
              <a:rPr lang="el-GR" dirty="0" err="1"/>
              <a:t>summer</a:t>
            </a:r>
            <a:r>
              <a:rPr lang="el-GR" dirty="0"/>
              <a:t> </a:t>
            </a:r>
            <a:r>
              <a:rPr lang="el-GR" dirty="0" err="1"/>
              <a:t>waste</a:t>
            </a:r>
            <a:r>
              <a:rPr lang="el-GR" dirty="0"/>
              <a:t> </a:t>
            </a:r>
            <a:r>
              <a:rPr lang="el-GR" dirty="0" err="1"/>
              <a:t>heat</a:t>
            </a:r>
            <a:r>
              <a:rPr lang="el-GR" dirty="0"/>
              <a:t> and </a:t>
            </a:r>
            <a:r>
              <a:rPr lang="el-GR" dirty="0" err="1"/>
              <a:t>winter</a:t>
            </a:r>
            <a:r>
              <a:rPr lang="el-GR" dirty="0"/>
              <a:t> </a:t>
            </a:r>
            <a:r>
              <a:rPr lang="el-GR" dirty="0" err="1"/>
              <a:t>heating</a:t>
            </a:r>
            <a:r>
              <a:rPr lang="el-GR" dirty="0"/>
              <a:t> </a:t>
            </a:r>
            <a:r>
              <a:rPr lang="el-GR" dirty="0" err="1"/>
              <a:t>demand</a:t>
            </a:r>
            <a:r>
              <a:rPr lang="el-GR" dirty="0"/>
              <a:t>.</a:t>
            </a:r>
            <a:endParaRPr lang="en-US" dirty="0"/>
          </a:p>
          <a:p>
            <a:r>
              <a:rPr lang="el-GR" dirty="0" err="1"/>
              <a:t>Selects</a:t>
            </a:r>
            <a:r>
              <a:rPr lang="el-GR" dirty="0"/>
              <a:t> the </a:t>
            </a:r>
            <a:r>
              <a:rPr lang="el-GR" dirty="0" err="1"/>
              <a:t>smallest</a:t>
            </a:r>
            <a:r>
              <a:rPr lang="el-GR" dirty="0"/>
              <a:t> BTES </a:t>
            </a:r>
            <a:r>
              <a:rPr lang="el-GR" dirty="0" err="1"/>
              <a:t>design</a:t>
            </a:r>
            <a:r>
              <a:rPr lang="el-GR" dirty="0"/>
              <a:t> </a:t>
            </a:r>
            <a:r>
              <a:rPr lang="el-GR" dirty="0" err="1"/>
              <a:t>capable</a:t>
            </a:r>
            <a:r>
              <a:rPr lang="el-GR" dirty="0"/>
              <a:t> of </a:t>
            </a:r>
            <a:r>
              <a:rPr lang="el-GR" dirty="0" err="1"/>
              <a:t>storing</a:t>
            </a:r>
            <a:r>
              <a:rPr lang="el-GR" dirty="0"/>
              <a:t> the </a:t>
            </a:r>
            <a:r>
              <a:rPr lang="el-GR" dirty="0" err="1"/>
              <a:t>required</a:t>
            </a:r>
            <a:r>
              <a:rPr lang="el-GR" dirty="0"/>
              <a:t> </a:t>
            </a:r>
            <a:r>
              <a:rPr lang="el-GR" dirty="0" err="1"/>
              <a:t>energy</a:t>
            </a:r>
            <a:r>
              <a:rPr lang="el-GR" dirty="0"/>
              <a:t>.</a:t>
            </a:r>
            <a:endParaRPr lang="en-US" dirty="0"/>
          </a:p>
          <a:p>
            <a:r>
              <a:rPr lang="el-GR" dirty="0" err="1"/>
              <a:t>Simulates</a:t>
            </a:r>
            <a:r>
              <a:rPr lang="el-GR" dirty="0"/>
              <a:t> </a:t>
            </a:r>
            <a:r>
              <a:rPr lang="el-GR" dirty="0" err="1"/>
              <a:t>daily</a:t>
            </a:r>
            <a:r>
              <a:rPr lang="el-GR" dirty="0"/>
              <a:t> </a:t>
            </a:r>
            <a:r>
              <a:rPr lang="el-GR" dirty="0" err="1"/>
              <a:t>charging</a:t>
            </a:r>
            <a:r>
              <a:rPr lang="el-GR" dirty="0"/>
              <a:t>, </a:t>
            </a:r>
            <a:r>
              <a:rPr lang="el-GR" dirty="0" err="1"/>
              <a:t>discharging</a:t>
            </a:r>
            <a:r>
              <a:rPr lang="el-GR" dirty="0"/>
              <a:t>, </a:t>
            </a:r>
            <a:r>
              <a:rPr lang="el-GR" dirty="0" err="1"/>
              <a:t>thermal</a:t>
            </a:r>
            <a:r>
              <a:rPr lang="el-GR" dirty="0"/>
              <a:t> </a:t>
            </a:r>
            <a:r>
              <a:rPr lang="el-GR" dirty="0" err="1"/>
              <a:t>losses</a:t>
            </a:r>
            <a:r>
              <a:rPr lang="el-GR" dirty="0"/>
              <a:t>, and BTES </a:t>
            </a:r>
            <a:r>
              <a:rPr lang="el-GR" dirty="0" err="1"/>
              <a:t>temperature</a:t>
            </a:r>
            <a:r>
              <a:rPr lang="el-GR" dirty="0"/>
              <a:t>.</a:t>
            </a:r>
          </a:p>
        </p:txBody>
      </p:sp>
      <p:sp>
        <p:nvSpPr>
          <p:cNvPr id="3" name="Slide Number Placeholder 2">
            <a:extLst>
              <a:ext uri="{FF2B5EF4-FFF2-40B4-BE49-F238E27FC236}">
                <a16:creationId xmlns:a16="http://schemas.microsoft.com/office/drawing/2014/main" id="{338D8D07-3625-0EF8-5329-2148E676ABC2}"/>
              </a:ext>
            </a:extLst>
          </p:cNvPr>
          <p:cNvSpPr>
            <a:spLocks noGrp="1"/>
          </p:cNvSpPr>
          <p:nvPr>
            <p:ph type="sldNum" sz="quarter" idx="4"/>
          </p:nvPr>
        </p:nvSpPr>
        <p:spPr/>
        <p:txBody>
          <a:bodyPr/>
          <a:lstStyle/>
          <a:p>
            <a:fld id="{CC7E3F2E-5E17-4E15-9E32-D4A7BBAEA187}" type="slidenum">
              <a:rPr lang="el-GR" smtClean="0"/>
              <a:t>29</a:t>
            </a:fld>
            <a:endParaRPr lang="el-GR"/>
          </a:p>
        </p:txBody>
      </p:sp>
    </p:spTree>
    <p:extLst>
      <p:ext uri="{BB962C8B-B14F-4D97-AF65-F5344CB8AC3E}">
        <p14:creationId xmlns:p14="http://schemas.microsoft.com/office/powerpoint/2010/main" val="3759670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6139-86B8-01A0-9A56-605022C6AB64}"/>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Steady State Heuristic</a:t>
            </a:r>
            <a:r>
              <a:rPr lang="en-US" i="1" baseline="30000" dirty="0">
                <a:effectLst>
                  <a:outerShdw blurRad="38100" dist="38100" dir="2700000" algn="tl">
                    <a:srgbClr val="000000">
                      <a:alpha val="43137"/>
                    </a:srgbClr>
                  </a:outerShdw>
                </a:effectLst>
              </a:rPr>
              <a:t>13,14</a:t>
            </a:r>
            <a:endParaRPr lang="el-GR" i="1" baseline="30000"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66AEEF-4E86-967E-0D32-FDC15C55574C}"/>
                  </a:ext>
                </a:extLst>
              </p:cNvPr>
              <p:cNvSpPr>
                <a:spLocks noGrp="1"/>
              </p:cNvSpPr>
              <p:nvPr>
                <p:ph idx="1"/>
              </p:nvPr>
            </p:nvSpPr>
            <p:spPr/>
            <p:txBody>
              <a:bodyPr>
                <a:normAutofit/>
              </a:bodyPr>
              <a:lstStyle/>
              <a:p>
                <a:r>
                  <a:rPr lang="el-GR" dirty="0" err="1"/>
                  <a:t>Available</a:t>
                </a:r>
                <a:r>
                  <a:rPr lang="el-GR" dirty="0"/>
                  <a:t> </a:t>
                </a:r>
                <a:r>
                  <a:rPr lang="el-GR" dirty="0" err="1"/>
                  <a:t>waste</a:t>
                </a:r>
                <a:r>
                  <a:rPr lang="el-GR" dirty="0"/>
                  <a:t> </a:t>
                </a:r>
                <a:r>
                  <a:rPr lang="el-GR" dirty="0" err="1"/>
                  <a:t>heat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WH</m:t>
                        </m:r>
                      </m:sub>
                    </m:sSub>
                    <m:r>
                      <a:rPr lang="el-GR" i="0" dirty="0">
                        <a:latin typeface="Cambria Math" panose="02040503050406030204" pitchFamily="18" charset="0"/>
                      </a:rPr>
                      <m:t>=</m:t>
                    </m:r>
                    <m:nary>
                      <m:naryPr>
                        <m:chr m:val="∑"/>
                        <m:limLoc m:val="undOvr"/>
                        <m:subHide m:val="on"/>
                        <m:supHide m:val="on"/>
                        <m:ctrlPr>
                          <a:rPr lang="el-GR" i="1" dirty="0">
                            <a:latin typeface="Cambria Math" panose="02040503050406030204" pitchFamily="18" charset="0"/>
                          </a:rPr>
                        </m:ctrlPr>
                      </m:naryPr>
                      <m:sub/>
                      <m:sup/>
                      <m:e>
                        <m:sSub>
                          <m:sSubPr>
                            <m:ctrlPr>
                              <a:rPr lang="el-GR" i="1" dirty="0">
                                <a:latin typeface="Cambria Math" panose="02040503050406030204" pitchFamily="18" charset="0"/>
                              </a:rPr>
                            </m:ctrlPr>
                          </m:sSubPr>
                          <m:e>
                            <m:r>
                              <a:rPr lang="el-GR" i="1" dirty="0">
                                <a:latin typeface="Cambria Math" panose="02040503050406030204" pitchFamily="18" charset="0"/>
                              </a:rPr>
                              <m:t>𝑄</m:t>
                            </m:r>
                          </m:e>
                          <m:sub>
                            <m:r>
                              <m:rPr>
                                <m:sty m:val="p"/>
                              </m:rPr>
                              <a:rPr lang="el-GR" i="0" dirty="0">
                                <a:latin typeface="Cambria Math" panose="02040503050406030204" pitchFamily="18" charset="0"/>
                              </a:rPr>
                              <m:t>cool</m:t>
                            </m:r>
                          </m:sub>
                        </m:sSub>
                      </m:e>
                    </m:nary>
                    <m:d>
                      <m:dPr>
                        <m:ctrlPr>
                          <a:rPr lang="el-GR" i="0" dirty="0">
                            <a:latin typeface="Cambria Math" panose="02040503050406030204" pitchFamily="18" charset="0"/>
                          </a:rPr>
                        </m:ctrlPr>
                      </m:dPr>
                      <m:e>
                        <m:r>
                          <a:rPr lang="el-GR" i="0" dirty="0">
                            <a:latin typeface="Cambria Math" panose="02040503050406030204" pitchFamily="18" charset="0"/>
                          </a:rPr>
                          <m:t>1+</m:t>
                        </m:r>
                        <m:f>
                          <m:fPr>
                            <m:ctrlPr>
                              <a:rPr lang="el-GR" i="0" dirty="0">
                                <a:latin typeface="Cambria Math" panose="02040503050406030204" pitchFamily="18" charset="0"/>
                              </a:rPr>
                            </m:ctrlPr>
                          </m:fPr>
                          <m:num>
                            <m:r>
                              <a:rPr lang="el-GR" i="0" dirty="0">
                                <a:latin typeface="Cambria Math" panose="02040503050406030204" pitchFamily="18" charset="0"/>
                              </a:rPr>
                              <m:t>1</m:t>
                            </m:r>
                          </m:num>
                          <m:den>
                            <m:r>
                              <a:rPr lang="el-GR" i="1" dirty="0">
                                <a:latin typeface="Cambria Math" panose="02040503050406030204" pitchFamily="18" charset="0"/>
                              </a:rPr>
                              <m:t>𝐶𝑂</m:t>
                            </m:r>
                            <m:sSub>
                              <m:sSubPr>
                                <m:ctrlPr>
                                  <a:rPr lang="el-GR" i="1" dirty="0">
                                    <a:latin typeface="Cambria Math" panose="02040503050406030204" pitchFamily="18" charset="0"/>
                                  </a:rPr>
                                </m:ctrlPr>
                              </m:sSubPr>
                              <m:e>
                                <m:r>
                                  <a:rPr lang="el-GR" i="1" dirty="0">
                                    <a:latin typeface="Cambria Math" panose="02040503050406030204" pitchFamily="18" charset="0"/>
                                  </a:rPr>
                                  <m:t>𝑃</m:t>
                                </m:r>
                              </m:e>
                              <m:sub>
                                <m:r>
                                  <m:rPr>
                                    <m:sty m:val="p"/>
                                  </m:rPr>
                                  <a:rPr lang="el-GR" i="0" dirty="0">
                                    <a:latin typeface="Cambria Math" panose="02040503050406030204" pitchFamily="18" charset="0"/>
                                  </a:rPr>
                                  <m:t>chiller</m:t>
                                </m:r>
                              </m:sub>
                            </m:sSub>
                          </m:den>
                        </m:f>
                      </m:e>
                    </m:d>
                  </m:oMath>
                </a14:m>
                <a:endParaRPr lang="en-US" dirty="0"/>
              </a:p>
              <a:p>
                <a:r>
                  <a:rPr lang="en-US" dirty="0"/>
                  <a:t>B</a:t>
                </a:r>
                <a:r>
                  <a:rPr lang="el-GR" dirty="0"/>
                  <a:t>TES-</a:t>
                </a:r>
                <a:r>
                  <a:rPr lang="el-GR" dirty="0" err="1"/>
                  <a:t>side</a:t>
                </a:r>
                <a:r>
                  <a:rPr lang="el-GR" dirty="0"/>
                  <a:t> </a:t>
                </a:r>
                <a:r>
                  <a:rPr lang="el-GR" dirty="0" err="1"/>
                  <a:t>heating</a:t>
                </a:r>
                <a:r>
                  <a:rPr lang="el-GR" dirty="0"/>
                  <a:t> </a:t>
                </a:r>
                <a:r>
                  <a:rPr lang="el-GR" dirty="0" err="1"/>
                  <a:t>demand</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dem</m:t>
                        </m:r>
                        <m:r>
                          <a:rPr lang="el-GR" i="0" dirty="0">
                            <a:latin typeface="Cambria Math" panose="02040503050406030204" pitchFamily="18" charset="0"/>
                          </a:rPr>
                          <m:t>,</m:t>
                        </m:r>
                        <m:r>
                          <m:rPr>
                            <m:sty m:val="p"/>
                          </m:rPr>
                          <a:rPr lang="el-GR" i="0" dirty="0">
                            <a:latin typeface="Cambria Math" panose="02040503050406030204" pitchFamily="18" charset="0"/>
                          </a:rPr>
                          <m:t>BTES</m:t>
                        </m:r>
                      </m:sub>
                    </m:sSub>
                    <m:r>
                      <a:rPr lang="el-GR" i="0" dirty="0">
                        <a:latin typeface="Cambria Math" panose="02040503050406030204" pitchFamily="18" charset="0"/>
                      </a:rPr>
                      <m:t>=</m:t>
                    </m:r>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heat</m:t>
                        </m:r>
                      </m:sub>
                    </m:sSub>
                    <m:d>
                      <m:dPr>
                        <m:ctrlPr>
                          <a:rPr lang="el-GR" i="0" dirty="0">
                            <a:latin typeface="Cambria Math" panose="02040503050406030204" pitchFamily="18" charset="0"/>
                          </a:rPr>
                        </m:ctrlPr>
                      </m:dPr>
                      <m:e>
                        <m:r>
                          <a:rPr lang="el-GR" i="0" dirty="0">
                            <a:latin typeface="Cambria Math" panose="02040503050406030204" pitchFamily="18" charset="0"/>
                          </a:rPr>
                          <m:t>1−</m:t>
                        </m:r>
                        <m:f>
                          <m:fPr>
                            <m:ctrlPr>
                              <a:rPr lang="el-GR" i="0" dirty="0">
                                <a:latin typeface="Cambria Math" panose="02040503050406030204" pitchFamily="18" charset="0"/>
                              </a:rPr>
                            </m:ctrlPr>
                          </m:fPr>
                          <m:num>
                            <m:r>
                              <a:rPr lang="el-GR" i="0" dirty="0">
                                <a:latin typeface="Cambria Math" panose="02040503050406030204" pitchFamily="18" charset="0"/>
                              </a:rPr>
                              <m:t>1</m:t>
                            </m:r>
                          </m:num>
                          <m:den>
                            <m:r>
                              <a:rPr lang="el-GR" i="1" dirty="0">
                                <a:latin typeface="Cambria Math" panose="02040503050406030204" pitchFamily="18" charset="0"/>
                              </a:rPr>
                              <m:t>𝐶𝑂</m:t>
                            </m:r>
                            <m:sSub>
                              <m:sSubPr>
                                <m:ctrlPr>
                                  <a:rPr lang="el-GR" i="1" dirty="0">
                                    <a:latin typeface="Cambria Math" panose="02040503050406030204" pitchFamily="18" charset="0"/>
                                  </a:rPr>
                                </m:ctrlPr>
                              </m:sSubPr>
                              <m:e>
                                <m:r>
                                  <a:rPr lang="el-GR" i="1" dirty="0">
                                    <a:latin typeface="Cambria Math" panose="02040503050406030204" pitchFamily="18" charset="0"/>
                                  </a:rPr>
                                  <m:t>𝑃</m:t>
                                </m:r>
                              </m:e>
                              <m:sub>
                                <m:r>
                                  <m:rPr>
                                    <m:sty m:val="p"/>
                                  </m:rPr>
                                  <a:rPr lang="el-GR" i="0" dirty="0">
                                    <a:latin typeface="Cambria Math" panose="02040503050406030204" pitchFamily="18" charset="0"/>
                                  </a:rPr>
                                  <m:t>HP</m:t>
                                </m:r>
                              </m:sub>
                            </m:sSub>
                          </m:den>
                        </m:f>
                      </m:e>
                    </m:d>
                  </m:oMath>
                </a14:m>
                <a:endParaRPr lang="el-GR" dirty="0"/>
              </a:p>
              <a:p>
                <a:r>
                  <a:rPr lang="el-GR" dirty="0" err="1"/>
                  <a:t>Required</a:t>
                </a:r>
                <a:r>
                  <a:rPr lang="el-GR" dirty="0"/>
                  <a:t> </a:t>
                </a:r>
                <a:r>
                  <a:rPr lang="el-GR" dirty="0" err="1"/>
                  <a:t>storage</a:t>
                </a:r>
                <a:r>
                  <a:rPr lang="el-GR" dirty="0"/>
                  <a:t> </a:t>
                </a:r>
                <a:r>
                  <a:rPr lang="el-GR" dirty="0" err="1"/>
                  <a:t>energy</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BTES</m:t>
                        </m:r>
                      </m:sub>
                    </m:sSub>
                    <m:r>
                      <a:rPr lang="el-GR" i="0" dirty="0">
                        <a:latin typeface="Cambria Math" panose="02040503050406030204" pitchFamily="18" charset="0"/>
                      </a:rPr>
                      <m:t>=</m:t>
                    </m:r>
                    <m:func>
                      <m:funcPr>
                        <m:ctrlPr>
                          <a:rPr lang="el-GR" i="0" dirty="0">
                            <a:latin typeface="Cambria Math" panose="02040503050406030204" pitchFamily="18" charset="0"/>
                          </a:rPr>
                        </m:ctrlPr>
                      </m:funcPr>
                      <m:fName>
                        <m:r>
                          <m:rPr>
                            <m:sty m:val="p"/>
                          </m:rPr>
                          <a:rPr lang="el-GR" i="0" dirty="0">
                            <a:latin typeface="Cambria Math" panose="02040503050406030204" pitchFamily="18" charset="0"/>
                          </a:rPr>
                          <m:t>min</m:t>
                        </m:r>
                      </m:fName>
                      <m:e>
                        <m:d>
                          <m:dPr>
                            <m:ctrlPr>
                              <a:rPr lang="el-GR" i="1" dirty="0">
                                <a:latin typeface="Cambria Math" panose="02040503050406030204" pitchFamily="18" charset="0"/>
                              </a:rPr>
                            </m:ctrlPr>
                          </m:dPr>
                          <m:e>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WH</m:t>
                                </m:r>
                              </m:sub>
                            </m:sSub>
                            <m:r>
                              <a:rPr lang="el-GR" i="0" dirty="0">
                                <a:latin typeface="Cambria Math" panose="02040503050406030204" pitchFamily="18" charset="0"/>
                              </a:rPr>
                              <m:t>,</m:t>
                            </m:r>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dem</m:t>
                                </m:r>
                                <m:r>
                                  <a:rPr lang="el-GR" i="0" dirty="0">
                                    <a:latin typeface="Cambria Math" panose="02040503050406030204" pitchFamily="18" charset="0"/>
                                  </a:rPr>
                                  <m:t>,</m:t>
                                </m:r>
                                <m:r>
                                  <m:rPr>
                                    <m:sty m:val="p"/>
                                  </m:rPr>
                                  <a:rPr lang="el-GR" i="0" dirty="0">
                                    <a:latin typeface="Cambria Math" panose="02040503050406030204" pitchFamily="18" charset="0"/>
                                  </a:rPr>
                                  <m:t>BTES</m:t>
                                </m:r>
                              </m:sub>
                            </m:sSub>
                          </m:e>
                        </m:d>
                      </m:e>
                    </m:func>
                  </m:oMath>
                </a14:m>
                <a:endParaRPr lang="el-GR" dirty="0"/>
              </a:p>
              <a:p>
                <a:r>
                  <a:rPr lang="el-GR" dirty="0"/>
                  <a:t>Number of </a:t>
                </a:r>
                <a:r>
                  <a:rPr lang="el-GR" dirty="0" err="1"/>
                  <a:t>boreholes</a:t>
                </a:r>
                <a:r>
                  <a:rPr lang="el-GR" dirty="0"/>
                  <a:t>:</a:t>
                </a:r>
                <a:r>
                  <a:rPr lang="en-US" dirty="0"/>
                  <a:t>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𝑁</m:t>
                        </m:r>
                      </m:e>
                      <m:sub>
                        <m:r>
                          <m:rPr>
                            <m:sty m:val="p"/>
                          </m:rPr>
                          <a:rPr lang="el-GR" i="0" dirty="0">
                            <a:latin typeface="Cambria Math" panose="02040503050406030204" pitchFamily="18" charset="0"/>
                          </a:rPr>
                          <m:t>BH</m:t>
                        </m:r>
                      </m:sub>
                    </m:sSub>
                    <m:r>
                      <a:rPr lang="el-GR" i="0" dirty="0">
                        <a:latin typeface="Cambria Math" panose="02040503050406030204" pitchFamily="18" charset="0"/>
                      </a:rPr>
                      <m:t>=</m:t>
                    </m:r>
                    <m:d>
                      <m:dPr>
                        <m:begChr m:val="⌈"/>
                        <m:endChr m:val="⌉"/>
                        <m:ctrlPr>
                          <a:rPr lang="el-GR" i="1" dirty="0">
                            <a:latin typeface="Cambria Math" panose="02040503050406030204" pitchFamily="18" charset="0"/>
                          </a:rPr>
                        </m:ctrlPr>
                      </m:dPr>
                      <m:e>
                        <m:f>
                          <m:fPr>
                            <m:ctrlPr>
                              <a:rPr lang="el-GR" i="1" dirty="0">
                                <a:latin typeface="Cambria Math" panose="02040503050406030204" pitchFamily="18" charset="0"/>
                              </a:rPr>
                            </m:ctrlPr>
                          </m:fPr>
                          <m:num>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BTES</m:t>
                                </m:r>
                              </m:sub>
                            </m:sSub>
                          </m:num>
                          <m:den>
                            <m:sSub>
                              <m:sSubPr>
                                <m:ctrlPr>
                                  <a:rPr lang="el-GR" i="1" dirty="0">
                                    <a:latin typeface="Cambria Math" panose="02040503050406030204" pitchFamily="18" charset="0"/>
                                  </a:rPr>
                                </m:ctrlPr>
                              </m:sSubPr>
                              <m:e>
                                <m:r>
                                  <a:rPr lang="el-GR" i="1" dirty="0">
                                    <a:latin typeface="Cambria Math" panose="02040503050406030204" pitchFamily="18" charset="0"/>
                                  </a:rPr>
                                  <m:t>𝐸</m:t>
                                </m:r>
                              </m:e>
                              <m:sub>
                                <m:r>
                                  <m:rPr>
                                    <m:sty m:val="p"/>
                                  </m:rPr>
                                  <a:rPr lang="el-GR" i="0" dirty="0">
                                    <a:latin typeface="Cambria Math" panose="02040503050406030204" pitchFamily="18" charset="0"/>
                                  </a:rPr>
                                  <m:t>capacity</m:t>
                                </m:r>
                                <m:r>
                                  <a:rPr lang="el-GR" i="0" dirty="0">
                                    <a:latin typeface="Cambria Math" panose="02040503050406030204" pitchFamily="18" charset="0"/>
                                  </a:rPr>
                                  <m:t>,</m:t>
                                </m:r>
                                <m:r>
                                  <m:rPr>
                                    <m:sty m:val="p"/>
                                  </m:rPr>
                                  <a:rPr lang="el-GR" i="0" dirty="0">
                                    <a:latin typeface="Cambria Math" panose="02040503050406030204" pitchFamily="18" charset="0"/>
                                  </a:rPr>
                                  <m:t>BH</m:t>
                                </m:r>
                              </m:sub>
                            </m:sSub>
                          </m:den>
                        </m:f>
                      </m:e>
                    </m:d>
                  </m:oMath>
                </a14:m>
                <a:endParaRPr lang="en-US" dirty="0"/>
              </a:p>
              <a:p>
                <a:r>
                  <a:rPr lang="el-GR" dirty="0" err="1"/>
                  <a:t>Daily</a:t>
                </a:r>
                <a:r>
                  <a:rPr lang="el-GR" dirty="0"/>
                  <a:t> BTES </a:t>
                </a:r>
                <a:r>
                  <a:rPr lang="el-GR" dirty="0" err="1"/>
                  <a:t>temperature</a:t>
                </a:r>
                <a:r>
                  <a:rPr lang="el-GR" dirty="0"/>
                  <a:t>:</a:t>
                </a:r>
                <a:r>
                  <a:rPr lang="en-US" dirty="0"/>
                  <a:t> </a:t>
                </a:r>
                <a14:m>
                  <m:oMath xmlns:m="http://schemas.openxmlformats.org/officeDocument/2006/math">
                    <m:sSub>
                      <m:sSubPr>
                        <m:ctrlPr>
                          <a:rPr lang="el-GR" b="1" i="1" dirty="0">
                            <a:latin typeface="Cambria Math" panose="02040503050406030204" pitchFamily="18" charset="0"/>
                          </a:rPr>
                        </m:ctrlPr>
                      </m:sSubPr>
                      <m:e>
                        <m:r>
                          <a:rPr lang="el-GR" b="1" i="1" dirty="0">
                            <a:latin typeface="Cambria Math" panose="02040503050406030204" pitchFamily="18" charset="0"/>
                          </a:rPr>
                          <m:t>𝑇</m:t>
                        </m:r>
                      </m:e>
                      <m:sub>
                        <m:r>
                          <a:rPr lang="el-GR" b="1" i="1" dirty="0">
                            <a:latin typeface="Cambria Math" panose="02040503050406030204" pitchFamily="18" charset="0"/>
                          </a:rPr>
                          <m:t>𝑡</m:t>
                        </m:r>
                        <m:r>
                          <a:rPr lang="el-GR" b="1" i="0" dirty="0">
                            <a:latin typeface="Cambria Math" panose="02040503050406030204" pitchFamily="18" charset="0"/>
                          </a:rPr>
                          <m:t>+1</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𝑇</m:t>
                        </m:r>
                      </m:e>
                      <m:sub>
                        <m:r>
                          <a:rPr lang="el-GR" b="1" i="1" dirty="0">
                            <a:latin typeface="Cambria Math" panose="02040503050406030204" pitchFamily="18" charset="0"/>
                          </a:rPr>
                          <m:t>𝑡</m:t>
                        </m:r>
                      </m:sub>
                    </m:sSub>
                    <m:r>
                      <a:rPr lang="el-GR" b="1" i="0" dirty="0">
                        <a:latin typeface="Cambria Math" panose="02040503050406030204" pitchFamily="18" charset="0"/>
                      </a:rPr>
                      <m:t>+</m:t>
                    </m:r>
                    <m:f>
                      <m:fPr>
                        <m:ctrlPr>
                          <a:rPr lang="el-GR" b="1" i="1" dirty="0">
                            <a:latin typeface="Cambria Math" panose="02040503050406030204" pitchFamily="18" charset="0"/>
                          </a:rPr>
                        </m:ctrlPr>
                      </m:fPr>
                      <m:num>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charge</m:t>
                            </m:r>
                            <m:r>
                              <a:rPr lang="el-GR" b="1" i="0" dirty="0">
                                <a:latin typeface="Cambria Math" panose="02040503050406030204" pitchFamily="18" charset="0"/>
                              </a:rPr>
                              <m:t>,</m:t>
                            </m:r>
                            <m:r>
                              <a:rPr lang="el-GR" b="1" i="1" dirty="0">
                                <a:latin typeface="Cambria Math" panose="02040503050406030204" pitchFamily="18" charset="0"/>
                              </a:rPr>
                              <m:t>𝑡</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discharge</m:t>
                            </m:r>
                            <m:r>
                              <a:rPr lang="el-GR" b="1" i="0" dirty="0">
                                <a:latin typeface="Cambria Math" panose="02040503050406030204" pitchFamily="18" charset="0"/>
                              </a:rPr>
                              <m:t>,</m:t>
                            </m:r>
                            <m:r>
                              <a:rPr lang="el-GR" b="1" i="1" dirty="0">
                                <a:latin typeface="Cambria Math" panose="02040503050406030204" pitchFamily="18" charset="0"/>
                              </a:rPr>
                              <m:t>𝑡</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𝑄</m:t>
                            </m:r>
                          </m:e>
                          <m:sub>
                            <m:r>
                              <m:rPr>
                                <m:sty m:val="p"/>
                              </m:rPr>
                              <a:rPr lang="el-GR" b="1" i="0" dirty="0">
                                <a:latin typeface="Cambria Math" panose="02040503050406030204" pitchFamily="18" charset="0"/>
                              </a:rPr>
                              <m:t>loss</m:t>
                            </m:r>
                            <m:r>
                              <a:rPr lang="el-GR" b="1" i="0" dirty="0">
                                <a:latin typeface="Cambria Math" panose="02040503050406030204" pitchFamily="18" charset="0"/>
                              </a:rPr>
                              <m:t>,</m:t>
                            </m:r>
                            <m:r>
                              <a:rPr lang="el-GR" b="1" i="1" dirty="0">
                                <a:latin typeface="Cambria Math" panose="02040503050406030204" pitchFamily="18" charset="0"/>
                              </a:rPr>
                              <m:t>𝑡</m:t>
                            </m:r>
                          </m:sub>
                        </m:sSub>
                      </m:num>
                      <m:den>
                        <m:sSub>
                          <m:sSubPr>
                            <m:ctrlPr>
                              <a:rPr lang="el-GR" b="1" i="1" dirty="0">
                                <a:latin typeface="Cambria Math" panose="02040503050406030204" pitchFamily="18" charset="0"/>
                              </a:rPr>
                            </m:ctrlPr>
                          </m:sSubPr>
                          <m:e>
                            <m:r>
                              <a:rPr lang="el-GR" b="1" i="1" dirty="0">
                                <a:latin typeface="Cambria Math" panose="02040503050406030204" pitchFamily="18" charset="0"/>
                              </a:rPr>
                              <m:t>𝐶</m:t>
                            </m:r>
                          </m:e>
                          <m:sub>
                            <m:r>
                              <m:rPr>
                                <m:sty m:val="p"/>
                              </m:rPr>
                              <a:rPr lang="el-GR" b="1" i="0" dirty="0">
                                <a:latin typeface="Cambria Math" panose="02040503050406030204" pitchFamily="18" charset="0"/>
                              </a:rPr>
                              <m:t>BTES</m:t>
                            </m:r>
                          </m:sub>
                        </m:sSub>
                      </m:den>
                    </m:f>
                  </m:oMath>
                </a14:m>
                <a:endParaRPr lang="en-US" b="1" dirty="0"/>
              </a:p>
              <a:p>
                <a:r>
                  <a:rPr lang="el-GR" dirty="0" err="1"/>
                  <a:t>Useful</a:t>
                </a:r>
                <a:r>
                  <a:rPr lang="el-GR" dirty="0"/>
                  <a:t> </a:t>
                </a:r>
                <a:r>
                  <a:rPr lang="el-GR" dirty="0" err="1"/>
                  <a:t>heat</a:t>
                </a:r>
                <a:r>
                  <a:rPr lang="el-GR" dirty="0"/>
                  <a:t> </a:t>
                </a:r>
                <a:r>
                  <a:rPr lang="el-GR" dirty="0" err="1"/>
                  <a:t>delivered</a:t>
                </a:r>
                <a:r>
                  <a:rPr lang="el-GR" dirty="0"/>
                  <a:t>:</a:t>
                </a:r>
                <a:r>
                  <a:rPr lang="en-US" dirty="0"/>
                  <a:t> </a:t>
                </a:r>
                <a14:m>
                  <m:oMath xmlns:m="http://schemas.openxmlformats.org/officeDocument/2006/math">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useful</m:t>
                        </m:r>
                      </m:sub>
                    </m:sSub>
                    <m:r>
                      <a:rPr lang="el-GR" b="1" i="0" dirty="0">
                        <a:latin typeface="Cambria Math" panose="02040503050406030204" pitchFamily="18" charset="0"/>
                      </a:rPr>
                      <m:t>=</m:t>
                    </m:r>
                    <m:f>
                      <m:fPr>
                        <m:ctrlPr>
                          <a:rPr lang="el-GR" b="1" i="1" dirty="0">
                            <a:latin typeface="Cambria Math" panose="02040503050406030204" pitchFamily="18" charset="0"/>
                          </a:rPr>
                        </m:ctrlPr>
                      </m:fPr>
                      <m:num>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BTES</m:t>
                            </m:r>
                          </m:sub>
                        </m:sSub>
                        <m:r>
                          <a:rPr lang="el-GR" b="1" i="0" dirty="0">
                            <a:latin typeface="Cambria Math" panose="02040503050406030204" pitchFamily="18" charset="0"/>
                          </a:rPr>
                          <m:t>−</m:t>
                        </m:r>
                        <m:sSub>
                          <m:sSubPr>
                            <m:ctrlPr>
                              <a:rPr lang="el-GR" b="1" i="1" dirty="0">
                                <a:latin typeface="Cambria Math" panose="02040503050406030204" pitchFamily="18" charset="0"/>
                              </a:rPr>
                            </m:ctrlPr>
                          </m:sSubPr>
                          <m:e>
                            <m:r>
                              <a:rPr lang="el-GR" b="1" i="1" dirty="0">
                                <a:latin typeface="Cambria Math" panose="02040503050406030204" pitchFamily="18" charset="0"/>
                              </a:rPr>
                              <m:t>𝐸</m:t>
                            </m:r>
                          </m:e>
                          <m:sub>
                            <m:r>
                              <m:rPr>
                                <m:sty m:val="p"/>
                              </m:rPr>
                              <a:rPr lang="el-GR" b="1" i="0" dirty="0">
                                <a:latin typeface="Cambria Math" panose="02040503050406030204" pitchFamily="18" charset="0"/>
                              </a:rPr>
                              <m:t>loss</m:t>
                            </m:r>
                          </m:sub>
                        </m:sSub>
                      </m:num>
                      <m:den>
                        <m:r>
                          <a:rPr lang="el-GR" b="1" i="0" dirty="0">
                            <a:latin typeface="Cambria Math" panose="02040503050406030204" pitchFamily="18" charset="0"/>
                          </a:rPr>
                          <m:t>1−</m:t>
                        </m:r>
                        <m:f>
                          <m:fPr>
                            <m:ctrlPr>
                              <a:rPr lang="el-GR" b="1" i="0" dirty="0">
                                <a:latin typeface="Cambria Math" panose="02040503050406030204" pitchFamily="18" charset="0"/>
                              </a:rPr>
                            </m:ctrlPr>
                          </m:fPr>
                          <m:num>
                            <m:r>
                              <a:rPr lang="el-GR" b="1" i="0" dirty="0">
                                <a:latin typeface="Cambria Math" panose="02040503050406030204" pitchFamily="18" charset="0"/>
                              </a:rPr>
                              <m:t>1</m:t>
                            </m:r>
                          </m:num>
                          <m:den>
                            <m:r>
                              <a:rPr lang="el-GR" b="1" i="1" dirty="0">
                                <a:latin typeface="Cambria Math" panose="02040503050406030204" pitchFamily="18" charset="0"/>
                              </a:rPr>
                              <m:t>𝐶𝑂</m:t>
                            </m:r>
                            <m:sSub>
                              <m:sSubPr>
                                <m:ctrlPr>
                                  <a:rPr lang="el-GR" b="1" i="1" dirty="0">
                                    <a:latin typeface="Cambria Math" panose="02040503050406030204" pitchFamily="18" charset="0"/>
                                  </a:rPr>
                                </m:ctrlPr>
                              </m:sSubPr>
                              <m:e>
                                <m:r>
                                  <a:rPr lang="el-GR" b="1" i="1" dirty="0">
                                    <a:latin typeface="Cambria Math" panose="02040503050406030204" pitchFamily="18" charset="0"/>
                                  </a:rPr>
                                  <m:t>𝑃</m:t>
                                </m:r>
                              </m:e>
                              <m:sub>
                                <m:r>
                                  <m:rPr>
                                    <m:sty m:val="p"/>
                                  </m:rPr>
                                  <a:rPr lang="el-GR" b="1" i="0" dirty="0">
                                    <a:latin typeface="Cambria Math" panose="02040503050406030204" pitchFamily="18" charset="0"/>
                                  </a:rPr>
                                  <m:t>HP</m:t>
                                </m:r>
                              </m:sub>
                            </m:sSub>
                          </m:den>
                        </m:f>
                      </m:den>
                    </m:f>
                  </m:oMath>
                </a14:m>
                <a:endParaRPr lang="el-GR" b="1" dirty="0"/>
              </a:p>
            </p:txBody>
          </p:sp>
        </mc:Choice>
        <mc:Fallback xmlns="">
          <p:sp>
            <p:nvSpPr>
              <p:cNvPr id="3" name="Content Placeholder 2">
                <a:extLst>
                  <a:ext uri="{FF2B5EF4-FFF2-40B4-BE49-F238E27FC236}">
                    <a16:creationId xmlns:a16="http://schemas.microsoft.com/office/drawing/2014/main" id="{E266AEEF-4E86-967E-0D32-FDC15C55574C}"/>
                  </a:ext>
                </a:extLst>
              </p:cNvPr>
              <p:cNvSpPr>
                <a:spLocks noGrp="1" noRot="1" noChangeAspect="1" noMove="1" noResize="1" noEditPoints="1" noAdjustHandles="1" noChangeArrowheads="1" noChangeShapeType="1" noTextEdit="1"/>
              </p:cNvSpPr>
              <p:nvPr>
                <p:ph idx="1"/>
              </p:nvPr>
            </p:nvSpPr>
            <p:spPr>
              <a:blipFill>
                <a:blip r:embed="rId3"/>
                <a:stretch>
                  <a:fillRect l="-296"/>
                </a:stretch>
              </a:blipFill>
            </p:spPr>
            <p:txBody>
              <a:bodyPr/>
              <a:lstStyle/>
              <a:p>
                <a:r>
                  <a:rPr lang="el-GR">
                    <a:noFill/>
                  </a:rPr>
                  <a:t> </a:t>
                </a:r>
              </a:p>
            </p:txBody>
          </p:sp>
        </mc:Fallback>
      </mc:AlternateContent>
      <p:sp>
        <p:nvSpPr>
          <p:cNvPr id="5" name="TextBox 4">
            <a:extLst>
              <a:ext uri="{FF2B5EF4-FFF2-40B4-BE49-F238E27FC236}">
                <a16:creationId xmlns:a16="http://schemas.microsoft.com/office/drawing/2014/main" id="{72A86AC4-5201-62B3-4ED5-6054DDF966C9}"/>
              </a:ext>
            </a:extLst>
          </p:cNvPr>
          <p:cNvSpPr txBox="1"/>
          <p:nvPr/>
        </p:nvSpPr>
        <p:spPr>
          <a:xfrm>
            <a:off x="-26070" y="6453336"/>
            <a:ext cx="9170069" cy="338554"/>
          </a:xfrm>
          <a:prstGeom prst="rect">
            <a:avLst/>
          </a:prstGeom>
          <a:noFill/>
        </p:spPr>
        <p:txBody>
          <a:bodyPr wrap="square">
            <a:spAutoFit/>
          </a:bodyPr>
          <a:lstStyle/>
          <a:p>
            <a:r>
              <a:rPr lang="en-US" sz="800" dirty="0"/>
              <a:t>[13] </a:t>
            </a:r>
            <a:r>
              <a:rPr lang="el-GR" sz="800" dirty="0" err="1"/>
              <a:t>Tom</a:t>
            </a:r>
            <a:r>
              <a:rPr lang="el-GR" sz="800" dirty="0"/>
              <a:t> </a:t>
            </a:r>
            <a:r>
              <a:rPr lang="el-GR" sz="800" dirty="0" err="1"/>
              <a:t>Lambert</a:t>
            </a:r>
            <a:r>
              <a:rPr lang="el-GR" sz="800" dirty="0"/>
              <a:t>, </a:t>
            </a:r>
            <a:r>
              <a:rPr lang="el-GR" sz="800" dirty="0" err="1"/>
              <a:t>Paul</a:t>
            </a:r>
            <a:r>
              <a:rPr lang="el-GR" sz="800" dirty="0"/>
              <a:t> </a:t>
            </a:r>
            <a:r>
              <a:rPr lang="el-GR" sz="800" dirty="0" err="1"/>
              <a:t>Gilman</a:t>
            </a:r>
            <a:r>
              <a:rPr lang="el-GR" sz="800" dirty="0"/>
              <a:t>, and </a:t>
            </a:r>
            <a:r>
              <a:rPr lang="el-GR" sz="800" dirty="0" err="1"/>
              <a:t>Peter</a:t>
            </a:r>
            <a:r>
              <a:rPr lang="el-GR" sz="800" dirty="0"/>
              <a:t> </a:t>
            </a:r>
            <a:r>
              <a:rPr lang="el-GR" sz="800" dirty="0" err="1"/>
              <a:t>Lilienthal</a:t>
            </a:r>
            <a:r>
              <a:rPr lang="el-GR" sz="800" dirty="0"/>
              <a:t>. </a:t>
            </a:r>
            <a:r>
              <a:rPr lang="el-GR" sz="800" dirty="0" err="1"/>
              <a:t>Micropower</a:t>
            </a:r>
            <a:r>
              <a:rPr lang="el-GR" sz="800" dirty="0"/>
              <a:t> </a:t>
            </a:r>
            <a:r>
              <a:rPr lang="el-GR" sz="800" dirty="0" err="1"/>
              <a:t>system</a:t>
            </a:r>
            <a:r>
              <a:rPr lang="el-GR" sz="800" dirty="0"/>
              <a:t> </a:t>
            </a:r>
            <a:r>
              <a:rPr lang="el-GR" sz="800" dirty="0" err="1"/>
              <a:t>modeling</a:t>
            </a:r>
            <a:r>
              <a:rPr lang="el-GR" sz="800" dirty="0"/>
              <a:t> </a:t>
            </a:r>
            <a:r>
              <a:rPr lang="el-GR" sz="800" dirty="0" err="1"/>
              <a:t>withhomer</a:t>
            </a:r>
            <a:r>
              <a:rPr lang="el-GR" sz="800" dirty="0"/>
              <a:t>. In </a:t>
            </a:r>
            <a:r>
              <a:rPr lang="el-GR" sz="800" dirty="0" err="1"/>
              <a:t>Felix</a:t>
            </a:r>
            <a:r>
              <a:rPr lang="el-GR" sz="800" dirty="0"/>
              <a:t> A. </a:t>
            </a:r>
            <a:r>
              <a:rPr lang="el-GR" sz="800" dirty="0" err="1"/>
              <a:t>Farret</a:t>
            </a:r>
            <a:r>
              <a:rPr lang="el-GR" sz="800" dirty="0"/>
              <a:t> and M. </a:t>
            </a:r>
            <a:r>
              <a:rPr lang="el-GR" sz="800" dirty="0" err="1"/>
              <a:t>Godoy</a:t>
            </a:r>
            <a:r>
              <a:rPr lang="el-GR" sz="800" dirty="0"/>
              <a:t> </a:t>
            </a:r>
            <a:r>
              <a:rPr lang="el-GR" sz="800" dirty="0" err="1"/>
              <a:t>Simões</a:t>
            </a:r>
            <a:r>
              <a:rPr lang="el-GR" sz="800" dirty="0"/>
              <a:t>, </a:t>
            </a:r>
            <a:r>
              <a:rPr lang="el-GR" sz="800" dirty="0" err="1"/>
              <a:t>editors</a:t>
            </a:r>
            <a:r>
              <a:rPr lang="el-GR" sz="800" dirty="0"/>
              <a:t>, </a:t>
            </a:r>
            <a:r>
              <a:rPr lang="el-GR" sz="800" dirty="0" err="1"/>
              <a:t>Integration</a:t>
            </a:r>
            <a:r>
              <a:rPr lang="el-GR" sz="800" dirty="0"/>
              <a:t> of </a:t>
            </a:r>
            <a:r>
              <a:rPr lang="el-GR" sz="800" dirty="0" err="1"/>
              <a:t>AlternativeSources</a:t>
            </a:r>
            <a:r>
              <a:rPr lang="el-GR" sz="800" dirty="0"/>
              <a:t> of Energy</a:t>
            </a:r>
            <a:endParaRPr lang="en-US" sz="800" dirty="0"/>
          </a:p>
          <a:p>
            <a:r>
              <a:rPr lang="el-GR" sz="800" dirty="0"/>
              <a:t>[</a:t>
            </a:r>
            <a:r>
              <a:rPr lang="en-US" sz="800" dirty="0"/>
              <a:t>14</a:t>
            </a:r>
            <a:r>
              <a:rPr lang="el-GR" sz="800" dirty="0"/>
              <a:t>] Z. </a:t>
            </a:r>
            <a:r>
              <a:rPr lang="el-GR" sz="800" dirty="0" err="1"/>
              <a:t>Wang</a:t>
            </a:r>
            <a:r>
              <a:rPr lang="el-GR" sz="800" dirty="0"/>
              <a:t>, J. </a:t>
            </a:r>
            <a:r>
              <a:rPr lang="el-GR" sz="800" dirty="0" err="1"/>
              <a:t>Crawley</a:t>
            </a:r>
            <a:r>
              <a:rPr lang="el-GR" sz="800" dirty="0"/>
              <a:t>, F. G. N. </a:t>
            </a:r>
            <a:r>
              <a:rPr lang="el-GR" sz="800" dirty="0" err="1"/>
              <a:t>Li</a:t>
            </a:r>
            <a:r>
              <a:rPr lang="el-GR" sz="800" dirty="0"/>
              <a:t>, and R. </a:t>
            </a:r>
            <a:r>
              <a:rPr lang="el-GR" sz="800" dirty="0" err="1"/>
              <a:t>Lowe</a:t>
            </a:r>
            <a:r>
              <a:rPr lang="el-GR" sz="800" dirty="0"/>
              <a:t>. </a:t>
            </a:r>
            <a:r>
              <a:rPr lang="el-GR" sz="800" dirty="0" err="1"/>
              <a:t>Sizing</a:t>
            </a:r>
            <a:r>
              <a:rPr lang="el-GR" sz="800" dirty="0"/>
              <a:t> of </a:t>
            </a:r>
            <a:r>
              <a:rPr lang="el-GR" sz="800" dirty="0" err="1"/>
              <a:t>district</a:t>
            </a:r>
            <a:r>
              <a:rPr lang="el-GR" sz="800" dirty="0"/>
              <a:t> </a:t>
            </a:r>
            <a:r>
              <a:rPr lang="el-GR" sz="800" dirty="0" err="1"/>
              <a:t>heating</a:t>
            </a:r>
            <a:r>
              <a:rPr lang="el-GR" sz="800" dirty="0"/>
              <a:t> </a:t>
            </a:r>
            <a:r>
              <a:rPr lang="el-GR" sz="800" dirty="0" err="1"/>
              <a:t>systemsbased</a:t>
            </a:r>
            <a:r>
              <a:rPr lang="el-GR" sz="800" dirty="0"/>
              <a:t> on </a:t>
            </a:r>
            <a:r>
              <a:rPr lang="el-GR" sz="800" dirty="0" err="1"/>
              <a:t>smart</a:t>
            </a:r>
            <a:r>
              <a:rPr lang="el-GR" sz="800" dirty="0"/>
              <a:t> </a:t>
            </a:r>
            <a:r>
              <a:rPr lang="el-GR" sz="800" dirty="0" err="1"/>
              <a:t>meter</a:t>
            </a:r>
            <a:r>
              <a:rPr lang="el-GR" sz="800" dirty="0"/>
              <a:t> </a:t>
            </a:r>
            <a:r>
              <a:rPr lang="el-GR" sz="800" dirty="0" err="1"/>
              <a:t>data</a:t>
            </a:r>
            <a:r>
              <a:rPr lang="el-GR" sz="800" dirty="0"/>
              <a:t>: </a:t>
            </a:r>
            <a:r>
              <a:rPr lang="el-GR" sz="800" dirty="0" err="1"/>
              <a:t>Quantifying</a:t>
            </a:r>
            <a:r>
              <a:rPr lang="el-GR" sz="800" dirty="0"/>
              <a:t> the </a:t>
            </a:r>
            <a:r>
              <a:rPr lang="el-GR" sz="800" dirty="0" err="1"/>
              <a:t>aggregated</a:t>
            </a:r>
            <a:r>
              <a:rPr lang="el-GR" sz="800" dirty="0"/>
              <a:t> </a:t>
            </a:r>
            <a:r>
              <a:rPr lang="el-GR" sz="800" dirty="0" err="1"/>
              <a:t>domestic</a:t>
            </a:r>
            <a:r>
              <a:rPr lang="el-GR" sz="800" dirty="0"/>
              <a:t> </a:t>
            </a:r>
            <a:r>
              <a:rPr lang="el-GR" sz="800" dirty="0" err="1"/>
              <a:t>energy</a:t>
            </a:r>
            <a:r>
              <a:rPr lang="el-GR" sz="800" dirty="0"/>
              <a:t> </a:t>
            </a:r>
            <a:r>
              <a:rPr lang="el-GR" sz="800" dirty="0" err="1"/>
              <a:t>demandand</a:t>
            </a:r>
            <a:r>
              <a:rPr lang="el-GR" sz="800" dirty="0"/>
              <a:t> </a:t>
            </a:r>
            <a:r>
              <a:rPr lang="el-GR" sz="800" dirty="0" err="1"/>
              <a:t>demand</a:t>
            </a:r>
            <a:r>
              <a:rPr lang="el-GR" sz="800" dirty="0"/>
              <a:t> </a:t>
            </a:r>
            <a:r>
              <a:rPr lang="el-GR" sz="800" dirty="0" err="1"/>
              <a:t>diversity</a:t>
            </a:r>
            <a:r>
              <a:rPr lang="el-GR" sz="800" dirty="0"/>
              <a:t> in the UK. </a:t>
            </a:r>
          </a:p>
        </p:txBody>
      </p:sp>
      <p:sp>
        <p:nvSpPr>
          <p:cNvPr id="4" name="Slide Number Placeholder 3">
            <a:extLst>
              <a:ext uri="{FF2B5EF4-FFF2-40B4-BE49-F238E27FC236}">
                <a16:creationId xmlns:a16="http://schemas.microsoft.com/office/drawing/2014/main" id="{A5FDB524-E18B-62C5-632A-50C6C5948E39}"/>
              </a:ext>
            </a:extLst>
          </p:cNvPr>
          <p:cNvSpPr>
            <a:spLocks noGrp="1"/>
          </p:cNvSpPr>
          <p:nvPr>
            <p:ph type="sldNum" sz="quarter" idx="4"/>
          </p:nvPr>
        </p:nvSpPr>
        <p:spPr/>
        <p:txBody>
          <a:bodyPr/>
          <a:lstStyle/>
          <a:p>
            <a:fld id="{CC7E3F2E-5E17-4E15-9E32-D4A7BBAEA187}" type="slidenum">
              <a:rPr lang="el-GR" smtClean="0"/>
              <a:t>30</a:t>
            </a:fld>
            <a:endParaRPr lang="el-GR"/>
          </a:p>
        </p:txBody>
      </p:sp>
    </p:spTree>
    <p:extLst>
      <p:ext uri="{BB962C8B-B14F-4D97-AF65-F5344CB8AC3E}">
        <p14:creationId xmlns:p14="http://schemas.microsoft.com/office/powerpoint/2010/main" val="699914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8B3F5-32D8-A372-7629-59354013491E}"/>
              </a:ext>
            </a:extLst>
          </p:cNvPr>
          <p:cNvSpPr>
            <a:spLocks noGrp="1"/>
          </p:cNvSpPr>
          <p:nvPr>
            <p:ph type="title"/>
          </p:nvPr>
        </p:nvSpPr>
        <p:spPr/>
        <p:txBody>
          <a:bodyPr/>
          <a:lstStyle/>
          <a:p>
            <a:r>
              <a:rPr lang="en-US" i="1" dirty="0">
                <a:effectLst>
                  <a:outerShdw blurRad="38100" dist="38100" dir="2700000" algn="tl">
                    <a:srgbClr val="000000">
                      <a:alpha val="43137"/>
                    </a:srgbClr>
                  </a:outerShdw>
                </a:effectLst>
              </a:rPr>
              <a:t>Decision </a:t>
            </a:r>
            <a:r>
              <a:rPr lang="en-US" i="1" dirty="0" err="1">
                <a:effectLst>
                  <a:outerShdw blurRad="38100" dist="38100" dir="2700000" algn="tl">
                    <a:srgbClr val="000000">
                      <a:alpha val="43137"/>
                    </a:srgbClr>
                  </a:outerShdw>
                </a:effectLst>
              </a:rPr>
              <a:t>Vairables</a:t>
            </a:r>
            <a:endParaRPr lang="el-GR" i="1" dirty="0">
              <a:effectLst>
                <a:outerShdw blurRad="38100" dist="38100" dir="2700000" algn="tl">
                  <a:srgbClr val="000000">
                    <a:alpha val="43137"/>
                  </a:srgbClr>
                </a:outerShdw>
              </a:effectLst>
            </a:endParaRPr>
          </a:p>
        </p:txBody>
      </p:sp>
      <mc:AlternateContent xmlns:mc="http://schemas.openxmlformats.org/markup-compatibility/2006">
        <mc:Choice xmlns:a14="http://schemas.microsoft.com/office/drawing/2010/main" Requires="a14">
          <p:graphicFrame>
            <p:nvGraphicFramePr>
              <p:cNvPr id="7" name="Content Placeholder 6">
                <a:extLst>
                  <a:ext uri="{FF2B5EF4-FFF2-40B4-BE49-F238E27FC236}">
                    <a16:creationId xmlns:a16="http://schemas.microsoft.com/office/drawing/2014/main" id="{C65619E3-4B57-F2DD-F8DC-0E17142822E0}"/>
                  </a:ext>
                </a:extLst>
              </p:cNvPr>
              <p:cNvGraphicFramePr>
                <a:graphicFrameLocks noGrp="1"/>
              </p:cNvGraphicFramePr>
              <p:nvPr>
                <p:ph idx="1"/>
                <p:extLst>
                  <p:ext uri="{D42A27DB-BD31-4B8C-83A1-F6EECF244321}">
                    <p14:modId xmlns:p14="http://schemas.microsoft.com/office/powerpoint/2010/main" val="3979759876"/>
                  </p:ext>
                </p:extLst>
              </p:nvPr>
            </p:nvGraphicFramePr>
            <p:xfrm>
              <a:off x="0" y="692696"/>
              <a:ext cx="4499992" cy="6165297"/>
            </p:xfrm>
            <a:graphic>
              <a:graphicData uri="http://schemas.openxmlformats.org/drawingml/2006/table">
                <a:tbl>
                  <a:tblPr firstRow="1" bandRow="1">
                    <a:tableStyleId>{00A15C55-8517-42AA-B614-E9B94910E393}</a:tableStyleId>
                  </a:tblPr>
                  <a:tblGrid>
                    <a:gridCol w="1040286">
                      <a:extLst>
                        <a:ext uri="{9D8B030D-6E8A-4147-A177-3AD203B41FA5}">
                          <a16:colId xmlns:a16="http://schemas.microsoft.com/office/drawing/2014/main" val="1904700504"/>
                        </a:ext>
                      </a:extLst>
                    </a:gridCol>
                    <a:gridCol w="834002">
                      <a:extLst>
                        <a:ext uri="{9D8B030D-6E8A-4147-A177-3AD203B41FA5}">
                          <a16:colId xmlns:a16="http://schemas.microsoft.com/office/drawing/2014/main" val="673787428"/>
                        </a:ext>
                      </a:extLst>
                    </a:gridCol>
                    <a:gridCol w="1500706">
                      <a:extLst>
                        <a:ext uri="{9D8B030D-6E8A-4147-A177-3AD203B41FA5}">
                          <a16:colId xmlns:a16="http://schemas.microsoft.com/office/drawing/2014/main" val="250100973"/>
                        </a:ext>
                      </a:extLst>
                    </a:gridCol>
                    <a:gridCol w="1124998">
                      <a:extLst>
                        <a:ext uri="{9D8B030D-6E8A-4147-A177-3AD203B41FA5}">
                          <a16:colId xmlns:a16="http://schemas.microsoft.com/office/drawing/2014/main" val="1223551282"/>
                        </a:ext>
                      </a:extLst>
                    </a:gridCol>
                  </a:tblGrid>
                  <a:tr h="467068">
                    <a:tc>
                      <a:txBody>
                        <a:bodyPr/>
                        <a:lstStyle/>
                        <a:p>
                          <a:pPr>
                            <a:buNone/>
                          </a:pPr>
                          <a:r>
                            <a:rPr lang="el-GR" sz="1200" dirty="0" err="1"/>
                            <a:t>Technology</a:t>
                          </a:r>
                          <a:endParaRPr lang="el-GR" sz="1200" dirty="0"/>
                        </a:p>
                      </a:txBody>
                      <a:tcPr anchor="ctr"/>
                    </a:tc>
                    <a:tc>
                      <a:txBody>
                        <a:bodyPr/>
                        <a:lstStyle/>
                        <a:p>
                          <a:pPr>
                            <a:buNone/>
                          </a:pPr>
                          <a:r>
                            <a:rPr lang="el-GR" sz="1200" dirty="0" err="1"/>
                            <a:t>Decision</a:t>
                          </a:r>
                          <a:r>
                            <a:rPr lang="el-GR" sz="1200" dirty="0"/>
                            <a:t> </a:t>
                          </a:r>
                          <a:r>
                            <a:rPr lang="el-GR" sz="1200" dirty="0" err="1"/>
                            <a:t>variable</a:t>
                          </a:r>
                          <a:endParaRPr lang="el-GR" sz="1200" dirty="0"/>
                        </a:p>
                      </a:txBody>
                      <a:tcPr anchor="ctr"/>
                    </a:tc>
                    <a:tc>
                      <a:txBody>
                        <a:bodyPr/>
                        <a:lstStyle/>
                        <a:p>
                          <a:pPr>
                            <a:buNone/>
                          </a:pPr>
                          <a:r>
                            <a:rPr lang="el-GR" sz="1200" dirty="0" err="1"/>
                            <a:t>Code</a:t>
                          </a:r>
                          <a:r>
                            <a:rPr lang="el-GR" sz="1200" dirty="0"/>
                            <a:t> </a:t>
                          </a:r>
                          <a:r>
                            <a:rPr lang="el-GR" sz="1200" dirty="0" err="1"/>
                            <a:t>name</a:t>
                          </a:r>
                          <a:endParaRPr lang="el-GR" sz="1200" dirty="0"/>
                        </a:p>
                      </a:txBody>
                      <a:tcPr anchor="ctr"/>
                    </a:tc>
                    <a:tc>
                      <a:txBody>
                        <a:bodyPr/>
                        <a:lstStyle/>
                        <a:p>
                          <a:pPr>
                            <a:buNone/>
                          </a:pPr>
                          <a:r>
                            <a:rPr lang="en-US" sz="1200" dirty="0"/>
                            <a:t>M</a:t>
                          </a:r>
                          <a:r>
                            <a:rPr lang="el-GR" sz="1200" dirty="0" err="1"/>
                            <a:t>eaning</a:t>
                          </a:r>
                          <a:endParaRPr lang="el-GR" sz="1200" dirty="0"/>
                        </a:p>
                      </a:txBody>
                      <a:tcPr anchor="ctr"/>
                    </a:tc>
                    <a:extLst>
                      <a:ext uri="{0D108BD9-81ED-4DB2-BD59-A6C34878D82A}">
                        <a16:rowId xmlns:a16="http://schemas.microsoft.com/office/drawing/2014/main" val="872320571"/>
                      </a:ext>
                    </a:extLst>
                  </a:tr>
                  <a:tr h="467068">
                    <a:tc>
                      <a:txBody>
                        <a:bodyPr/>
                        <a:lstStyle/>
                        <a:p>
                          <a:pPr>
                            <a:buNone/>
                          </a:pPr>
                          <a:r>
                            <a:rPr lang="el-GR" sz="1200" b="1" dirty="0"/>
                            <a:t>BTES</a:t>
                          </a: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𝑇</m:t>
                                    </m:r>
                                  </m:e>
                                  <m:sub>
                                    <m:r>
                                      <a:rPr lang="el-GR" sz="1200"/>
                                      <m:t>𝑡</m:t>
                                    </m:r>
                                  </m:sub>
                                  <m:sup>
                                    <m:r>
                                      <a:rPr lang="el-GR" sz="1200"/>
                                      <m:t>𝐵𝑇𝐸𝑆</m:t>
                                    </m:r>
                                  </m:sup>
                                </m:sSubSup>
                              </m:oMath>
                            </m:oMathPara>
                          </a14:m>
                          <a:endParaRPr lang="el-GR" sz="1200"/>
                        </a:p>
                      </a:txBody>
                      <a:tcPr anchor="ctr"/>
                    </a:tc>
                    <a:tc>
                      <a:txBody>
                        <a:bodyPr/>
                        <a:lstStyle/>
                        <a:p>
                          <a:pPr>
                            <a:buNone/>
                          </a:pPr>
                          <a:r>
                            <a:rPr lang="el-GR" sz="1200" dirty="0" err="1"/>
                            <a:t>T_btes</a:t>
                          </a:r>
                          <a:r>
                            <a:rPr lang="el-GR" sz="1200" dirty="0"/>
                            <a:t>[t]</a:t>
                          </a:r>
                        </a:p>
                      </a:txBody>
                      <a:tcPr anchor="ctr"/>
                    </a:tc>
                    <a:tc>
                      <a:txBody>
                        <a:bodyPr/>
                        <a:lstStyle/>
                        <a:p>
                          <a:pPr>
                            <a:buNone/>
                          </a:pPr>
                          <a:r>
                            <a:rPr lang="el-GR" sz="1200" dirty="0"/>
                            <a:t>BTES </a:t>
                          </a:r>
                          <a:r>
                            <a:rPr lang="el-GR" sz="1200" dirty="0" err="1"/>
                            <a:t>temperature</a:t>
                          </a:r>
                          <a:endParaRPr lang="el-GR" sz="1200" dirty="0"/>
                        </a:p>
                      </a:txBody>
                      <a:tcPr anchor="ctr"/>
                    </a:tc>
                    <a:extLst>
                      <a:ext uri="{0D108BD9-81ED-4DB2-BD59-A6C34878D82A}">
                        <a16:rowId xmlns:a16="http://schemas.microsoft.com/office/drawing/2014/main" val="148692651"/>
                      </a:ext>
                    </a:extLst>
                  </a:tr>
                  <a:tr h="467068">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𝑄</m:t>
                                    </m:r>
                                  </m:e>
                                  <m:sub>
                                    <m:r>
                                      <a:rPr lang="el-GR" sz="1200"/>
                                      <m:t>𝑡</m:t>
                                    </m:r>
                                  </m:sub>
                                  <m:sup>
                                    <m:r>
                                      <a:rPr lang="el-GR" sz="1200"/>
                                      <m:t>𝑐ℎ</m:t>
                                    </m:r>
                                    <m:r>
                                      <a:rPr lang="el-GR" sz="1200"/>
                                      <m:t>,</m:t>
                                    </m:r>
                                    <m:r>
                                      <a:rPr lang="el-GR" sz="1200"/>
                                      <m:t>𝑐ℎ𝑖𝑙𝑙𝑒𝑟</m:t>
                                    </m:r>
                                  </m:sup>
                                </m:sSubSup>
                              </m:oMath>
                            </m:oMathPara>
                          </a14:m>
                          <a:endParaRPr lang="el-GR" sz="1200"/>
                        </a:p>
                      </a:txBody>
                      <a:tcPr anchor="ctr"/>
                    </a:tc>
                    <a:tc>
                      <a:txBody>
                        <a:bodyPr/>
                        <a:lstStyle/>
                        <a:p>
                          <a:pPr>
                            <a:buNone/>
                          </a:pPr>
                          <a:r>
                            <a:rPr lang="el-GR" sz="1200" dirty="0" err="1"/>
                            <a:t>Q_charge_chiller</a:t>
                          </a:r>
                          <a:r>
                            <a:rPr lang="el-GR" sz="1200" dirty="0"/>
                            <a:t>[t]</a:t>
                          </a:r>
                        </a:p>
                      </a:txBody>
                      <a:tcPr anchor="ctr"/>
                    </a:tc>
                    <a:tc>
                      <a:txBody>
                        <a:bodyPr/>
                        <a:lstStyle/>
                        <a:p>
                          <a:pPr>
                            <a:buNone/>
                          </a:pPr>
                          <a:r>
                            <a:rPr lang="en-US" sz="1200" dirty="0"/>
                            <a:t>H</a:t>
                          </a:r>
                          <a:r>
                            <a:rPr lang="el-GR" sz="1200" dirty="0" err="1"/>
                            <a:t>eat</a:t>
                          </a:r>
                          <a:r>
                            <a:rPr lang="el-GR" sz="1200" dirty="0"/>
                            <a:t> </a:t>
                          </a:r>
                          <a:r>
                            <a:rPr lang="el-GR" sz="1200" dirty="0" err="1"/>
                            <a:t>charged</a:t>
                          </a:r>
                          <a:r>
                            <a:rPr lang="el-GR" sz="1200" dirty="0"/>
                            <a:t> </a:t>
                          </a:r>
                          <a:r>
                            <a:rPr lang="el-GR" sz="1200" dirty="0" err="1"/>
                            <a:t>from</a:t>
                          </a:r>
                          <a:r>
                            <a:rPr lang="el-GR" sz="1200" dirty="0"/>
                            <a:t> </a:t>
                          </a:r>
                          <a:r>
                            <a:rPr lang="el-GR" sz="1200" dirty="0" err="1"/>
                            <a:t>chiller</a:t>
                          </a:r>
                          <a:endParaRPr lang="el-GR" sz="1200" dirty="0"/>
                        </a:p>
                      </a:txBody>
                      <a:tcPr anchor="ctr"/>
                    </a:tc>
                    <a:extLst>
                      <a:ext uri="{0D108BD9-81ED-4DB2-BD59-A6C34878D82A}">
                        <a16:rowId xmlns:a16="http://schemas.microsoft.com/office/drawing/2014/main" val="3990297996"/>
                      </a:ext>
                    </a:extLst>
                  </a:tr>
                  <a:tr h="653895">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𝑄</m:t>
                                    </m:r>
                                  </m:e>
                                  <m:sub>
                                    <m:r>
                                      <a:rPr lang="el-GR" sz="1200"/>
                                      <m:t>𝑡</m:t>
                                    </m:r>
                                  </m:sub>
                                  <m:sup>
                                    <m:r>
                                      <a:rPr lang="el-GR" sz="1200"/>
                                      <m:t>𝑑𝑖𝑠</m:t>
                                    </m:r>
                                  </m:sup>
                                </m:sSubSup>
                              </m:oMath>
                            </m:oMathPara>
                          </a14:m>
                          <a:endParaRPr lang="el-GR" sz="1200"/>
                        </a:p>
                      </a:txBody>
                      <a:tcPr anchor="ctr"/>
                    </a:tc>
                    <a:tc>
                      <a:txBody>
                        <a:bodyPr/>
                        <a:lstStyle/>
                        <a:p>
                          <a:pPr>
                            <a:buNone/>
                          </a:pPr>
                          <a:r>
                            <a:rPr lang="el-GR" sz="1200" dirty="0" err="1"/>
                            <a:t>Q_discharge</a:t>
                          </a:r>
                          <a:r>
                            <a:rPr lang="el-GR" sz="1200" dirty="0"/>
                            <a:t>[t]</a:t>
                          </a:r>
                        </a:p>
                      </a:txBody>
                      <a:tcPr anchor="ctr"/>
                    </a:tc>
                    <a:tc>
                      <a:txBody>
                        <a:bodyPr/>
                        <a:lstStyle/>
                        <a:p>
                          <a:pPr>
                            <a:buNone/>
                          </a:pPr>
                          <a:r>
                            <a:rPr lang="en-US" sz="1200" dirty="0"/>
                            <a:t>H</a:t>
                          </a:r>
                          <a:r>
                            <a:rPr lang="el-GR" sz="1200" dirty="0" err="1"/>
                            <a:t>eat</a:t>
                          </a:r>
                          <a:r>
                            <a:rPr lang="el-GR" sz="1200" dirty="0"/>
                            <a:t> </a:t>
                          </a:r>
                          <a:r>
                            <a:rPr lang="el-GR" sz="1200" dirty="0" err="1"/>
                            <a:t>extracted</a:t>
                          </a:r>
                          <a:r>
                            <a:rPr lang="el-GR" sz="1200" dirty="0"/>
                            <a:t> </a:t>
                          </a:r>
                          <a:r>
                            <a:rPr lang="el-GR" sz="1200" dirty="0" err="1"/>
                            <a:t>from</a:t>
                          </a:r>
                          <a:r>
                            <a:rPr lang="el-GR" sz="1200" dirty="0"/>
                            <a:t> BTES</a:t>
                          </a:r>
                        </a:p>
                      </a:txBody>
                      <a:tcPr anchor="ctr"/>
                    </a:tc>
                    <a:extLst>
                      <a:ext uri="{0D108BD9-81ED-4DB2-BD59-A6C34878D82A}">
                        <a16:rowId xmlns:a16="http://schemas.microsoft.com/office/drawing/2014/main" val="1857147671"/>
                      </a:ext>
                    </a:extLst>
                  </a:tr>
                  <a:tr h="653895">
                    <a:tc>
                      <a:txBody>
                        <a:bodyPr/>
                        <a:lstStyle/>
                        <a:p>
                          <a:pPr>
                            <a:buNone/>
                          </a:pPr>
                          <a:endParaRPr lang="el-GR" sz="1200" dirty="0"/>
                        </a:p>
                      </a:txBody>
                      <a:tcPr anchor="ctr"/>
                    </a:tc>
                    <a:tc>
                      <a:txBody>
                        <a:bodyPr/>
                        <a:lstStyle/>
                        <a:p>
                          <a:pPr>
                            <a:buNone/>
                          </a:pPr>
                          <a14:m>
                            <m:oMathPara xmlns:m="http://schemas.openxmlformats.org/officeDocument/2006/math">
                              <m:oMath>
                                <m:r>
                                  <m:rPr>
                                    <m:sty m:val="p"/>
                                  </m:rPr>
                                  <a:rPr lang="el-GR" sz="1200"/>
                                  <m:t>Δ</m:t>
                                </m:r>
                                <m:sSubSup>
                                  <m:sSubSupPr>
                                    <m:ctrlPr>
                                      <a:rPr lang="el-GR" sz="1200"/>
                                    </m:ctrlPr>
                                  </m:sSubSupPr>
                                  <m:e>
                                    <m:r>
                                      <a:rPr lang="el-GR" sz="1200"/>
                                      <m:t>𝑇</m:t>
                                    </m:r>
                                  </m:e>
                                  <m:sub>
                                    <m:r>
                                      <a:rPr lang="el-GR" sz="1200"/>
                                      <m:t>𝑡</m:t>
                                    </m:r>
                                  </m:sub>
                                  <m:sup>
                                    <m:r>
                                      <a:rPr lang="el-GR" sz="1200"/>
                                      <m:t>𝐻𝑃</m:t>
                                    </m:r>
                                  </m:sup>
                                </m:sSubSup>
                              </m:oMath>
                            </m:oMathPara>
                          </a14:m>
                          <a:endParaRPr lang="el-GR" sz="1200"/>
                        </a:p>
                      </a:txBody>
                      <a:tcPr anchor="ctr"/>
                    </a:tc>
                    <a:tc>
                      <a:txBody>
                        <a:bodyPr/>
                        <a:lstStyle/>
                        <a:p>
                          <a:pPr>
                            <a:buNone/>
                          </a:pPr>
                          <a:r>
                            <a:rPr lang="el-GR" sz="1200" dirty="0" err="1"/>
                            <a:t>DT_hp</a:t>
                          </a:r>
                          <a:r>
                            <a:rPr lang="el-GR" sz="1200" dirty="0"/>
                            <a:t>[t]</a:t>
                          </a:r>
                        </a:p>
                      </a:txBody>
                      <a:tcPr anchor="ctr"/>
                    </a:tc>
                    <a:tc>
                      <a:txBody>
                        <a:bodyPr/>
                        <a:lstStyle/>
                        <a:p>
                          <a:pPr>
                            <a:buNone/>
                          </a:pPr>
                          <a:r>
                            <a:rPr lang="el-GR" sz="1200" dirty="0"/>
                            <a:t>HP/BTES </a:t>
                          </a:r>
                          <a:r>
                            <a:rPr lang="el-GR" sz="1200" dirty="0" err="1"/>
                            <a:t>temperature</a:t>
                          </a:r>
                          <a:r>
                            <a:rPr lang="el-GR" sz="1200" dirty="0"/>
                            <a:t> </a:t>
                          </a:r>
                          <a:r>
                            <a:rPr lang="el-GR" sz="1200" dirty="0" err="1"/>
                            <a:t>difference</a:t>
                          </a:r>
                          <a:endParaRPr lang="el-GR" sz="1200" dirty="0"/>
                        </a:p>
                      </a:txBody>
                      <a:tcPr anchor="ctr"/>
                    </a:tc>
                    <a:extLst>
                      <a:ext uri="{0D108BD9-81ED-4DB2-BD59-A6C34878D82A}">
                        <a16:rowId xmlns:a16="http://schemas.microsoft.com/office/drawing/2014/main" val="2482097938"/>
                      </a:ext>
                    </a:extLst>
                  </a:tr>
                  <a:tr h="653895">
                    <a:tc>
                      <a:txBody>
                        <a:bodyPr/>
                        <a:lstStyle/>
                        <a:p>
                          <a:pPr>
                            <a:buNone/>
                          </a:pPr>
                          <a:endParaRPr lang="el-GR" sz="1200" dirty="0"/>
                        </a:p>
                      </a:txBody>
                      <a:tcPr anchor="ctr"/>
                    </a:tc>
                    <a:tc>
                      <a:txBody>
                        <a:bodyPr/>
                        <a:lstStyle/>
                        <a:p>
                          <a:pPr>
                            <a:buNone/>
                          </a:pPr>
                          <a14:m>
                            <m:oMathPara xmlns:m="http://schemas.openxmlformats.org/officeDocument/2006/math">
                              <m:oMath>
                                <m:r>
                                  <m:rPr>
                                    <m:sty m:val="p"/>
                                  </m:rPr>
                                  <a:rPr lang="el-GR" sz="1200"/>
                                  <m:t>Δ</m:t>
                                </m:r>
                                <m:sSubSup>
                                  <m:sSubSupPr>
                                    <m:ctrlPr>
                                      <a:rPr lang="el-GR" sz="1200"/>
                                    </m:ctrlPr>
                                  </m:sSubSupPr>
                                  <m:e>
                                    <m:r>
                                      <a:rPr lang="el-GR" sz="1200"/>
                                      <m:t>𝑇</m:t>
                                    </m:r>
                                  </m:e>
                                  <m:sub>
                                    <m:r>
                                      <a:rPr lang="el-GR" sz="1200"/>
                                      <m:t>𝑡</m:t>
                                    </m:r>
                                  </m:sub>
                                  <m:sup>
                                    <m:r>
                                      <a:rPr lang="el-GR" sz="1200"/>
                                      <m:t>𝐶𝐻</m:t>
                                    </m:r>
                                  </m:sup>
                                </m:sSubSup>
                              </m:oMath>
                            </m:oMathPara>
                          </a14:m>
                          <a:endParaRPr lang="el-GR" sz="1200"/>
                        </a:p>
                      </a:txBody>
                      <a:tcPr anchor="ctr"/>
                    </a:tc>
                    <a:tc>
                      <a:txBody>
                        <a:bodyPr/>
                        <a:lstStyle/>
                        <a:p>
                          <a:pPr>
                            <a:buNone/>
                          </a:pPr>
                          <a:r>
                            <a:rPr lang="el-GR" sz="1200" dirty="0" err="1"/>
                            <a:t>DT_ch</a:t>
                          </a:r>
                          <a:r>
                            <a:rPr lang="el-GR" sz="1200" dirty="0"/>
                            <a:t>[t]</a:t>
                          </a:r>
                        </a:p>
                      </a:txBody>
                      <a:tcPr anchor="ctr"/>
                    </a:tc>
                    <a:tc>
                      <a:txBody>
                        <a:bodyPr/>
                        <a:lstStyle/>
                        <a:p>
                          <a:pPr>
                            <a:buNone/>
                          </a:pPr>
                          <a:r>
                            <a:rPr lang="en-US" sz="1200" dirty="0"/>
                            <a:t>C</a:t>
                          </a:r>
                          <a:r>
                            <a:rPr lang="el-GR" sz="1200" dirty="0" err="1"/>
                            <a:t>hiller</a:t>
                          </a:r>
                          <a:r>
                            <a:rPr lang="el-GR" sz="1200" dirty="0"/>
                            <a:t>/BTES </a:t>
                          </a:r>
                          <a:r>
                            <a:rPr lang="el-GR" sz="1200" dirty="0" err="1"/>
                            <a:t>temperature</a:t>
                          </a:r>
                          <a:r>
                            <a:rPr lang="el-GR" sz="1200" dirty="0"/>
                            <a:t> </a:t>
                          </a:r>
                          <a:r>
                            <a:rPr lang="el-GR" sz="1200" dirty="0" err="1"/>
                            <a:t>difference</a:t>
                          </a:r>
                          <a:endParaRPr lang="el-GR" sz="1200" dirty="0"/>
                        </a:p>
                      </a:txBody>
                      <a:tcPr anchor="ctr"/>
                    </a:tc>
                    <a:extLst>
                      <a:ext uri="{0D108BD9-81ED-4DB2-BD59-A6C34878D82A}">
                        <a16:rowId xmlns:a16="http://schemas.microsoft.com/office/drawing/2014/main" val="722555130"/>
                      </a:ext>
                    </a:extLst>
                  </a:tr>
                  <a:tr h="467068">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𝛿</m:t>
                                    </m:r>
                                  </m:e>
                                  <m:sub>
                                    <m:r>
                                      <a:rPr lang="el-GR" sz="1200"/>
                                      <m:t>𝑡</m:t>
                                    </m:r>
                                  </m:sub>
                                  <m:sup>
                                    <m:r>
                                      <a:rPr lang="el-GR" sz="1200"/>
                                      <m:t>𝑠𝑡𝑎𝑟𝑡</m:t>
                                    </m:r>
                                  </m:sup>
                                </m:sSubSup>
                              </m:oMath>
                            </m:oMathPara>
                          </a14:m>
                          <a:endParaRPr lang="el-GR" sz="1200"/>
                        </a:p>
                      </a:txBody>
                      <a:tcPr anchor="ctr"/>
                    </a:tc>
                    <a:tc>
                      <a:txBody>
                        <a:bodyPr/>
                        <a:lstStyle/>
                        <a:p>
                          <a:pPr>
                            <a:buNone/>
                          </a:pPr>
                          <a:r>
                            <a:rPr lang="el-GR" sz="1200" dirty="0" err="1"/>
                            <a:t>btes_charge_period_start</a:t>
                          </a:r>
                          <a:r>
                            <a:rPr lang="el-GR" sz="1200" dirty="0"/>
                            <a:t>[t]</a:t>
                          </a:r>
                        </a:p>
                      </a:txBody>
                      <a:tcPr anchor="ctr"/>
                    </a:tc>
                    <a:tc>
                      <a:txBody>
                        <a:bodyPr/>
                        <a:lstStyle/>
                        <a:p>
                          <a:pPr>
                            <a:buNone/>
                          </a:pPr>
                          <a:r>
                            <a:rPr lang="el-GR" sz="1200" dirty="0" err="1"/>
                            <a:t>charging-period</a:t>
                          </a:r>
                          <a:r>
                            <a:rPr lang="el-GR" sz="1200" dirty="0"/>
                            <a:t> </a:t>
                          </a:r>
                          <a:r>
                            <a:rPr lang="el-GR" sz="1200" dirty="0" err="1"/>
                            <a:t>start</a:t>
                          </a:r>
                          <a:endParaRPr lang="el-GR" sz="1200" dirty="0"/>
                        </a:p>
                      </a:txBody>
                      <a:tcPr anchor="ctr"/>
                    </a:tc>
                    <a:extLst>
                      <a:ext uri="{0D108BD9-81ED-4DB2-BD59-A6C34878D82A}">
                        <a16:rowId xmlns:a16="http://schemas.microsoft.com/office/drawing/2014/main" val="750027708"/>
                      </a:ext>
                    </a:extLst>
                  </a:tr>
                  <a:tr h="467068">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𝛿</m:t>
                                    </m:r>
                                  </m:e>
                                  <m:sub>
                                    <m:r>
                                      <a:rPr lang="el-GR" sz="1200"/>
                                      <m:t>𝑡</m:t>
                                    </m:r>
                                  </m:sub>
                                  <m:sup>
                                    <m:r>
                                      <a:rPr lang="el-GR" sz="1200"/>
                                      <m:t>𝑒𝑛𝑑</m:t>
                                    </m:r>
                                  </m:sup>
                                </m:sSubSup>
                              </m:oMath>
                            </m:oMathPara>
                          </a14:m>
                          <a:endParaRPr lang="el-GR" sz="1200"/>
                        </a:p>
                      </a:txBody>
                      <a:tcPr anchor="ctr"/>
                    </a:tc>
                    <a:tc>
                      <a:txBody>
                        <a:bodyPr/>
                        <a:lstStyle/>
                        <a:p>
                          <a:pPr>
                            <a:buNone/>
                          </a:pPr>
                          <a:r>
                            <a:rPr lang="el-GR" sz="1200" dirty="0" err="1"/>
                            <a:t>btes_charge_period_end</a:t>
                          </a:r>
                          <a:r>
                            <a:rPr lang="el-GR" sz="1200" dirty="0"/>
                            <a:t>[t]</a:t>
                          </a:r>
                        </a:p>
                      </a:txBody>
                      <a:tcPr anchor="ctr"/>
                    </a:tc>
                    <a:tc>
                      <a:txBody>
                        <a:bodyPr/>
                        <a:lstStyle/>
                        <a:p>
                          <a:pPr>
                            <a:buNone/>
                          </a:pPr>
                          <a:r>
                            <a:rPr lang="el-GR" sz="1200" dirty="0" err="1"/>
                            <a:t>charging-period</a:t>
                          </a:r>
                          <a:r>
                            <a:rPr lang="el-GR" sz="1200" dirty="0"/>
                            <a:t> </a:t>
                          </a:r>
                          <a:r>
                            <a:rPr lang="el-GR" sz="1200" dirty="0" err="1"/>
                            <a:t>end</a:t>
                          </a:r>
                          <a:endParaRPr lang="el-GR" sz="1200" dirty="0"/>
                        </a:p>
                      </a:txBody>
                      <a:tcPr anchor="ctr"/>
                    </a:tc>
                    <a:extLst>
                      <a:ext uri="{0D108BD9-81ED-4DB2-BD59-A6C34878D82A}">
                        <a16:rowId xmlns:a16="http://schemas.microsoft.com/office/drawing/2014/main" val="3303173278"/>
                      </a:ext>
                    </a:extLst>
                  </a:tr>
                  <a:tr h="467068">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m:ctrlPr>
                                  </m:sSubSupPr>
                                  <m:e>
                                    <m:r>
                                      <a:rPr lang="el-GR" sz="1200"/>
                                      <m:t>𝛿</m:t>
                                    </m:r>
                                  </m:e>
                                  <m:sub>
                                    <m:r>
                                      <a:rPr lang="el-GR" sz="1200"/>
                                      <m:t>𝑡</m:t>
                                    </m:r>
                                  </m:sub>
                                  <m:sup>
                                    <m:r>
                                      <a:rPr lang="el-GR" sz="1200"/>
                                      <m:t>𝑐ℎ𝑎𝑟𝑔𝑒</m:t>
                                    </m:r>
                                  </m:sup>
                                </m:sSubSup>
                              </m:oMath>
                            </m:oMathPara>
                          </a14:m>
                          <a:endParaRPr lang="el-GR" sz="1200"/>
                        </a:p>
                      </a:txBody>
                      <a:tcPr anchor="ctr"/>
                    </a:tc>
                    <a:tc>
                      <a:txBody>
                        <a:bodyPr/>
                        <a:lstStyle/>
                        <a:p>
                          <a:pPr>
                            <a:buNone/>
                          </a:pPr>
                          <a:r>
                            <a:rPr lang="el-GR" sz="1200" dirty="0" err="1"/>
                            <a:t>btes_charging_period</a:t>
                          </a:r>
                          <a:r>
                            <a:rPr lang="el-GR" sz="1200" dirty="0"/>
                            <a:t>[t]</a:t>
                          </a:r>
                        </a:p>
                      </a:txBody>
                      <a:tcPr anchor="ctr"/>
                    </a:tc>
                    <a:tc>
                      <a:txBody>
                        <a:bodyPr/>
                        <a:lstStyle/>
                        <a:p>
                          <a:pPr>
                            <a:buNone/>
                          </a:pPr>
                          <a:r>
                            <a:rPr lang="el-GR" sz="1200" dirty="0" err="1"/>
                            <a:t>charging-period</a:t>
                          </a:r>
                          <a:r>
                            <a:rPr lang="el-GR" sz="1200" dirty="0"/>
                            <a:t> </a:t>
                          </a:r>
                          <a:r>
                            <a:rPr lang="el-GR" sz="1200" dirty="0" err="1"/>
                            <a:t>state</a:t>
                          </a:r>
                          <a:endParaRPr lang="el-GR" sz="1200" dirty="0"/>
                        </a:p>
                      </a:txBody>
                      <a:tcPr anchor="ctr"/>
                    </a:tc>
                    <a:extLst>
                      <a:ext uri="{0D108BD9-81ED-4DB2-BD59-A6C34878D82A}">
                        <a16:rowId xmlns:a16="http://schemas.microsoft.com/office/drawing/2014/main" val="1181053492"/>
                      </a:ext>
                    </a:extLst>
                  </a:tr>
                  <a:tr h="467068">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𝛿</m:t>
                                    </m:r>
                                  </m:e>
                                  <m:sub>
                                    <m:r>
                                      <a:rPr lang="el-GR" sz="1200">
                                        <a:latin typeface="Cambria Math" panose="02040503050406030204" pitchFamily="18" charset="0"/>
                                      </a:rPr>
                                      <m:t>𝑖</m:t>
                                    </m:r>
                                  </m:sub>
                                  <m:sup>
                                    <m:r>
                                      <a:rPr lang="el-GR" sz="1200">
                                        <a:latin typeface="Cambria Math" panose="02040503050406030204" pitchFamily="18" charset="0"/>
                                      </a:rPr>
                                      <m:t>𝐵𝑇𝐸𝑆</m:t>
                                    </m:r>
                                  </m:sup>
                                </m:sSubSup>
                              </m:oMath>
                            </m:oMathPara>
                          </a14:m>
                          <a:endParaRPr lang="el-GR" sz="1200"/>
                        </a:p>
                      </a:txBody>
                      <a:tcPr anchor="ctr"/>
                    </a:tc>
                    <a:tc>
                      <a:txBody>
                        <a:bodyPr/>
                        <a:lstStyle/>
                        <a:p>
                          <a:pPr>
                            <a:buNone/>
                          </a:pPr>
                          <a:r>
                            <a:rPr lang="el-GR" sz="1200" dirty="0" err="1"/>
                            <a:t>delta_btes</a:t>
                          </a:r>
                          <a:r>
                            <a:rPr lang="el-GR" sz="1200" dirty="0"/>
                            <a:t>[i]</a:t>
                          </a:r>
                        </a:p>
                      </a:txBody>
                      <a:tcPr anchor="ctr"/>
                    </a:tc>
                    <a:tc>
                      <a:txBody>
                        <a:bodyPr/>
                        <a:lstStyle/>
                        <a:p>
                          <a:pPr>
                            <a:buNone/>
                          </a:pPr>
                          <a:r>
                            <a:rPr lang="el-GR" sz="1200" dirty="0"/>
                            <a:t>BTES </a:t>
                          </a:r>
                          <a:r>
                            <a:rPr lang="el-GR" sz="1200" dirty="0" err="1"/>
                            <a:t>design-option</a:t>
                          </a:r>
                          <a:endParaRPr lang="el-GR" sz="1200" dirty="0"/>
                        </a:p>
                      </a:txBody>
                      <a:tcPr anchor="ctr"/>
                    </a:tc>
                    <a:extLst>
                      <a:ext uri="{0D108BD9-81ED-4DB2-BD59-A6C34878D82A}">
                        <a16:rowId xmlns:a16="http://schemas.microsoft.com/office/drawing/2014/main" val="1513031162"/>
                      </a:ext>
                    </a:extLst>
                  </a:tr>
                  <a:tr h="467068">
                    <a:tc>
                      <a:txBody>
                        <a:bodyPr/>
                        <a:lstStyle/>
                        <a:p>
                          <a:pPr>
                            <a:buNone/>
                          </a:pPr>
                          <a:r>
                            <a:rPr lang="el-GR" sz="1200" b="1" dirty="0" err="1"/>
                            <a:t>Electricity</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𝑃</m:t>
                                    </m:r>
                                  </m:e>
                                  <m:sub>
                                    <m:r>
                                      <a:rPr lang="el-GR" sz="1200">
                                        <a:latin typeface="Cambria Math" panose="02040503050406030204" pitchFamily="18" charset="0"/>
                                      </a:rPr>
                                      <m:t>𝑡</m:t>
                                    </m:r>
                                  </m:sub>
                                  <m:sup>
                                    <m:r>
                                      <a:rPr lang="el-GR" sz="1200">
                                        <a:latin typeface="Cambria Math" panose="02040503050406030204" pitchFamily="18" charset="0"/>
                                      </a:rPr>
                                      <m:t>𝑔𝑟𝑖𝑑</m:t>
                                    </m:r>
                                  </m:sup>
                                </m:sSubSup>
                              </m:oMath>
                            </m:oMathPara>
                          </a14:m>
                          <a:endParaRPr lang="el-GR" sz="1200"/>
                        </a:p>
                      </a:txBody>
                      <a:tcPr anchor="ctr"/>
                    </a:tc>
                    <a:tc>
                      <a:txBody>
                        <a:bodyPr/>
                        <a:lstStyle/>
                        <a:p>
                          <a:pPr>
                            <a:buNone/>
                          </a:pPr>
                          <a:r>
                            <a:rPr lang="el-GR" sz="1200"/>
                            <a:t>P_import[t]</a:t>
                          </a:r>
                        </a:p>
                      </a:txBody>
                      <a:tcPr anchor="ctr"/>
                    </a:tc>
                    <a:tc>
                      <a:txBody>
                        <a:bodyPr/>
                        <a:lstStyle/>
                        <a:p>
                          <a:pPr>
                            <a:buNone/>
                          </a:pPr>
                          <a:r>
                            <a:rPr lang="en-US" sz="1200" dirty="0"/>
                            <a:t>E</a:t>
                          </a:r>
                          <a:r>
                            <a:rPr lang="el-GR" sz="1200" dirty="0" err="1"/>
                            <a:t>lectricity</a:t>
                          </a:r>
                          <a:r>
                            <a:rPr lang="el-GR" sz="1200" dirty="0"/>
                            <a:t> </a:t>
                          </a:r>
                          <a:r>
                            <a:rPr lang="el-GR" sz="1200" dirty="0" err="1"/>
                            <a:t>imported</a:t>
                          </a:r>
                          <a:endParaRPr lang="el-GR" sz="1200" dirty="0"/>
                        </a:p>
                      </a:txBody>
                      <a:tcPr anchor="ctr"/>
                    </a:tc>
                    <a:extLst>
                      <a:ext uri="{0D108BD9-81ED-4DB2-BD59-A6C34878D82A}">
                        <a16:rowId xmlns:a16="http://schemas.microsoft.com/office/drawing/2014/main" val="2490885950"/>
                      </a:ext>
                    </a:extLst>
                  </a:tr>
                  <a:tr h="467068">
                    <a:tc>
                      <a:txBody>
                        <a:bodyPr/>
                        <a:lstStyle/>
                        <a:p>
                          <a:pPr>
                            <a:buNone/>
                          </a:pPr>
                          <a:r>
                            <a:rPr lang="el-GR" sz="1200" b="1" dirty="0" err="1"/>
                            <a:t>Natural</a:t>
                          </a:r>
                          <a:r>
                            <a:rPr lang="el-GR" sz="1200" b="1" dirty="0"/>
                            <a:t> </a:t>
                          </a:r>
                          <a:r>
                            <a:rPr lang="el-GR" sz="1200" b="1" dirty="0" err="1"/>
                            <a:t>Gas</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𝐺</m:t>
                                    </m:r>
                                  </m:e>
                                  <m:sub>
                                    <m:r>
                                      <a:rPr lang="el-GR" sz="1200">
                                        <a:latin typeface="Cambria Math" panose="02040503050406030204" pitchFamily="18" charset="0"/>
                                      </a:rPr>
                                      <m:t>𝑡</m:t>
                                    </m:r>
                                  </m:sub>
                                  <m:sup>
                                    <m:r>
                                      <a:rPr lang="el-GR" sz="1200">
                                        <a:latin typeface="Cambria Math" panose="02040503050406030204" pitchFamily="18" charset="0"/>
                                      </a:rPr>
                                      <m:t>𝑔𝑟𝑖𝑑</m:t>
                                    </m:r>
                                  </m:sup>
                                </m:sSubSup>
                              </m:oMath>
                            </m:oMathPara>
                          </a14:m>
                          <a:endParaRPr lang="el-GR" sz="1200" dirty="0"/>
                        </a:p>
                      </a:txBody>
                      <a:tcPr anchor="ctr"/>
                    </a:tc>
                    <a:tc>
                      <a:txBody>
                        <a:bodyPr/>
                        <a:lstStyle/>
                        <a:p>
                          <a:pPr>
                            <a:buNone/>
                          </a:pPr>
                          <a:r>
                            <a:rPr lang="el-GR" sz="1200" dirty="0" err="1"/>
                            <a:t>G_import</a:t>
                          </a:r>
                          <a:r>
                            <a:rPr lang="el-GR" sz="1200" dirty="0"/>
                            <a:t>[t]</a:t>
                          </a:r>
                        </a:p>
                      </a:txBody>
                      <a:tcPr anchor="ctr"/>
                    </a:tc>
                    <a:tc>
                      <a:txBody>
                        <a:bodyPr/>
                        <a:lstStyle/>
                        <a:p>
                          <a:pPr>
                            <a:buNone/>
                          </a:pPr>
                          <a:r>
                            <a:rPr lang="en-US" sz="1200" dirty="0"/>
                            <a:t>N</a:t>
                          </a:r>
                          <a:r>
                            <a:rPr lang="el-GR" sz="1200" dirty="0" err="1"/>
                            <a:t>atural-gas</a:t>
                          </a:r>
                          <a:r>
                            <a:rPr lang="el-GR" sz="1200" dirty="0"/>
                            <a:t> </a:t>
                          </a:r>
                          <a:r>
                            <a:rPr lang="el-GR" sz="1200" dirty="0" err="1"/>
                            <a:t>import</a:t>
                          </a:r>
                          <a:endParaRPr lang="el-GR" sz="1200" dirty="0"/>
                        </a:p>
                      </a:txBody>
                      <a:tcPr anchor="ctr"/>
                    </a:tc>
                    <a:extLst>
                      <a:ext uri="{0D108BD9-81ED-4DB2-BD59-A6C34878D82A}">
                        <a16:rowId xmlns:a16="http://schemas.microsoft.com/office/drawing/2014/main" val="605033985"/>
                      </a:ext>
                    </a:extLst>
                  </a:tr>
                </a:tbl>
              </a:graphicData>
            </a:graphic>
          </p:graphicFrame>
        </mc:Choice>
        <mc:Fallback>
          <p:graphicFrame>
            <p:nvGraphicFramePr>
              <p:cNvPr id="7" name="Content Placeholder 6">
                <a:extLst>
                  <a:ext uri="{FF2B5EF4-FFF2-40B4-BE49-F238E27FC236}">
                    <a16:creationId xmlns:a16="http://schemas.microsoft.com/office/drawing/2014/main" id="{C65619E3-4B57-F2DD-F8DC-0E17142822E0}"/>
                  </a:ext>
                </a:extLst>
              </p:cNvPr>
              <p:cNvGraphicFramePr>
                <a:graphicFrameLocks noGrp="1"/>
              </p:cNvGraphicFramePr>
              <p:nvPr>
                <p:ph idx="1"/>
                <p:extLst>
                  <p:ext uri="{D42A27DB-BD31-4B8C-83A1-F6EECF244321}">
                    <p14:modId xmlns:p14="http://schemas.microsoft.com/office/powerpoint/2010/main" val="3979759876"/>
                  </p:ext>
                </p:extLst>
              </p:nvPr>
            </p:nvGraphicFramePr>
            <p:xfrm>
              <a:off x="0" y="692696"/>
              <a:ext cx="4499992" cy="6165297"/>
            </p:xfrm>
            <a:graphic>
              <a:graphicData uri="http://schemas.openxmlformats.org/drawingml/2006/table">
                <a:tbl>
                  <a:tblPr firstRow="1" bandRow="1">
                    <a:tableStyleId>{00A15C55-8517-42AA-B614-E9B94910E393}</a:tableStyleId>
                  </a:tblPr>
                  <a:tblGrid>
                    <a:gridCol w="1040286">
                      <a:extLst>
                        <a:ext uri="{9D8B030D-6E8A-4147-A177-3AD203B41FA5}">
                          <a16:colId xmlns:a16="http://schemas.microsoft.com/office/drawing/2014/main" val="1904700504"/>
                        </a:ext>
                      </a:extLst>
                    </a:gridCol>
                    <a:gridCol w="834002">
                      <a:extLst>
                        <a:ext uri="{9D8B030D-6E8A-4147-A177-3AD203B41FA5}">
                          <a16:colId xmlns:a16="http://schemas.microsoft.com/office/drawing/2014/main" val="673787428"/>
                        </a:ext>
                      </a:extLst>
                    </a:gridCol>
                    <a:gridCol w="1500706">
                      <a:extLst>
                        <a:ext uri="{9D8B030D-6E8A-4147-A177-3AD203B41FA5}">
                          <a16:colId xmlns:a16="http://schemas.microsoft.com/office/drawing/2014/main" val="250100973"/>
                        </a:ext>
                      </a:extLst>
                    </a:gridCol>
                    <a:gridCol w="1124998">
                      <a:extLst>
                        <a:ext uri="{9D8B030D-6E8A-4147-A177-3AD203B41FA5}">
                          <a16:colId xmlns:a16="http://schemas.microsoft.com/office/drawing/2014/main" val="1223551282"/>
                        </a:ext>
                      </a:extLst>
                    </a:gridCol>
                  </a:tblGrid>
                  <a:tr h="467068">
                    <a:tc>
                      <a:txBody>
                        <a:bodyPr/>
                        <a:lstStyle/>
                        <a:p>
                          <a:pPr>
                            <a:buNone/>
                          </a:pPr>
                          <a:r>
                            <a:rPr lang="el-GR" sz="1200" dirty="0" err="1"/>
                            <a:t>Technology</a:t>
                          </a:r>
                          <a:endParaRPr lang="el-GR" sz="1200" dirty="0"/>
                        </a:p>
                      </a:txBody>
                      <a:tcPr anchor="ctr"/>
                    </a:tc>
                    <a:tc>
                      <a:txBody>
                        <a:bodyPr/>
                        <a:lstStyle/>
                        <a:p>
                          <a:pPr>
                            <a:buNone/>
                          </a:pPr>
                          <a:r>
                            <a:rPr lang="el-GR" sz="1200" dirty="0" err="1"/>
                            <a:t>Decision</a:t>
                          </a:r>
                          <a:r>
                            <a:rPr lang="el-GR" sz="1200" dirty="0"/>
                            <a:t> </a:t>
                          </a:r>
                          <a:r>
                            <a:rPr lang="el-GR" sz="1200" dirty="0" err="1"/>
                            <a:t>variable</a:t>
                          </a:r>
                          <a:endParaRPr lang="el-GR" sz="1200" dirty="0"/>
                        </a:p>
                      </a:txBody>
                      <a:tcPr anchor="ctr"/>
                    </a:tc>
                    <a:tc>
                      <a:txBody>
                        <a:bodyPr/>
                        <a:lstStyle/>
                        <a:p>
                          <a:pPr>
                            <a:buNone/>
                          </a:pPr>
                          <a:r>
                            <a:rPr lang="el-GR" sz="1200" dirty="0" err="1"/>
                            <a:t>Code</a:t>
                          </a:r>
                          <a:r>
                            <a:rPr lang="el-GR" sz="1200" dirty="0"/>
                            <a:t> </a:t>
                          </a:r>
                          <a:r>
                            <a:rPr lang="el-GR" sz="1200" dirty="0" err="1"/>
                            <a:t>name</a:t>
                          </a:r>
                          <a:endParaRPr lang="el-GR" sz="1200" dirty="0"/>
                        </a:p>
                      </a:txBody>
                      <a:tcPr anchor="ctr"/>
                    </a:tc>
                    <a:tc>
                      <a:txBody>
                        <a:bodyPr/>
                        <a:lstStyle/>
                        <a:p>
                          <a:pPr>
                            <a:buNone/>
                          </a:pPr>
                          <a:r>
                            <a:rPr lang="en-US" sz="1200" dirty="0"/>
                            <a:t>M</a:t>
                          </a:r>
                          <a:r>
                            <a:rPr lang="el-GR" sz="1200" dirty="0" err="1"/>
                            <a:t>eaning</a:t>
                          </a:r>
                          <a:endParaRPr lang="el-GR" sz="1200" dirty="0"/>
                        </a:p>
                      </a:txBody>
                      <a:tcPr anchor="ctr"/>
                    </a:tc>
                    <a:extLst>
                      <a:ext uri="{0D108BD9-81ED-4DB2-BD59-A6C34878D82A}">
                        <a16:rowId xmlns:a16="http://schemas.microsoft.com/office/drawing/2014/main" val="872320571"/>
                      </a:ext>
                    </a:extLst>
                  </a:tr>
                  <a:tr h="467068">
                    <a:tc>
                      <a:txBody>
                        <a:bodyPr/>
                        <a:lstStyle/>
                        <a:p>
                          <a:pPr>
                            <a:buNone/>
                          </a:pPr>
                          <a:r>
                            <a:rPr lang="el-GR" sz="1200" b="1" dirty="0"/>
                            <a:t>BTES</a:t>
                          </a:r>
                          <a:endParaRPr lang="el-GR" sz="1200" dirty="0"/>
                        </a:p>
                      </a:txBody>
                      <a:tcPr anchor="ctr"/>
                    </a:tc>
                    <a:tc>
                      <a:txBody>
                        <a:bodyPr/>
                        <a:lstStyle/>
                        <a:p>
                          <a:endParaRPr lang="el-GR"/>
                        </a:p>
                      </a:txBody>
                      <a:tcPr anchor="ctr">
                        <a:blipFill>
                          <a:blip r:embed="rId2"/>
                          <a:stretch>
                            <a:fillRect l="-126277" t="-102632" r="-317518" b="-1138158"/>
                          </a:stretch>
                        </a:blipFill>
                      </a:tcPr>
                    </a:tc>
                    <a:tc>
                      <a:txBody>
                        <a:bodyPr/>
                        <a:lstStyle/>
                        <a:p>
                          <a:pPr>
                            <a:buNone/>
                          </a:pPr>
                          <a:r>
                            <a:rPr lang="el-GR" sz="1200" dirty="0" err="1"/>
                            <a:t>T_btes</a:t>
                          </a:r>
                          <a:r>
                            <a:rPr lang="el-GR" sz="1200" dirty="0"/>
                            <a:t>[t]</a:t>
                          </a:r>
                        </a:p>
                      </a:txBody>
                      <a:tcPr anchor="ctr"/>
                    </a:tc>
                    <a:tc>
                      <a:txBody>
                        <a:bodyPr/>
                        <a:lstStyle/>
                        <a:p>
                          <a:pPr>
                            <a:buNone/>
                          </a:pPr>
                          <a:r>
                            <a:rPr lang="el-GR" sz="1200" dirty="0"/>
                            <a:t>BTES </a:t>
                          </a:r>
                          <a:r>
                            <a:rPr lang="el-GR" sz="1200" dirty="0" err="1"/>
                            <a:t>temperature</a:t>
                          </a:r>
                          <a:endParaRPr lang="el-GR" sz="1200" dirty="0"/>
                        </a:p>
                      </a:txBody>
                      <a:tcPr anchor="ctr"/>
                    </a:tc>
                    <a:extLst>
                      <a:ext uri="{0D108BD9-81ED-4DB2-BD59-A6C34878D82A}">
                        <a16:rowId xmlns:a16="http://schemas.microsoft.com/office/drawing/2014/main" val="148692651"/>
                      </a:ext>
                    </a:extLst>
                  </a:tr>
                  <a:tr h="467068">
                    <a:tc>
                      <a:txBody>
                        <a:bodyPr/>
                        <a:lstStyle/>
                        <a:p>
                          <a:pPr>
                            <a:buNone/>
                          </a:pPr>
                          <a:endParaRPr lang="el-GR" sz="1200" dirty="0"/>
                        </a:p>
                      </a:txBody>
                      <a:tcPr anchor="ctr"/>
                    </a:tc>
                    <a:tc>
                      <a:txBody>
                        <a:bodyPr/>
                        <a:lstStyle/>
                        <a:p>
                          <a:endParaRPr lang="el-GR"/>
                        </a:p>
                      </a:txBody>
                      <a:tcPr anchor="ctr">
                        <a:blipFill>
                          <a:blip r:embed="rId2"/>
                          <a:stretch>
                            <a:fillRect l="-126277" t="-200000" r="-317518" b="-1023377"/>
                          </a:stretch>
                        </a:blipFill>
                      </a:tcPr>
                    </a:tc>
                    <a:tc>
                      <a:txBody>
                        <a:bodyPr/>
                        <a:lstStyle/>
                        <a:p>
                          <a:pPr>
                            <a:buNone/>
                          </a:pPr>
                          <a:r>
                            <a:rPr lang="el-GR" sz="1200" dirty="0" err="1"/>
                            <a:t>Q_charge_chiller</a:t>
                          </a:r>
                          <a:r>
                            <a:rPr lang="el-GR" sz="1200" dirty="0"/>
                            <a:t>[t]</a:t>
                          </a:r>
                        </a:p>
                      </a:txBody>
                      <a:tcPr anchor="ctr"/>
                    </a:tc>
                    <a:tc>
                      <a:txBody>
                        <a:bodyPr/>
                        <a:lstStyle/>
                        <a:p>
                          <a:pPr>
                            <a:buNone/>
                          </a:pPr>
                          <a:r>
                            <a:rPr lang="en-US" sz="1200" dirty="0"/>
                            <a:t>H</a:t>
                          </a:r>
                          <a:r>
                            <a:rPr lang="el-GR" sz="1200" dirty="0" err="1"/>
                            <a:t>eat</a:t>
                          </a:r>
                          <a:r>
                            <a:rPr lang="el-GR" sz="1200" dirty="0"/>
                            <a:t> </a:t>
                          </a:r>
                          <a:r>
                            <a:rPr lang="el-GR" sz="1200" dirty="0" err="1"/>
                            <a:t>charged</a:t>
                          </a:r>
                          <a:r>
                            <a:rPr lang="el-GR" sz="1200" dirty="0"/>
                            <a:t> </a:t>
                          </a:r>
                          <a:r>
                            <a:rPr lang="el-GR" sz="1200" dirty="0" err="1"/>
                            <a:t>from</a:t>
                          </a:r>
                          <a:r>
                            <a:rPr lang="el-GR" sz="1200" dirty="0"/>
                            <a:t> </a:t>
                          </a:r>
                          <a:r>
                            <a:rPr lang="el-GR" sz="1200" dirty="0" err="1"/>
                            <a:t>chiller</a:t>
                          </a:r>
                          <a:endParaRPr lang="el-GR" sz="1200" dirty="0"/>
                        </a:p>
                      </a:txBody>
                      <a:tcPr anchor="ctr"/>
                    </a:tc>
                    <a:extLst>
                      <a:ext uri="{0D108BD9-81ED-4DB2-BD59-A6C34878D82A}">
                        <a16:rowId xmlns:a16="http://schemas.microsoft.com/office/drawing/2014/main" val="3990297996"/>
                      </a:ext>
                    </a:extLst>
                  </a:tr>
                  <a:tr h="653895">
                    <a:tc>
                      <a:txBody>
                        <a:bodyPr/>
                        <a:lstStyle/>
                        <a:p>
                          <a:pPr>
                            <a:buNone/>
                          </a:pPr>
                          <a:endParaRPr lang="el-GR" sz="1200" dirty="0"/>
                        </a:p>
                      </a:txBody>
                      <a:tcPr anchor="ctr"/>
                    </a:tc>
                    <a:tc>
                      <a:txBody>
                        <a:bodyPr/>
                        <a:lstStyle/>
                        <a:p>
                          <a:endParaRPr lang="el-GR"/>
                        </a:p>
                      </a:txBody>
                      <a:tcPr anchor="ctr">
                        <a:blipFill>
                          <a:blip r:embed="rId2"/>
                          <a:stretch>
                            <a:fillRect l="-126277" t="-215888" r="-317518" b="-636449"/>
                          </a:stretch>
                        </a:blipFill>
                      </a:tcPr>
                    </a:tc>
                    <a:tc>
                      <a:txBody>
                        <a:bodyPr/>
                        <a:lstStyle/>
                        <a:p>
                          <a:pPr>
                            <a:buNone/>
                          </a:pPr>
                          <a:r>
                            <a:rPr lang="el-GR" sz="1200" dirty="0" err="1"/>
                            <a:t>Q_discharge</a:t>
                          </a:r>
                          <a:r>
                            <a:rPr lang="el-GR" sz="1200" dirty="0"/>
                            <a:t>[t]</a:t>
                          </a:r>
                        </a:p>
                      </a:txBody>
                      <a:tcPr anchor="ctr"/>
                    </a:tc>
                    <a:tc>
                      <a:txBody>
                        <a:bodyPr/>
                        <a:lstStyle/>
                        <a:p>
                          <a:pPr>
                            <a:buNone/>
                          </a:pPr>
                          <a:r>
                            <a:rPr lang="en-US" sz="1200" dirty="0"/>
                            <a:t>H</a:t>
                          </a:r>
                          <a:r>
                            <a:rPr lang="el-GR" sz="1200" dirty="0" err="1"/>
                            <a:t>eat</a:t>
                          </a:r>
                          <a:r>
                            <a:rPr lang="el-GR" sz="1200" dirty="0"/>
                            <a:t> </a:t>
                          </a:r>
                          <a:r>
                            <a:rPr lang="el-GR" sz="1200" dirty="0" err="1"/>
                            <a:t>extracted</a:t>
                          </a:r>
                          <a:r>
                            <a:rPr lang="el-GR" sz="1200" dirty="0"/>
                            <a:t> </a:t>
                          </a:r>
                          <a:r>
                            <a:rPr lang="el-GR" sz="1200" dirty="0" err="1"/>
                            <a:t>from</a:t>
                          </a:r>
                          <a:r>
                            <a:rPr lang="el-GR" sz="1200" dirty="0"/>
                            <a:t> BTES</a:t>
                          </a:r>
                        </a:p>
                      </a:txBody>
                      <a:tcPr anchor="ctr"/>
                    </a:tc>
                    <a:extLst>
                      <a:ext uri="{0D108BD9-81ED-4DB2-BD59-A6C34878D82A}">
                        <a16:rowId xmlns:a16="http://schemas.microsoft.com/office/drawing/2014/main" val="1857147671"/>
                      </a:ext>
                    </a:extLst>
                  </a:tr>
                  <a:tr h="653895">
                    <a:tc>
                      <a:txBody>
                        <a:bodyPr/>
                        <a:lstStyle/>
                        <a:p>
                          <a:pPr>
                            <a:buNone/>
                          </a:pPr>
                          <a:endParaRPr lang="el-GR" sz="1200" dirty="0"/>
                        </a:p>
                      </a:txBody>
                      <a:tcPr anchor="ctr"/>
                    </a:tc>
                    <a:tc>
                      <a:txBody>
                        <a:bodyPr/>
                        <a:lstStyle/>
                        <a:p>
                          <a:endParaRPr lang="el-GR"/>
                        </a:p>
                      </a:txBody>
                      <a:tcPr anchor="ctr">
                        <a:blipFill>
                          <a:blip r:embed="rId2"/>
                          <a:stretch>
                            <a:fillRect l="-126277" t="-312963" r="-317518" b="-530556"/>
                          </a:stretch>
                        </a:blipFill>
                      </a:tcPr>
                    </a:tc>
                    <a:tc>
                      <a:txBody>
                        <a:bodyPr/>
                        <a:lstStyle/>
                        <a:p>
                          <a:pPr>
                            <a:buNone/>
                          </a:pPr>
                          <a:r>
                            <a:rPr lang="el-GR" sz="1200" dirty="0" err="1"/>
                            <a:t>DT_hp</a:t>
                          </a:r>
                          <a:r>
                            <a:rPr lang="el-GR" sz="1200" dirty="0"/>
                            <a:t>[t]</a:t>
                          </a:r>
                        </a:p>
                      </a:txBody>
                      <a:tcPr anchor="ctr"/>
                    </a:tc>
                    <a:tc>
                      <a:txBody>
                        <a:bodyPr/>
                        <a:lstStyle/>
                        <a:p>
                          <a:pPr>
                            <a:buNone/>
                          </a:pPr>
                          <a:r>
                            <a:rPr lang="el-GR" sz="1200" dirty="0"/>
                            <a:t>HP/BTES </a:t>
                          </a:r>
                          <a:r>
                            <a:rPr lang="el-GR" sz="1200" dirty="0" err="1"/>
                            <a:t>temperature</a:t>
                          </a:r>
                          <a:r>
                            <a:rPr lang="el-GR" sz="1200" dirty="0"/>
                            <a:t> </a:t>
                          </a:r>
                          <a:r>
                            <a:rPr lang="el-GR" sz="1200" dirty="0" err="1"/>
                            <a:t>difference</a:t>
                          </a:r>
                          <a:endParaRPr lang="el-GR" sz="1200" dirty="0"/>
                        </a:p>
                      </a:txBody>
                      <a:tcPr anchor="ctr"/>
                    </a:tc>
                    <a:extLst>
                      <a:ext uri="{0D108BD9-81ED-4DB2-BD59-A6C34878D82A}">
                        <a16:rowId xmlns:a16="http://schemas.microsoft.com/office/drawing/2014/main" val="2482097938"/>
                      </a:ext>
                    </a:extLst>
                  </a:tr>
                  <a:tr h="653895">
                    <a:tc>
                      <a:txBody>
                        <a:bodyPr/>
                        <a:lstStyle/>
                        <a:p>
                          <a:pPr>
                            <a:buNone/>
                          </a:pPr>
                          <a:endParaRPr lang="el-GR" sz="1200" dirty="0"/>
                        </a:p>
                      </a:txBody>
                      <a:tcPr anchor="ctr"/>
                    </a:tc>
                    <a:tc>
                      <a:txBody>
                        <a:bodyPr/>
                        <a:lstStyle/>
                        <a:p>
                          <a:endParaRPr lang="el-GR"/>
                        </a:p>
                      </a:txBody>
                      <a:tcPr anchor="ctr">
                        <a:blipFill>
                          <a:blip r:embed="rId2"/>
                          <a:stretch>
                            <a:fillRect l="-126277" t="-416822" r="-317518" b="-435514"/>
                          </a:stretch>
                        </a:blipFill>
                      </a:tcPr>
                    </a:tc>
                    <a:tc>
                      <a:txBody>
                        <a:bodyPr/>
                        <a:lstStyle/>
                        <a:p>
                          <a:pPr>
                            <a:buNone/>
                          </a:pPr>
                          <a:r>
                            <a:rPr lang="el-GR" sz="1200" dirty="0" err="1"/>
                            <a:t>DT_ch</a:t>
                          </a:r>
                          <a:r>
                            <a:rPr lang="el-GR" sz="1200" dirty="0"/>
                            <a:t>[t]</a:t>
                          </a:r>
                        </a:p>
                      </a:txBody>
                      <a:tcPr anchor="ctr"/>
                    </a:tc>
                    <a:tc>
                      <a:txBody>
                        <a:bodyPr/>
                        <a:lstStyle/>
                        <a:p>
                          <a:pPr>
                            <a:buNone/>
                          </a:pPr>
                          <a:r>
                            <a:rPr lang="en-US" sz="1200" dirty="0"/>
                            <a:t>C</a:t>
                          </a:r>
                          <a:r>
                            <a:rPr lang="el-GR" sz="1200" dirty="0" err="1"/>
                            <a:t>hiller</a:t>
                          </a:r>
                          <a:r>
                            <a:rPr lang="el-GR" sz="1200" dirty="0"/>
                            <a:t>/BTES </a:t>
                          </a:r>
                          <a:r>
                            <a:rPr lang="el-GR" sz="1200" dirty="0" err="1"/>
                            <a:t>temperature</a:t>
                          </a:r>
                          <a:r>
                            <a:rPr lang="el-GR" sz="1200" dirty="0"/>
                            <a:t> </a:t>
                          </a:r>
                          <a:r>
                            <a:rPr lang="el-GR" sz="1200" dirty="0" err="1"/>
                            <a:t>difference</a:t>
                          </a:r>
                          <a:endParaRPr lang="el-GR" sz="1200" dirty="0"/>
                        </a:p>
                      </a:txBody>
                      <a:tcPr anchor="ctr"/>
                    </a:tc>
                    <a:extLst>
                      <a:ext uri="{0D108BD9-81ED-4DB2-BD59-A6C34878D82A}">
                        <a16:rowId xmlns:a16="http://schemas.microsoft.com/office/drawing/2014/main" val="722555130"/>
                      </a:ext>
                    </a:extLst>
                  </a:tr>
                  <a:tr h="467068">
                    <a:tc>
                      <a:txBody>
                        <a:bodyPr/>
                        <a:lstStyle/>
                        <a:p>
                          <a:pPr>
                            <a:buNone/>
                          </a:pPr>
                          <a:endParaRPr lang="el-GR" sz="1200" dirty="0"/>
                        </a:p>
                      </a:txBody>
                      <a:tcPr anchor="ctr"/>
                    </a:tc>
                    <a:tc>
                      <a:txBody>
                        <a:bodyPr/>
                        <a:lstStyle/>
                        <a:p>
                          <a:endParaRPr lang="el-GR"/>
                        </a:p>
                      </a:txBody>
                      <a:tcPr anchor="ctr">
                        <a:blipFill>
                          <a:blip r:embed="rId2"/>
                          <a:stretch>
                            <a:fillRect l="-126277" t="-718182" r="-317518" b="-505195"/>
                          </a:stretch>
                        </a:blipFill>
                      </a:tcPr>
                    </a:tc>
                    <a:tc>
                      <a:txBody>
                        <a:bodyPr/>
                        <a:lstStyle/>
                        <a:p>
                          <a:pPr>
                            <a:buNone/>
                          </a:pPr>
                          <a:r>
                            <a:rPr lang="el-GR" sz="1200" dirty="0" err="1"/>
                            <a:t>btes_charge_period_start</a:t>
                          </a:r>
                          <a:r>
                            <a:rPr lang="el-GR" sz="1200" dirty="0"/>
                            <a:t>[t]</a:t>
                          </a:r>
                        </a:p>
                      </a:txBody>
                      <a:tcPr anchor="ctr"/>
                    </a:tc>
                    <a:tc>
                      <a:txBody>
                        <a:bodyPr/>
                        <a:lstStyle/>
                        <a:p>
                          <a:pPr>
                            <a:buNone/>
                          </a:pPr>
                          <a:r>
                            <a:rPr lang="el-GR" sz="1200" dirty="0" err="1"/>
                            <a:t>charging-period</a:t>
                          </a:r>
                          <a:r>
                            <a:rPr lang="el-GR" sz="1200" dirty="0"/>
                            <a:t> </a:t>
                          </a:r>
                          <a:r>
                            <a:rPr lang="el-GR" sz="1200" dirty="0" err="1"/>
                            <a:t>start</a:t>
                          </a:r>
                          <a:endParaRPr lang="el-GR" sz="1200" dirty="0"/>
                        </a:p>
                      </a:txBody>
                      <a:tcPr anchor="ctr"/>
                    </a:tc>
                    <a:extLst>
                      <a:ext uri="{0D108BD9-81ED-4DB2-BD59-A6C34878D82A}">
                        <a16:rowId xmlns:a16="http://schemas.microsoft.com/office/drawing/2014/main" val="750027708"/>
                      </a:ext>
                    </a:extLst>
                  </a:tr>
                  <a:tr h="467068">
                    <a:tc>
                      <a:txBody>
                        <a:bodyPr/>
                        <a:lstStyle/>
                        <a:p>
                          <a:pPr>
                            <a:buNone/>
                          </a:pPr>
                          <a:endParaRPr lang="el-GR" sz="1200" dirty="0"/>
                        </a:p>
                      </a:txBody>
                      <a:tcPr anchor="ctr"/>
                    </a:tc>
                    <a:tc>
                      <a:txBody>
                        <a:bodyPr/>
                        <a:lstStyle/>
                        <a:p>
                          <a:endParaRPr lang="el-GR"/>
                        </a:p>
                      </a:txBody>
                      <a:tcPr anchor="ctr">
                        <a:blipFill>
                          <a:blip r:embed="rId2"/>
                          <a:stretch>
                            <a:fillRect l="-126277" t="-828947" r="-317518" b="-411842"/>
                          </a:stretch>
                        </a:blipFill>
                      </a:tcPr>
                    </a:tc>
                    <a:tc>
                      <a:txBody>
                        <a:bodyPr/>
                        <a:lstStyle/>
                        <a:p>
                          <a:pPr>
                            <a:buNone/>
                          </a:pPr>
                          <a:r>
                            <a:rPr lang="el-GR" sz="1200" dirty="0" err="1"/>
                            <a:t>btes_charge_period_end</a:t>
                          </a:r>
                          <a:r>
                            <a:rPr lang="el-GR" sz="1200" dirty="0"/>
                            <a:t>[t]</a:t>
                          </a:r>
                        </a:p>
                      </a:txBody>
                      <a:tcPr anchor="ctr"/>
                    </a:tc>
                    <a:tc>
                      <a:txBody>
                        <a:bodyPr/>
                        <a:lstStyle/>
                        <a:p>
                          <a:pPr>
                            <a:buNone/>
                          </a:pPr>
                          <a:r>
                            <a:rPr lang="el-GR" sz="1200" dirty="0" err="1"/>
                            <a:t>charging-period</a:t>
                          </a:r>
                          <a:r>
                            <a:rPr lang="el-GR" sz="1200" dirty="0"/>
                            <a:t> </a:t>
                          </a:r>
                          <a:r>
                            <a:rPr lang="el-GR" sz="1200" dirty="0" err="1"/>
                            <a:t>end</a:t>
                          </a:r>
                          <a:endParaRPr lang="el-GR" sz="1200" dirty="0"/>
                        </a:p>
                      </a:txBody>
                      <a:tcPr anchor="ctr"/>
                    </a:tc>
                    <a:extLst>
                      <a:ext uri="{0D108BD9-81ED-4DB2-BD59-A6C34878D82A}">
                        <a16:rowId xmlns:a16="http://schemas.microsoft.com/office/drawing/2014/main" val="3303173278"/>
                      </a:ext>
                    </a:extLst>
                  </a:tr>
                  <a:tr h="467068">
                    <a:tc>
                      <a:txBody>
                        <a:bodyPr/>
                        <a:lstStyle/>
                        <a:p>
                          <a:pPr>
                            <a:buNone/>
                          </a:pPr>
                          <a:endParaRPr lang="el-GR" sz="1200" dirty="0"/>
                        </a:p>
                      </a:txBody>
                      <a:tcPr anchor="ctr"/>
                    </a:tc>
                    <a:tc>
                      <a:txBody>
                        <a:bodyPr/>
                        <a:lstStyle/>
                        <a:p>
                          <a:endParaRPr lang="el-GR"/>
                        </a:p>
                      </a:txBody>
                      <a:tcPr anchor="ctr">
                        <a:blipFill>
                          <a:blip r:embed="rId2"/>
                          <a:stretch>
                            <a:fillRect l="-126277" t="-916883" r="-317518" b="-306494"/>
                          </a:stretch>
                        </a:blipFill>
                      </a:tcPr>
                    </a:tc>
                    <a:tc>
                      <a:txBody>
                        <a:bodyPr/>
                        <a:lstStyle/>
                        <a:p>
                          <a:pPr>
                            <a:buNone/>
                          </a:pPr>
                          <a:r>
                            <a:rPr lang="el-GR" sz="1200" dirty="0" err="1"/>
                            <a:t>btes_charging_period</a:t>
                          </a:r>
                          <a:r>
                            <a:rPr lang="el-GR" sz="1200" dirty="0"/>
                            <a:t>[t]</a:t>
                          </a:r>
                        </a:p>
                      </a:txBody>
                      <a:tcPr anchor="ctr"/>
                    </a:tc>
                    <a:tc>
                      <a:txBody>
                        <a:bodyPr/>
                        <a:lstStyle/>
                        <a:p>
                          <a:pPr>
                            <a:buNone/>
                          </a:pPr>
                          <a:r>
                            <a:rPr lang="el-GR" sz="1200" dirty="0" err="1"/>
                            <a:t>charging-period</a:t>
                          </a:r>
                          <a:r>
                            <a:rPr lang="el-GR" sz="1200" dirty="0"/>
                            <a:t> </a:t>
                          </a:r>
                          <a:r>
                            <a:rPr lang="el-GR" sz="1200" dirty="0" err="1"/>
                            <a:t>state</a:t>
                          </a:r>
                          <a:endParaRPr lang="el-GR" sz="1200" dirty="0"/>
                        </a:p>
                      </a:txBody>
                      <a:tcPr anchor="ctr"/>
                    </a:tc>
                    <a:extLst>
                      <a:ext uri="{0D108BD9-81ED-4DB2-BD59-A6C34878D82A}">
                        <a16:rowId xmlns:a16="http://schemas.microsoft.com/office/drawing/2014/main" val="1181053492"/>
                      </a:ext>
                    </a:extLst>
                  </a:tr>
                  <a:tr h="467068">
                    <a:tc>
                      <a:txBody>
                        <a:bodyPr/>
                        <a:lstStyle/>
                        <a:p>
                          <a:pPr>
                            <a:buNone/>
                          </a:pPr>
                          <a:endParaRPr lang="el-GR" sz="1200" dirty="0"/>
                        </a:p>
                      </a:txBody>
                      <a:tcPr anchor="ctr"/>
                    </a:tc>
                    <a:tc>
                      <a:txBody>
                        <a:bodyPr/>
                        <a:lstStyle/>
                        <a:p>
                          <a:endParaRPr lang="el-GR"/>
                        </a:p>
                      </a:txBody>
                      <a:tcPr anchor="ctr">
                        <a:blipFill>
                          <a:blip r:embed="rId2"/>
                          <a:stretch>
                            <a:fillRect l="-126277" t="-1016883" r="-317518" b="-206494"/>
                          </a:stretch>
                        </a:blipFill>
                      </a:tcPr>
                    </a:tc>
                    <a:tc>
                      <a:txBody>
                        <a:bodyPr/>
                        <a:lstStyle/>
                        <a:p>
                          <a:pPr>
                            <a:buNone/>
                          </a:pPr>
                          <a:r>
                            <a:rPr lang="el-GR" sz="1200" dirty="0" err="1"/>
                            <a:t>delta_btes</a:t>
                          </a:r>
                          <a:r>
                            <a:rPr lang="el-GR" sz="1200" dirty="0"/>
                            <a:t>[i]</a:t>
                          </a:r>
                        </a:p>
                      </a:txBody>
                      <a:tcPr anchor="ctr"/>
                    </a:tc>
                    <a:tc>
                      <a:txBody>
                        <a:bodyPr/>
                        <a:lstStyle/>
                        <a:p>
                          <a:pPr>
                            <a:buNone/>
                          </a:pPr>
                          <a:r>
                            <a:rPr lang="el-GR" sz="1200" dirty="0"/>
                            <a:t>BTES </a:t>
                          </a:r>
                          <a:r>
                            <a:rPr lang="el-GR" sz="1200" dirty="0" err="1"/>
                            <a:t>design-option</a:t>
                          </a:r>
                          <a:endParaRPr lang="el-GR" sz="1200" dirty="0"/>
                        </a:p>
                      </a:txBody>
                      <a:tcPr anchor="ctr"/>
                    </a:tc>
                    <a:extLst>
                      <a:ext uri="{0D108BD9-81ED-4DB2-BD59-A6C34878D82A}">
                        <a16:rowId xmlns:a16="http://schemas.microsoft.com/office/drawing/2014/main" val="1513031162"/>
                      </a:ext>
                    </a:extLst>
                  </a:tr>
                  <a:tr h="467068">
                    <a:tc>
                      <a:txBody>
                        <a:bodyPr/>
                        <a:lstStyle/>
                        <a:p>
                          <a:pPr>
                            <a:buNone/>
                          </a:pPr>
                          <a:r>
                            <a:rPr lang="el-GR" sz="1200" b="1" dirty="0" err="1"/>
                            <a:t>Electricity</a:t>
                          </a:r>
                          <a:endParaRPr lang="el-GR" sz="1200" dirty="0"/>
                        </a:p>
                      </a:txBody>
                      <a:tcPr anchor="ctr"/>
                    </a:tc>
                    <a:tc>
                      <a:txBody>
                        <a:bodyPr/>
                        <a:lstStyle/>
                        <a:p>
                          <a:endParaRPr lang="el-GR"/>
                        </a:p>
                      </a:txBody>
                      <a:tcPr anchor="ctr">
                        <a:blipFill>
                          <a:blip r:embed="rId2"/>
                          <a:stretch>
                            <a:fillRect l="-126277" t="-1131579" r="-317518" b="-109211"/>
                          </a:stretch>
                        </a:blipFill>
                      </a:tcPr>
                    </a:tc>
                    <a:tc>
                      <a:txBody>
                        <a:bodyPr/>
                        <a:lstStyle/>
                        <a:p>
                          <a:pPr>
                            <a:buNone/>
                          </a:pPr>
                          <a:r>
                            <a:rPr lang="el-GR" sz="1200"/>
                            <a:t>P_import[t]</a:t>
                          </a:r>
                        </a:p>
                      </a:txBody>
                      <a:tcPr anchor="ctr"/>
                    </a:tc>
                    <a:tc>
                      <a:txBody>
                        <a:bodyPr/>
                        <a:lstStyle/>
                        <a:p>
                          <a:pPr>
                            <a:buNone/>
                          </a:pPr>
                          <a:r>
                            <a:rPr lang="en-US" sz="1200" dirty="0"/>
                            <a:t>E</a:t>
                          </a:r>
                          <a:r>
                            <a:rPr lang="el-GR" sz="1200" dirty="0" err="1"/>
                            <a:t>lectricity</a:t>
                          </a:r>
                          <a:r>
                            <a:rPr lang="el-GR" sz="1200" dirty="0"/>
                            <a:t> </a:t>
                          </a:r>
                          <a:r>
                            <a:rPr lang="el-GR" sz="1200" dirty="0" err="1"/>
                            <a:t>imported</a:t>
                          </a:r>
                          <a:endParaRPr lang="el-GR" sz="1200" dirty="0"/>
                        </a:p>
                      </a:txBody>
                      <a:tcPr anchor="ctr"/>
                    </a:tc>
                    <a:extLst>
                      <a:ext uri="{0D108BD9-81ED-4DB2-BD59-A6C34878D82A}">
                        <a16:rowId xmlns:a16="http://schemas.microsoft.com/office/drawing/2014/main" val="2490885950"/>
                      </a:ext>
                    </a:extLst>
                  </a:tr>
                  <a:tr h="467068">
                    <a:tc>
                      <a:txBody>
                        <a:bodyPr/>
                        <a:lstStyle/>
                        <a:p>
                          <a:pPr>
                            <a:buNone/>
                          </a:pPr>
                          <a:r>
                            <a:rPr lang="el-GR" sz="1200" b="1" dirty="0" err="1"/>
                            <a:t>Natural</a:t>
                          </a:r>
                          <a:r>
                            <a:rPr lang="el-GR" sz="1200" b="1" dirty="0"/>
                            <a:t> </a:t>
                          </a:r>
                          <a:r>
                            <a:rPr lang="el-GR" sz="1200" b="1" dirty="0" err="1"/>
                            <a:t>Gas</a:t>
                          </a:r>
                          <a:endParaRPr lang="el-GR" sz="1200" dirty="0"/>
                        </a:p>
                      </a:txBody>
                      <a:tcPr anchor="ctr"/>
                    </a:tc>
                    <a:tc>
                      <a:txBody>
                        <a:bodyPr/>
                        <a:lstStyle/>
                        <a:p>
                          <a:endParaRPr lang="el-GR"/>
                        </a:p>
                      </a:txBody>
                      <a:tcPr anchor="ctr">
                        <a:blipFill>
                          <a:blip r:embed="rId2"/>
                          <a:stretch>
                            <a:fillRect l="-126277" t="-1215584" r="-317518" b="-7792"/>
                          </a:stretch>
                        </a:blipFill>
                      </a:tcPr>
                    </a:tc>
                    <a:tc>
                      <a:txBody>
                        <a:bodyPr/>
                        <a:lstStyle/>
                        <a:p>
                          <a:pPr>
                            <a:buNone/>
                          </a:pPr>
                          <a:r>
                            <a:rPr lang="el-GR" sz="1200" dirty="0" err="1"/>
                            <a:t>G_import</a:t>
                          </a:r>
                          <a:r>
                            <a:rPr lang="el-GR" sz="1200" dirty="0"/>
                            <a:t>[t]</a:t>
                          </a:r>
                        </a:p>
                      </a:txBody>
                      <a:tcPr anchor="ctr"/>
                    </a:tc>
                    <a:tc>
                      <a:txBody>
                        <a:bodyPr/>
                        <a:lstStyle/>
                        <a:p>
                          <a:pPr>
                            <a:buNone/>
                          </a:pPr>
                          <a:r>
                            <a:rPr lang="en-US" sz="1200" dirty="0"/>
                            <a:t>N</a:t>
                          </a:r>
                          <a:r>
                            <a:rPr lang="el-GR" sz="1200" dirty="0" err="1"/>
                            <a:t>atural-gas</a:t>
                          </a:r>
                          <a:r>
                            <a:rPr lang="el-GR" sz="1200" dirty="0"/>
                            <a:t> </a:t>
                          </a:r>
                          <a:r>
                            <a:rPr lang="el-GR" sz="1200" dirty="0" err="1"/>
                            <a:t>import</a:t>
                          </a:r>
                          <a:endParaRPr lang="el-GR" sz="1200" dirty="0"/>
                        </a:p>
                      </a:txBody>
                      <a:tcPr anchor="ctr"/>
                    </a:tc>
                    <a:extLst>
                      <a:ext uri="{0D108BD9-81ED-4DB2-BD59-A6C34878D82A}">
                        <a16:rowId xmlns:a16="http://schemas.microsoft.com/office/drawing/2014/main" val="605033985"/>
                      </a:ext>
                    </a:extLst>
                  </a:tr>
                </a:tbl>
              </a:graphicData>
            </a:graphic>
          </p:graphicFrame>
        </mc:Fallback>
      </mc:AlternateContent>
      <p:sp>
        <p:nvSpPr>
          <p:cNvPr id="4" name="Slide Number Placeholder 3">
            <a:extLst>
              <a:ext uri="{FF2B5EF4-FFF2-40B4-BE49-F238E27FC236}">
                <a16:creationId xmlns:a16="http://schemas.microsoft.com/office/drawing/2014/main" id="{71B0A933-D9FC-D480-C0B3-981F8F65E823}"/>
              </a:ext>
            </a:extLst>
          </p:cNvPr>
          <p:cNvSpPr>
            <a:spLocks noGrp="1"/>
          </p:cNvSpPr>
          <p:nvPr>
            <p:ph type="sldNum" sz="quarter" idx="4"/>
          </p:nvPr>
        </p:nvSpPr>
        <p:spPr/>
        <p:txBody>
          <a:bodyPr/>
          <a:lstStyle/>
          <a:p>
            <a:fld id="{CC7E3F2E-5E17-4E15-9E32-D4A7BBAEA187}" type="slidenum">
              <a:rPr lang="el-GR" smtClean="0"/>
              <a:t>31</a:t>
            </a:fld>
            <a:endParaRPr lang="el-GR" dirty="0"/>
          </a:p>
        </p:txBody>
      </p:sp>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A1D85A46-1885-8C06-4789-E91FA6E564FE}"/>
                  </a:ext>
                </a:extLst>
              </p:cNvPr>
              <p:cNvGraphicFramePr>
                <a:graphicFrameLocks noGrp="1"/>
              </p:cNvGraphicFramePr>
              <p:nvPr>
                <p:extLst>
                  <p:ext uri="{D42A27DB-BD31-4B8C-83A1-F6EECF244321}">
                    <p14:modId xmlns:p14="http://schemas.microsoft.com/office/powerpoint/2010/main" val="1762814992"/>
                  </p:ext>
                </p:extLst>
              </p:nvPr>
            </p:nvGraphicFramePr>
            <p:xfrm>
              <a:off x="4525144" y="691709"/>
              <a:ext cx="4618856" cy="6165297"/>
            </p:xfrm>
            <a:graphic>
              <a:graphicData uri="http://schemas.openxmlformats.org/drawingml/2006/table">
                <a:tbl>
                  <a:tblPr firstRow="1" bandRow="1">
                    <a:tableStyleId>{00A15C55-8517-42AA-B614-E9B94910E393}</a:tableStyleId>
                  </a:tblPr>
                  <a:tblGrid>
                    <a:gridCol w="1154714">
                      <a:extLst>
                        <a:ext uri="{9D8B030D-6E8A-4147-A177-3AD203B41FA5}">
                          <a16:colId xmlns:a16="http://schemas.microsoft.com/office/drawing/2014/main" val="1813454470"/>
                        </a:ext>
                      </a:extLst>
                    </a:gridCol>
                    <a:gridCol w="886591">
                      <a:extLst>
                        <a:ext uri="{9D8B030D-6E8A-4147-A177-3AD203B41FA5}">
                          <a16:colId xmlns:a16="http://schemas.microsoft.com/office/drawing/2014/main" val="1616688042"/>
                        </a:ext>
                      </a:extLst>
                    </a:gridCol>
                    <a:gridCol w="1422837">
                      <a:extLst>
                        <a:ext uri="{9D8B030D-6E8A-4147-A177-3AD203B41FA5}">
                          <a16:colId xmlns:a16="http://schemas.microsoft.com/office/drawing/2014/main" val="1605297613"/>
                        </a:ext>
                      </a:extLst>
                    </a:gridCol>
                    <a:gridCol w="1154714">
                      <a:extLst>
                        <a:ext uri="{9D8B030D-6E8A-4147-A177-3AD203B41FA5}">
                          <a16:colId xmlns:a16="http://schemas.microsoft.com/office/drawing/2014/main" val="2072494348"/>
                        </a:ext>
                      </a:extLst>
                    </a:gridCol>
                  </a:tblGrid>
                  <a:tr h="458249">
                    <a:tc>
                      <a:txBody>
                        <a:bodyPr/>
                        <a:lstStyle/>
                        <a:p>
                          <a:pPr>
                            <a:buNone/>
                          </a:pPr>
                          <a:r>
                            <a:rPr lang="el-GR" sz="1200" dirty="0" err="1"/>
                            <a:t>Technology</a:t>
                          </a:r>
                          <a:endParaRPr lang="el-GR" sz="1200" dirty="0"/>
                        </a:p>
                      </a:txBody>
                      <a:tcPr anchor="ctr"/>
                    </a:tc>
                    <a:tc>
                      <a:txBody>
                        <a:bodyPr/>
                        <a:lstStyle/>
                        <a:p>
                          <a:pPr>
                            <a:buNone/>
                          </a:pPr>
                          <a:r>
                            <a:rPr lang="el-GR" sz="1200" dirty="0" err="1"/>
                            <a:t>Decision</a:t>
                          </a:r>
                          <a:r>
                            <a:rPr lang="el-GR" sz="1200" dirty="0"/>
                            <a:t> </a:t>
                          </a:r>
                          <a:r>
                            <a:rPr lang="el-GR" sz="1200" dirty="0" err="1"/>
                            <a:t>variable</a:t>
                          </a:r>
                          <a:endParaRPr lang="el-GR" sz="1200" dirty="0"/>
                        </a:p>
                      </a:txBody>
                      <a:tcPr anchor="ctr"/>
                    </a:tc>
                    <a:tc>
                      <a:txBody>
                        <a:bodyPr/>
                        <a:lstStyle/>
                        <a:p>
                          <a:pPr>
                            <a:buNone/>
                          </a:pPr>
                          <a:r>
                            <a:rPr lang="el-GR" sz="1200"/>
                            <a:t>Code name</a:t>
                          </a:r>
                        </a:p>
                      </a:txBody>
                      <a:tcPr anchor="ctr"/>
                    </a:tc>
                    <a:tc>
                      <a:txBody>
                        <a:bodyPr/>
                        <a:lstStyle/>
                        <a:p>
                          <a:pPr>
                            <a:buNone/>
                          </a:pPr>
                          <a:r>
                            <a:rPr lang="en-US" sz="1200" dirty="0"/>
                            <a:t>M</a:t>
                          </a:r>
                          <a:r>
                            <a:rPr lang="el-GR" sz="1200" dirty="0" err="1"/>
                            <a:t>eaning</a:t>
                          </a:r>
                          <a:endParaRPr lang="el-GR" sz="1200" dirty="0"/>
                        </a:p>
                      </a:txBody>
                      <a:tcPr anchor="ctr"/>
                    </a:tc>
                    <a:extLst>
                      <a:ext uri="{0D108BD9-81ED-4DB2-BD59-A6C34878D82A}">
                        <a16:rowId xmlns:a16="http://schemas.microsoft.com/office/drawing/2014/main" val="1953420639"/>
                      </a:ext>
                    </a:extLst>
                  </a:tr>
                  <a:tr h="458249">
                    <a:tc>
                      <a:txBody>
                        <a:bodyPr/>
                        <a:lstStyle/>
                        <a:p>
                          <a:pPr>
                            <a:buNone/>
                          </a:pPr>
                          <a:r>
                            <a:rPr lang="el-GR" sz="1200" b="1" dirty="0"/>
                            <a:t>BTES H</a:t>
                          </a:r>
                          <a:r>
                            <a:rPr lang="en-US" sz="1200" b="1" dirty="0"/>
                            <a:t>P</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𝑄</m:t>
                                    </m:r>
                                  </m:e>
                                  <m:sub>
                                    <m:r>
                                      <a:rPr lang="el-GR" sz="1200">
                                        <a:latin typeface="Cambria Math" panose="02040503050406030204" pitchFamily="18" charset="0"/>
                                      </a:rPr>
                                      <m:t>𝑡</m:t>
                                    </m:r>
                                  </m:sub>
                                  <m:sup>
                                    <m:r>
                                      <a:rPr lang="el-GR" sz="1200">
                                        <a:latin typeface="Cambria Math" panose="02040503050406030204" pitchFamily="18" charset="0"/>
                                      </a:rPr>
                                      <m:t>𝐻𝑃</m:t>
                                    </m:r>
                                  </m:sup>
                                </m:sSubSup>
                              </m:oMath>
                            </m:oMathPara>
                          </a14:m>
                          <a:endParaRPr lang="el-GR" sz="1200" dirty="0"/>
                        </a:p>
                      </a:txBody>
                      <a:tcPr anchor="ctr"/>
                    </a:tc>
                    <a:tc>
                      <a:txBody>
                        <a:bodyPr/>
                        <a:lstStyle/>
                        <a:p>
                          <a:pPr>
                            <a:buNone/>
                          </a:pPr>
                          <a:r>
                            <a:rPr lang="el-GR" sz="1200" dirty="0" err="1"/>
                            <a:t>Q_hp_btes</a:t>
                          </a:r>
                          <a:r>
                            <a:rPr lang="el-GR" sz="1200" dirty="0"/>
                            <a:t>[t]</a:t>
                          </a:r>
                        </a:p>
                      </a:txBody>
                      <a:tcPr anchor="ctr"/>
                    </a:tc>
                    <a:tc>
                      <a:txBody>
                        <a:bodyPr/>
                        <a:lstStyle/>
                        <a:p>
                          <a:pPr>
                            <a:buNone/>
                          </a:pPr>
                          <a:r>
                            <a:rPr lang="en-US" sz="1200" dirty="0"/>
                            <a:t>H</a:t>
                          </a:r>
                          <a:r>
                            <a:rPr lang="el-GR" sz="1200" dirty="0" err="1"/>
                            <a:t>eating</a:t>
                          </a:r>
                          <a:r>
                            <a:rPr lang="el-GR" sz="1200" dirty="0"/>
                            <a:t> </a:t>
                          </a:r>
                          <a:r>
                            <a:rPr lang="el-GR" sz="1200" dirty="0" err="1"/>
                            <a:t>output</a:t>
                          </a:r>
                          <a:endParaRPr lang="el-GR" sz="1200" dirty="0"/>
                        </a:p>
                      </a:txBody>
                      <a:tcPr anchor="ctr"/>
                    </a:tc>
                    <a:extLst>
                      <a:ext uri="{0D108BD9-81ED-4DB2-BD59-A6C34878D82A}">
                        <a16:rowId xmlns:a16="http://schemas.microsoft.com/office/drawing/2014/main" val="1841832733"/>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𝑃</m:t>
                                    </m:r>
                                  </m:e>
                                  <m:sub>
                                    <m:r>
                                      <a:rPr lang="el-GR" sz="1200">
                                        <a:latin typeface="Cambria Math" panose="02040503050406030204" pitchFamily="18" charset="0"/>
                                      </a:rPr>
                                      <m:t>𝑡</m:t>
                                    </m:r>
                                  </m:sub>
                                  <m:sup>
                                    <m:r>
                                      <a:rPr lang="el-GR" sz="1200">
                                        <a:latin typeface="Cambria Math" panose="02040503050406030204" pitchFamily="18" charset="0"/>
                                      </a:rPr>
                                      <m:t>𝐻𝑃</m:t>
                                    </m:r>
                                  </m:sup>
                                </m:sSubSup>
                              </m:oMath>
                            </m:oMathPara>
                          </a14:m>
                          <a:endParaRPr lang="el-GR" sz="1200" dirty="0"/>
                        </a:p>
                      </a:txBody>
                      <a:tcPr anchor="ctr"/>
                    </a:tc>
                    <a:tc>
                      <a:txBody>
                        <a:bodyPr/>
                        <a:lstStyle/>
                        <a:p>
                          <a:pPr>
                            <a:buNone/>
                          </a:pPr>
                          <a:r>
                            <a:rPr lang="el-GR" sz="1200"/>
                            <a:t>P_hp_btes[t]</a:t>
                          </a:r>
                        </a:p>
                      </a:txBody>
                      <a:tcPr anchor="ctr"/>
                    </a:tc>
                    <a:tc>
                      <a:txBody>
                        <a:bodyPr/>
                        <a:lstStyle/>
                        <a:p>
                          <a:pPr>
                            <a:buNone/>
                          </a:pPr>
                          <a:r>
                            <a:rPr lang="en-US" sz="1200" dirty="0"/>
                            <a:t>E</a:t>
                          </a:r>
                          <a:r>
                            <a:rPr lang="el-GR" sz="1200" dirty="0" err="1"/>
                            <a:t>lectrical</a:t>
                          </a:r>
                          <a:r>
                            <a:rPr lang="el-GR" sz="1200" dirty="0"/>
                            <a:t> </a:t>
                          </a:r>
                          <a:r>
                            <a:rPr lang="el-GR" sz="1200" dirty="0" err="1"/>
                            <a:t>consumption</a:t>
                          </a:r>
                          <a:endParaRPr lang="el-GR" sz="1200" dirty="0"/>
                        </a:p>
                      </a:txBody>
                      <a:tcPr anchor="ctr"/>
                    </a:tc>
                    <a:extLst>
                      <a:ext uri="{0D108BD9-81ED-4DB2-BD59-A6C34878D82A}">
                        <a16:rowId xmlns:a16="http://schemas.microsoft.com/office/drawing/2014/main" val="4101023295"/>
                      </a:ext>
                    </a:extLst>
                  </a:tr>
                  <a:tr h="298308">
                    <a:tc>
                      <a:txBody>
                        <a:bodyPr/>
                        <a:lstStyle/>
                        <a:p>
                          <a:pPr>
                            <a:buNone/>
                          </a:pPr>
                          <a:endParaRPr lang="el-GR" sz="1200" dirty="0"/>
                        </a:p>
                      </a:txBody>
                      <a:tcPr anchor="ctr"/>
                    </a:tc>
                    <a:tc>
                      <a:txBody>
                        <a:bodyPr/>
                        <a:lstStyle/>
                        <a:p>
                          <a:pPr>
                            <a:buNone/>
                          </a:pPr>
                          <a14:m>
                            <m:oMathPara xmlns:m="http://schemas.openxmlformats.org/officeDocument/2006/math">
                              <m:oMath>
                                <m:r>
                                  <a:rPr lang="el-GR" sz="1200">
                                    <a:latin typeface="Cambria Math" panose="02040503050406030204" pitchFamily="18" charset="0"/>
                                  </a:rPr>
                                  <m:t>𝐶𝑂</m:t>
                                </m:r>
                                <m:sSubSup>
                                  <m:sSubSupPr>
                                    <m:ctrlPr>
                                      <a:rPr lang="el-GR" sz="1200">
                                        <a:latin typeface="Cambria Math" panose="02040503050406030204" pitchFamily="18" charset="0"/>
                                      </a:rPr>
                                    </m:ctrlPr>
                                  </m:sSubSupPr>
                                  <m:e>
                                    <m:r>
                                      <a:rPr lang="el-GR" sz="1200">
                                        <a:latin typeface="Cambria Math" panose="02040503050406030204" pitchFamily="18" charset="0"/>
                                      </a:rPr>
                                      <m:t>𝑃</m:t>
                                    </m:r>
                                  </m:e>
                                  <m:sub>
                                    <m:r>
                                      <a:rPr lang="el-GR" sz="1200">
                                        <a:latin typeface="Cambria Math" panose="02040503050406030204" pitchFamily="18" charset="0"/>
                                      </a:rPr>
                                      <m:t>𝑡</m:t>
                                    </m:r>
                                  </m:sub>
                                  <m:sup>
                                    <m:r>
                                      <a:rPr lang="el-GR" sz="1200">
                                        <a:latin typeface="Cambria Math" panose="02040503050406030204" pitchFamily="18" charset="0"/>
                                      </a:rPr>
                                      <m:t>𝐻𝑃</m:t>
                                    </m:r>
                                    <m:r>
                                      <a:rPr lang="el-GR" sz="1200">
                                        <a:latin typeface="Cambria Math" panose="02040503050406030204" pitchFamily="18" charset="0"/>
                                      </a:rPr>
                                      <m:t>,−1</m:t>
                                    </m:r>
                                  </m:sup>
                                </m:sSubSup>
                              </m:oMath>
                            </m:oMathPara>
                          </a14:m>
                          <a:endParaRPr lang="el-GR" sz="1200"/>
                        </a:p>
                      </a:txBody>
                      <a:tcPr anchor="ctr"/>
                    </a:tc>
                    <a:tc>
                      <a:txBody>
                        <a:bodyPr/>
                        <a:lstStyle/>
                        <a:p>
                          <a:pPr>
                            <a:buNone/>
                          </a:pPr>
                          <a:r>
                            <a:rPr lang="el-GR" sz="1200" dirty="0" err="1"/>
                            <a:t>invCOP_hp_btes</a:t>
                          </a:r>
                          <a:r>
                            <a:rPr lang="el-GR" sz="1200" dirty="0"/>
                            <a:t>[t]</a:t>
                          </a:r>
                        </a:p>
                      </a:txBody>
                      <a:tcPr anchor="ctr"/>
                    </a:tc>
                    <a:tc>
                      <a:txBody>
                        <a:bodyPr/>
                        <a:lstStyle/>
                        <a:p>
                          <a:pPr>
                            <a:buNone/>
                          </a:pPr>
                          <a:r>
                            <a:rPr lang="en-US" sz="1200" dirty="0"/>
                            <a:t>I</a:t>
                          </a:r>
                          <a:r>
                            <a:rPr lang="el-GR" sz="1200" dirty="0" err="1"/>
                            <a:t>nverse</a:t>
                          </a:r>
                          <a:r>
                            <a:rPr lang="el-GR" sz="1200" dirty="0"/>
                            <a:t> COP</a:t>
                          </a:r>
                        </a:p>
                      </a:txBody>
                      <a:tcPr anchor="ctr"/>
                    </a:tc>
                    <a:extLst>
                      <a:ext uri="{0D108BD9-81ED-4DB2-BD59-A6C34878D82A}">
                        <a16:rowId xmlns:a16="http://schemas.microsoft.com/office/drawing/2014/main" val="2060914715"/>
                      </a:ext>
                    </a:extLst>
                  </a:tr>
                  <a:tr h="274950">
                    <a:tc>
                      <a:txBody>
                        <a:bodyPr/>
                        <a:lstStyle/>
                        <a:p>
                          <a:pPr>
                            <a:buNone/>
                          </a:pPr>
                          <a:endParaRPr lang="el-GR" sz="1200" dirty="0"/>
                        </a:p>
                      </a:txBody>
                      <a:tcPr anchor="ctr"/>
                    </a:tc>
                    <a:tc>
                      <a:txBody>
                        <a:bodyPr/>
                        <a:lstStyle/>
                        <a:p>
                          <a:pPr>
                            <a:buNone/>
                          </a:pPr>
                          <a14:m>
                            <m:oMathPara xmlns:m="http://schemas.openxmlformats.org/officeDocument/2006/math">
                              <m:oMath>
                                <m:sSup>
                                  <m:sSupPr>
                                    <m:ctrlPr>
                                      <a:rPr lang="el-GR" sz="1200">
                                        <a:latin typeface="Cambria Math" panose="02040503050406030204" pitchFamily="18" charset="0"/>
                                      </a:rPr>
                                    </m:ctrlPr>
                                  </m:sSupPr>
                                  <m:e>
                                    <m:r>
                                      <a:rPr lang="el-GR" sz="1200">
                                        <a:latin typeface="Cambria Math" panose="02040503050406030204" pitchFamily="18" charset="0"/>
                                      </a:rPr>
                                      <m:t>𝑆</m:t>
                                    </m:r>
                                  </m:e>
                                  <m:sup>
                                    <m:r>
                                      <a:rPr lang="el-GR" sz="1200">
                                        <a:latin typeface="Cambria Math" panose="02040503050406030204" pitchFamily="18" charset="0"/>
                                      </a:rPr>
                                      <m:t>𝐻𝑃</m:t>
                                    </m:r>
                                  </m:sup>
                                </m:sSup>
                              </m:oMath>
                            </m:oMathPara>
                          </a14:m>
                          <a:endParaRPr lang="el-GR" sz="1200"/>
                        </a:p>
                      </a:txBody>
                      <a:tcPr anchor="ctr"/>
                    </a:tc>
                    <a:tc>
                      <a:txBody>
                        <a:bodyPr/>
                        <a:lstStyle/>
                        <a:p>
                          <a:pPr>
                            <a:buNone/>
                          </a:pPr>
                          <a:r>
                            <a:rPr lang="el-GR" sz="1200"/>
                            <a:t>S_hp_btes</a:t>
                          </a:r>
                        </a:p>
                      </a:txBody>
                      <a:tcPr anchor="ctr"/>
                    </a:tc>
                    <a:tc>
                      <a:txBody>
                        <a:bodyPr/>
                        <a:lstStyle/>
                        <a:p>
                          <a:pPr>
                            <a:buNone/>
                          </a:pPr>
                          <a:r>
                            <a:rPr lang="el-GR" sz="1200" dirty="0"/>
                            <a:t>HP </a:t>
                          </a:r>
                          <a:r>
                            <a:rPr lang="el-GR" sz="1200" dirty="0" err="1"/>
                            <a:t>capacity</a:t>
                          </a:r>
                          <a:endParaRPr lang="el-GR" sz="1200" dirty="0"/>
                        </a:p>
                      </a:txBody>
                      <a:tcPr anchor="ctr"/>
                    </a:tc>
                    <a:extLst>
                      <a:ext uri="{0D108BD9-81ED-4DB2-BD59-A6C34878D82A}">
                        <a16:rowId xmlns:a16="http://schemas.microsoft.com/office/drawing/2014/main" val="2904513323"/>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b>
                                  <m:sSubPr>
                                    <m:ctrlPr>
                                      <a:rPr lang="el-GR" sz="1200">
                                        <a:latin typeface="Cambria Math" panose="02040503050406030204" pitchFamily="18" charset="0"/>
                                      </a:rPr>
                                    </m:ctrlPr>
                                  </m:sSubPr>
                                  <m:e>
                                    <m:r>
                                      <a:rPr lang="el-GR" sz="1200">
                                        <a:latin typeface="Cambria Math" panose="02040503050406030204" pitchFamily="18" charset="0"/>
                                      </a:rPr>
                                      <m:t>𝑇</m:t>
                                    </m:r>
                                  </m:e>
                                  <m:sub>
                                    <m:r>
                                      <a:rPr lang="el-GR" sz="1200">
                                        <a:latin typeface="Cambria Math" panose="02040503050406030204" pitchFamily="18" charset="0"/>
                                      </a:rPr>
                                      <m:t>𝑒𝑣𝑎𝑝</m:t>
                                    </m:r>
                                    <m:r>
                                      <a:rPr lang="el-GR" sz="1200">
                                        <a:latin typeface="Cambria Math" panose="02040503050406030204" pitchFamily="18" charset="0"/>
                                      </a:rPr>
                                      <m:t>,</m:t>
                                    </m:r>
                                    <m:r>
                                      <a:rPr lang="el-GR" sz="1200">
                                        <a:latin typeface="Cambria Math" panose="02040503050406030204" pitchFamily="18" charset="0"/>
                                      </a:rPr>
                                      <m:t>𝑡</m:t>
                                    </m:r>
                                  </m:sub>
                                </m:sSub>
                              </m:oMath>
                            </m:oMathPara>
                          </a14:m>
                          <a:endParaRPr lang="el-GR" sz="1200"/>
                        </a:p>
                      </a:txBody>
                      <a:tcPr anchor="ctr"/>
                    </a:tc>
                    <a:tc>
                      <a:txBody>
                        <a:bodyPr/>
                        <a:lstStyle/>
                        <a:p>
                          <a:pPr>
                            <a:buNone/>
                          </a:pPr>
                          <a:r>
                            <a:rPr lang="el-GR" sz="1200"/>
                            <a:t>T_evap_hp[t]</a:t>
                          </a:r>
                        </a:p>
                      </a:txBody>
                      <a:tcPr anchor="ctr"/>
                    </a:tc>
                    <a:tc>
                      <a:txBody>
                        <a:bodyPr/>
                        <a:lstStyle/>
                        <a:p>
                          <a:pPr>
                            <a:buNone/>
                          </a:pPr>
                          <a:r>
                            <a:rPr lang="en-US" sz="1200" dirty="0"/>
                            <a:t>E</a:t>
                          </a:r>
                          <a:r>
                            <a:rPr lang="el-GR" sz="1200" dirty="0" err="1"/>
                            <a:t>vaporator</a:t>
                          </a:r>
                          <a:r>
                            <a:rPr lang="el-GR" sz="1200" dirty="0"/>
                            <a:t> </a:t>
                          </a:r>
                          <a:r>
                            <a:rPr lang="el-GR" sz="1200" dirty="0" err="1"/>
                            <a:t>temperature</a:t>
                          </a:r>
                          <a:endParaRPr lang="el-GR" sz="1200" dirty="0"/>
                        </a:p>
                      </a:txBody>
                      <a:tcPr anchor="ctr"/>
                    </a:tc>
                    <a:extLst>
                      <a:ext uri="{0D108BD9-81ED-4DB2-BD59-A6C34878D82A}">
                        <a16:rowId xmlns:a16="http://schemas.microsoft.com/office/drawing/2014/main" val="3632889286"/>
                      </a:ext>
                    </a:extLst>
                  </a:tr>
                  <a:tr h="458249">
                    <a:tc>
                      <a:txBody>
                        <a:bodyPr/>
                        <a:lstStyle/>
                        <a:p>
                          <a:pPr>
                            <a:buNone/>
                          </a:pPr>
                          <a:r>
                            <a:rPr lang="el-GR" sz="1200" b="1" dirty="0"/>
                            <a:t>BTES </a:t>
                          </a:r>
                          <a:r>
                            <a:rPr lang="el-GR" sz="1200" b="1" dirty="0" err="1"/>
                            <a:t>Chiller</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𝑄</m:t>
                                    </m:r>
                                  </m:e>
                                  <m:sub>
                                    <m:r>
                                      <a:rPr lang="el-GR" sz="1200">
                                        <a:latin typeface="Cambria Math" panose="02040503050406030204" pitchFamily="18" charset="0"/>
                                      </a:rPr>
                                      <m:t>𝑡</m:t>
                                    </m:r>
                                  </m:sub>
                                  <m:sup>
                                    <m:r>
                                      <a:rPr lang="el-GR" sz="1200">
                                        <a:latin typeface="Cambria Math" panose="02040503050406030204" pitchFamily="18" charset="0"/>
                                      </a:rPr>
                                      <m:t>𝐶𝐻</m:t>
                                    </m:r>
                                  </m:sup>
                                </m:sSubSup>
                              </m:oMath>
                            </m:oMathPara>
                          </a14:m>
                          <a:endParaRPr lang="el-GR" sz="1200"/>
                        </a:p>
                      </a:txBody>
                      <a:tcPr anchor="ctr"/>
                    </a:tc>
                    <a:tc>
                      <a:txBody>
                        <a:bodyPr/>
                        <a:lstStyle/>
                        <a:p>
                          <a:pPr>
                            <a:buNone/>
                          </a:pPr>
                          <a:r>
                            <a:rPr lang="el-GR" sz="1200"/>
                            <a:t>Q_ch_btes[t]</a:t>
                          </a:r>
                        </a:p>
                      </a:txBody>
                      <a:tcPr anchor="ctr"/>
                    </a:tc>
                    <a:tc>
                      <a:txBody>
                        <a:bodyPr/>
                        <a:lstStyle/>
                        <a:p>
                          <a:pPr>
                            <a:buNone/>
                          </a:pPr>
                          <a:r>
                            <a:rPr lang="en-US" sz="1200" dirty="0"/>
                            <a:t>C</a:t>
                          </a:r>
                          <a:r>
                            <a:rPr lang="el-GR" sz="1200" dirty="0" err="1"/>
                            <a:t>ooling</a:t>
                          </a:r>
                          <a:r>
                            <a:rPr lang="el-GR" sz="1200" dirty="0"/>
                            <a:t> </a:t>
                          </a:r>
                          <a:r>
                            <a:rPr lang="el-GR" sz="1200" dirty="0" err="1"/>
                            <a:t>output</a:t>
                          </a:r>
                          <a:endParaRPr lang="el-GR" sz="1200" dirty="0"/>
                        </a:p>
                      </a:txBody>
                      <a:tcPr anchor="ctr"/>
                    </a:tc>
                    <a:extLst>
                      <a:ext uri="{0D108BD9-81ED-4DB2-BD59-A6C34878D82A}">
                        <a16:rowId xmlns:a16="http://schemas.microsoft.com/office/drawing/2014/main" val="3546614848"/>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𝑃</m:t>
                                    </m:r>
                                  </m:e>
                                  <m:sub>
                                    <m:r>
                                      <a:rPr lang="el-GR" sz="1200">
                                        <a:latin typeface="Cambria Math" panose="02040503050406030204" pitchFamily="18" charset="0"/>
                                      </a:rPr>
                                      <m:t>𝑡</m:t>
                                    </m:r>
                                  </m:sub>
                                  <m:sup>
                                    <m:r>
                                      <a:rPr lang="el-GR" sz="1200">
                                        <a:latin typeface="Cambria Math" panose="02040503050406030204" pitchFamily="18" charset="0"/>
                                      </a:rPr>
                                      <m:t>𝐶𝐻</m:t>
                                    </m:r>
                                  </m:sup>
                                </m:sSubSup>
                              </m:oMath>
                            </m:oMathPara>
                          </a14:m>
                          <a:endParaRPr lang="el-GR" sz="1200"/>
                        </a:p>
                      </a:txBody>
                      <a:tcPr anchor="ctr"/>
                    </a:tc>
                    <a:tc>
                      <a:txBody>
                        <a:bodyPr/>
                        <a:lstStyle/>
                        <a:p>
                          <a:pPr>
                            <a:buNone/>
                          </a:pPr>
                          <a:r>
                            <a:rPr lang="el-GR" sz="1200"/>
                            <a:t>P_ch_btes[t]</a:t>
                          </a:r>
                        </a:p>
                      </a:txBody>
                      <a:tcPr anchor="ctr"/>
                    </a:tc>
                    <a:tc>
                      <a:txBody>
                        <a:bodyPr/>
                        <a:lstStyle/>
                        <a:p>
                          <a:pPr>
                            <a:buNone/>
                          </a:pPr>
                          <a:r>
                            <a:rPr lang="en-US" sz="1200" dirty="0"/>
                            <a:t>E</a:t>
                          </a:r>
                          <a:r>
                            <a:rPr lang="el-GR" sz="1200" dirty="0" err="1"/>
                            <a:t>lectrical</a:t>
                          </a:r>
                          <a:r>
                            <a:rPr lang="el-GR" sz="1200" dirty="0"/>
                            <a:t> </a:t>
                          </a:r>
                          <a:r>
                            <a:rPr lang="el-GR" sz="1200" dirty="0" err="1"/>
                            <a:t>consumption</a:t>
                          </a:r>
                          <a:endParaRPr lang="el-GR" sz="1200" dirty="0"/>
                        </a:p>
                      </a:txBody>
                      <a:tcPr anchor="ctr"/>
                    </a:tc>
                    <a:extLst>
                      <a:ext uri="{0D108BD9-81ED-4DB2-BD59-A6C34878D82A}">
                        <a16:rowId xmlns:a16="http://schemas.microsoft.com/office/drawing/2014/main" val="3465182537"/>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p>
                                  <m:sSupPr>
                                    <m:ctrlPr>
                                      <a:rPr lang="el-GR" sz="1200">
                                        <a:latin typeface="Cambria Math" panose="02040503050406030204" pitchFamily="18" charset="0"/>
                                      </a:rPr>
                                    </m:ctrlPr>
                                  </m:sSupPr>
                                  <m:e>
                                    <m:r>
                                      <a:rPr lang="el-GR" sz="1200">
                                        <a:latin typeface="Cambria Math" panose="02040503050406030204" pitchFamily="18" charset="0"/>
                                      </a:rPr>
                                      <m:t>𝑆</m:t>
                                    </m:r>
                                  </m:e>
                                  <m:sup>
                                    <m:r>
                                      <a:rPr lang="el-GR" sz="1200">
                                        <a:latin typeface="Cambria Math" panose="02040503050406030204" pitchFamily="18" charset="0"/>
                                      </a:rPr>
                                      <m:t>𝐶𝐻</m:t>
                                    </m:r>
                                  </m:sup>
                                </m:sSup>
                              </m:oMath>
                            </m:oMathPara>
                          </a14:m>
                          <a:endParaRPr lang="el-GR" sz="1200"/>
                        </a:p>
                      </a:txBody>
                      <a:tcPr anchor="ctr"/>
                    </a:tc>
                    <a:tc>
                      <a:txBody>
                        <a:bodyPr/>
                        <a:lstStyle/>
                        <a:p>
                          <a:pPr>
                            <a:buNone/>
                          </a:pPr>
                          <a:r>
                            <a:rPr lang="el-GR" sz="1200"/>
                            <a:t>S_ch_btes</a:t>
                          </a:r>
                        </a:p>
                      </a:txBody>
                      <a:tcPr anchor="ctr"/>
                    </a:tc>
                    <a:tc>
                      <a:txBody>
                        <a:bodyPr/>
                        <a:lstStyle/>
                        <a:p>
                          <a:pPr>
                            <a:buNone/>
                          </a:pPr>
                          <a:r>
                            <a:rPr lang="en-US" sz="1200" dirty="0"/>
                            <a:t>C</a:t>
                          </a:r>
                          <a:r>
                            <a:rPr lang="el-GR" sz="1200" dirty="0" err="1"/>
                            <a:t>hiller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145937888"/>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b>
                                  <m:sSubPr>
                                    <m:ctrlPr>
                                      <a:rPr lang="el-GR" sz="1200">
                                        <a:latin typeface="Cambria Math" panose="02040503050406030204" pitchFamily="18" charset="0"/>
                                      </a:rPr>
                                    </m:ctrlPr>
                                  </m:sSubPr>
                                  <m:e>
                                    <m:r>
                                      <a:rPr lang="el-GR" sz="1200">
                                        <a:latin typeface="Cambria Math" panose="02040503050406030204" pitchFamily="18" charset="0"/>
                                      </a:rPr>
                                      <m:t>𝑇</m:t>
                                    </m:r>
                                  </m:e>
                                  <m:sub>
                                    <m:r>
                                      <a:rPr lang="el-GR" sz="1200">
                                        <a:latin typeface="Cambria Math" panose="02040503050406030204" pitchFamily="18" charset="0"/>
                                      </a:rPr>
                                      <m:t>𝑐𝑜𝑛𝑑</m:t>
                                    </m:r>
                                    <m:r>
                                      <a:rPr lang="el-GR" sz="1200">
                                        <a:latin typeface="Cambria Math" panose="02040503050406030204" pitchFamily="18" charset="0"/>
                                      </a:rPr>
                                      <m:t>,</m:t>
                                    </m:r>
                                    <m:r>
                                      <a:rPr lang="el-GR" sz="1200">
                                        <a:latin typeface="Cambria Math" panose="02040503050406030204" pitchFamily="18" charset="0"/>
                                      </a:rPr>
                                      <m:t>𝑡</m:t>
                                    </m:r>
                                  </m:sub>
                                </m:sSub>
                              </m:oMath>
                            </m:oMathPara>
                          </a14:m>
                          <a:endParaRPr lang="el-GR" sz="1200"/>
                        </a:p>
                      </a:txBody>
                      <a:tcPr anchor="ctr"/>
                    </a:tc>
                    <a:tc>
                      <a:txBody>
                        <a:bodyPr/>
                        <a:lstStyle/>
                        <a:p>
                          <a:pPr>
                            <a:buNone/>
                          </a:pPr>
                          <a:r>
                            <a:rPr lang="el-GR" sz="1200"/>
                            <a:t>T_cond_chiller[t]</a:t>
                          </a:r>
                        </a:p>
                      </a:txBody>
                      <a:tcPr anchor="ctr"/>
                    </a:tc>
                    <a:tc>
                      <a:txBody>
                        <a:bodyPr/>
                        <a:lstStyle/>
                        <a:p>
                          <a:pPr>
                            <a:buNone/>
                          </a:pPr>
                          <a:r>
                            <a:rPr lang="en-US" sz="1200" dirty="0"/>
                            <a:t>C</a:t>
                          </a:r>
                          <a:r>
                            <a:rPr lang="el-GR" sz="1200" dirty="0" err="1"/>
                            <a:t>ondenser</a:t>
                          </a:r>
                          <a:r>
                            <a:rPr lang="el-GR" sz="1200" dirty="0"/>
                            <a:t> </a:t>
                          </a:r>
                          <a:r>
                            <a:rPr lang="el-GR" sz="1200" dirty="0" err="1"/>
                            <a:t>temperature</a:t>
                          </a:r>
                          <a:endParaRPr lang="el-GR" sz="1200" dirty="0"/>
                        </a:p>
                      </a:txBody>
                      <a:tcPr anchor="ctr"/>
                    </a:tc>
                    <a:extLst>
                      <a:ext uri="{0D108BD9-81ED-4DB2-BD59-A6C34878D82A}">
                        <a16:rowId xmlns:a16="http://schemas.microsoft.com/office/drawing/2014/main" val="2587571087"/>
                      </a:ext>
                    </a:extLst>
                  </a:tr>
                  <a:tr h="458249">
                    <a:tc>
                      <a:txBody>
                        <a:bodyPr/>
                        <a:lstStyle/>
                        <a:p>
                          <a:pPr>
                            <a:buNone/>
                          </a:pPr>
                          <a:r>
                            <a:rPr lang="el-GR" sz="1200" b="1" dirty="0" err="1"/>
                            <a:t>Cooling</a:t>
                          </a:r>
                          <a:r>
                            <a:rPr lang="el-GR" sz="1200" b="1" dirty="0"/>
                            <a:t> </a:t>
                          </a:r>
                          <a:r>
                            <a:rPr lang="el-GR" sz="1200" b="1" dirty="0" err="1"/>
                            <a:t>Tower</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𝑄</m:t>
                                    </m:r>
                                  </m:e>
                                  <m:sub>
                                    <m:r>
                                      <a:rPr lang="el-GR" sz="1200">
                                        <a:latin typeface="Cambria Math" panose="02040503050406030204" pitchFamily="18" charset="0"/>
                                      </a:rPr>
                                      <m:t>𝑡</m:t>
                                    </m:r>
                                  </m:sub>
                                  <m:sup>
                                    <m:r>
                                      <a:rPr lang="el-GR" sz="1200">
                                        <a:latin typeface="Cambria Math" panose="02040503050406030204" pitchFamily="18" charset="0"/>
                                      </a:rPr>
                                      <m:t>𝐶𝑇</m:t>
                                    </m:r>
                                  </m:sup>
                                </m:sSubSup>
                              </m:oMath>
                            </m:oMathPara>
                          </a14:m>
                          <a:endParaRPr lang="el-GR" sz="1200"/>
                        </a:p>
                      </a:txBody>
                      <a:tcPr anchor="ctr"/>
                    </a:tc>
                    <a:tc>
                      <a:txBody>
                        <a:bodyPr/>
                        <a:lstStyle/>
                        <a:p>
                          <a:pPr>
                            <a:buNone/>
                          </a:pPr>
                          <a:r>
                            <a:rPr lang="el-GR" sz="1200"/>
                            <a:t>Q_cooling_tower[t]</a:t>
                          </a:r>
                        </a:p>
                      </a:txBody>
                      <a:tcPr anchor="ctr"/>
                    </a:tc>
                    <a:tc>
                      <a:txBody>
                        <a:bodyPr/>
                        <a:lstStyle/>
                        <a:p>
                          <a:pPr>
                            <a:buNone/>
                          </a:pPr>
                          <a:r>
                            <a:rPr lang="en-US" sz="1200" dirty="0"/>
                            <a:t>R</a:t>
                          </a:r>
                          <a:r>
                            <a:rPr lang="el-GR" sz="1200" dirty="0" err="1"/>
                            <a:t>ejected</a:t>
                          </a:r>
                          <a:r>
                            <a:rPr lang="el-GR" sz="1200" dirty="0"/>
                            <a:t> </a:t>
                          </a:r>
                          <a:r>
                            <a:rPr lang="el-GR" sz="1200" dirty="0" err="1"/>
                            <a:t>heat</a:t>
                          </a:r>
                          <a:endParaRPr lang="el-GR" sz="1200" dirty="0"/>
                        </a:p>
                      </a:txBody>
                      <a:tcPr anchor="ctr"/>
                    </a:tc>
                    <a:extLst>
                      <a:ext uri="{0D108BD9-81ED-4DB2-BD59-A6C34878D82A}">
                        <a16:rowId xmlns:a16="http://schemas.microsoft.com/office/drawing/2014/main" val="426018334"/>
                      </a:ext>
                    </a:extLst>
                  </a:tr>
                  <a:tr h="458249">
                    <a:tc>
                      <a:txBody>
                        <a:bodyPr/>
                        <a:lstStyle/>
                        <a:p>
                          <a:pPr>
                            <a:buNone/>
                          </a:pPr>
                          <a:endParaRPr lang="el-GR" sz="1200" dirty="0"/>
                        </a:p>
                      </a:txBody>
                      <a:tcPr anchor="ctr"/>
                    </a:tc>
                    <a:tc>
                      <a:txBody>
                        <a:bodyPr/>
                        <a:lstStyle/>
                        <a:p>
                          <a:pPr>
                            <a:buNone/>
                          </a:pPr>
                          <a14:m>
                            <m:oMathPara xmlns:m="http://schemas.openxmlformats.org/officeDocument/2006/math">
                              <m:oMath>
                                <m:sSup>
                                  <m:sSupPr>
                                    <m:ctrlPr>
                                      <a:rPr lang="el-GR" sz="1200">
                                        <a:latin typeface="Cambria Math" panose="02040503050406030204" pitchFamily="18" charset="0"/>
                                      </a:rPr>
                                    </m:ctrlPr>
                                  </m:sSupPr>
                                  <m:e>
                                    <m:r>
                                      <a:rPr lang="el-GR" sz="1200">
                                        <a:latin typeface="Cambria Math" panose="02040503050406030204" pitchFamily="18" charset="0"/>
                                      </a:rPr>
                                      <m:t>𝑆</m:t>
                                    </m:r>
                                  </m:e>
                                  <m:sup>
                                    <m:r>
                                      <a:rPr lang="el-GR" sz="1200">
                                        <a:latin typeface="Cambria Math" panose="02040503050406030204" pitchFamily="18" charset="0"/>
                                      </a:rPr>
                                      <m:t>𝐶𝑇</m:t>
                                    </m:r>
                                  </m:sup>
                                </m:sSup>
                              </m:oMath>
                            </m:oMathPara>
                          </a14:m>
                          <a:endParaRPr lang="el-GR" sz="1200"/>
                        </a:p>
                      </a:txBody>
                      <a:tcPr anchor="ctr"/>
                    </a:tc>
                    <a:tc>
                      <a:txBody>
                        <a:bodyPr/>
                        <a:lstStyle/>
                        <a:p>
                          <a:pPr>
                            <a:buNone/>
                          </a:pPr>
                          <a:r>
                            <a:rPr lang="el-GR" sz="1200"/>
                            <a:t>S_cooling_tower</a:t>
                          </a:r>
                        </a:p>
                      </a:txBody>
                      <a:tcPr anchor="ctr"/>
                    </a:tc>
                    <a:tc>
                      <a:txBody>
                        <a:bodyPr/>
                        <a:lstStyle/>
                        <a:p>
                          <a:pPr>
                            <a:buNone/>
                          </a:pPr>
                          <a:r>
                            <a:rPr lang="en-US" sz="1200" dirty="0"/>
                            <a:t>C</a:t>
                          </a:r>
                          <a:r>
                            <a:rPr lang="el-GR" sz="1200" dirty="0" err="1"/>
                            <a:t>ooling-tower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1293253850"/>
                      </a:ext>
                    </a:extLst>
                  </a:tr>
                  <a:tr h="458249">
                    <a:tc>
                      <a:txBody>
                        <a:bodyPr/>
                        <a:lstStyle/>
                        <a:p>
                          <a:pPr>
                            <a:buNone/>
                          </a:pPr>
                          <a:r>
                            <a:rPr lang="el-GR" sz="1200" b="1" dirty="0" err="1"/>
                            <a:t>Boiler</a:t>
                          </a: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𝑄</m:t>
                                    </m:r>
                                  </m:e>
                                  <m:sub>
                                    <m:r>
                                      <a:rPr lang="el-GR" sz="1200">
                                        <a:latin typeface="Cambria Math" panose="02040503050406030204" pitchFamily="18" charset="0"/>
                                      </a:rPr>
                                      <m:t>𝑡</m:t>
                                    </m:r>
                                  </m:sub>
                                  <m:sup>
                                    <m:r>
                                      <a:rPr lang="el-GR" sz="1200">
                                        <a:latin typeface="Cambria Math" panose="02040503050406030204" pitchFamily="18" charset="0"/>
                                      </a:rPr>
                                      <m:t>𝐵</m:t>
                                    </m:r>
                                  </m:sup>
                                </m:sSubSup>
                              </m:oMath>
                            </m:oMathPara>
                          </a14:m>
                          <a:endParaRPr lang="el-GR" sz="1200" dirty="0"/>
                        </a:p>
                      </a:txBody>
                      <a:tcPr anchor="ctr"/>
                    </a:tc>
                    <a:tc>
                      <a:txBody>
                        <a:bodyPr/>
                        <a:lstStyle/>
                        <a:p>
                          <a:pPr>
                            <a:buNone/>
                          </a:pPr>
                          <a:r>
                            <a:rPr lang="el-GR" sz="1200"/>
                            <a:t>Q_boiler[t]</a:t>
                          </a:r>
                        </a:p>
                      </a:txBody>
                      <a:tcPr anchor="ctr"/>
                    </a:tc>
                    <a:tc>
                      <a:txBody>
                        <a:bodyPr/>
                        <a:lstStyle/>
                        <a:p>
                          <a:pPr>
                            <a:buNone/>
                          </a:pPr>
                          <a:r>
                            <a:rPr lang="en-US" sz="1200" dirty="0"/>
                            <a:t>Bo</a:t>
                          </a:r>
                          <a:r>
                            <a:rPr lang="el-GR" sz="1200" dirty="0" err="1"/>
                            <a:t>iler</a:t>
                          </a:r>
                          <a:r>
                            <a:rPr lang="el-GR" sz="1200" dirty="0"/>
                            <a:t> </a:t>
                          </a:r>
                          <a:r>
                            <a:rPr lang="el-GR" sz="1200" dirty="0" err="1"/>
                            <a:t>heat</a:t>
                          </a:r>
                          <a:r>
                            <a:rPr lang="el-GR" sz="1200" dirty="0"/>
                            <a:t> </a:t>
                          </a:r>
                          <a:r>
                            <a:rPr lang="el-GR" sz="1200" dirty="0" err="1"/>
                            <a:t>output</a:t>
                          </a:r>
                          <a:endParaRPr lang="el-GR" sz="1200" dirty="0"/>
                        </a:p>
                      </a:txBody>
                      <a:tcPr anchor="ctr"/>
                    </a:tc>
                    <a:extLst>
                      <a:ext uri="{0D108BD9-81ED-4DB2-BD59-A6C34878D82A}">
                        <a16:rowId xmlns:a16="http://schemas.microsoft.com/office/drawing/2014/main" val="3489420290"/>
                      </a:ext>
                    </a:extLst>
                  </a:tr>
                  <a:tr h="276350">
                    <a:tc>
                      <a:txBody>
                        <a:bodyPr/>
                        <a:lstStyle/>
                        <a:p>
                          <a:pPr>
                            <a:buNone/>
                          </a:pPr>
                          <a:endParaRPr lang="el-GR" sz="1200" dirty="0"/>
                        </a:p>
                      </a:txBody>
                      <a:tcPr anchor="ctr"/>
                    </a:tc>
                    <a:tc>
                      <a:txBody>
                        <a:bodyPr/>
                        <a:lstStyle/>
                        <a:p>
                          <a:pPr>
                            <a:buNone/>
                          </a:pPr>
                          <a14:m>
                            <m:oMathPara xmlns:m="http://schemas.openxmlformats.org/officeDocument/2006/math">
                              <m:oMath>
                                <m:sSubSup>
                                  <m:sSubSupPr>
                                    <m:ctrlPr>
                                      <a:rPr lang="el-GR" sz="1200">
                                        <a:latin typeface="Cambria Math" panose="02040503050406030204" pitchFamily="18" charset="0"/>
                                      </a:rPr>
                                    </m:ctrlPr>
                                  </m:sSubSupPr>
                                  <m:e>
                                    <m:r>
                                      <a:rPr lang="el-GR" sz="1200">
                                        <a:latin typeface="Cambria Math" panose="02040503050406030204" pitchFamily="18" charset="0"/>
                                      </a:rPr>
                                      <m:t>𝐺</m:t>
                                    </m:r>
                                  </m:e>
                                  <m:sub>
                                    <m:r>
                                      <a:rPr lang="el-GR" sz="1200">
                                        <a:latin typeface="Cambria Math" panose="02040503050406030204" pitchFamily="18" charset="0"/>
                                      </a:rPr>
                                      <m:t>𝑡</m:t>
                                    </m:r>
                                  </m:sub>
                                  <m:sup>
                                    <m:r>
                                      <a:rPr lang="el-GR" sz="1200">
                                        <a:latin typeface="Cambria Math" panose="02040503050406030204" pitchFamily="18" charset="0"/>
                                      </a:rPr>
                                      <m:t>𝐵</m:t>
                                    </m:r>
                                  </m:sup>
                                </m:sSubSup>
                              </m:oMath>
                            </m:oMathPara>
                          </a14:m>
                          <a:endParaRPr lang="el-GR" sz="1200" dirty="0"/>
                        </a:p>
                      </a:txBody>
                      <a:tcPr anchor="ctr"/>
                    </a:tc>
                    <a:tc>
                      <a:txBody>
                        <a:bodyPr/>
                        <a:lstStyle/>
                        <a:p>
                          <a:pPr>
                            <a:buNone/>
                          </a:pPr>
                          <a:r>
                            <a:rPr lang="el-GR" sz="1200" dirty="0" err="1"/>
                            <a:t>G_boiler</a:t>
                          </a:r>
                          <a:r>
                            <a:rPr lang="el-GR" sz="1200" dirty="0"/>
                            <a:t>[t]</a:t>
                          </a:r>
                        </a:p>
                      </a:txBody>
                      <a:tcPr anchor="ctr"/>
                    </a:tc>
                    <a:tc>
                      <a:txBody>
                        <a:bodyPr/>
                        <a:lstStyle/>
                        <a:p>
                          <a:pPr>
                            <a:buNone/>
                          </a:pPr>
                          <a:r>
                            <a:rPr lang="en-US" sz="1200" dirty="0"/>
                            <a:t>G</a:t>
                          </a:r>
                          <a:r>
                            <a:rPr lang="el-GR" sz="1200" dirty="0" err="1"/>
                            <a:t>as</a:t>
                          </a:r>
                          <a:r>
                            <a:rPr lang="el-GR" sz="1200" dirty="0"/>
                            <a:t> </a:t>
                          </a:r>
                          <a:r>
                            <a:rPr lang="el-GR" sz="1200" dirty="0" err="1"/>
                            <a:t>input</a:t>
                          </a:r>
                          <a:endParaRPr lang="el-GR" sz="1200" dirty="0"/>
                        </a:p>
                      </a:txBody>
                      <a:tcPr anchor="ctr"/>
                    </a:tc>
                    <a:extLst>
                      <a:ext uri="{0D108BD9-81ED-4DB2-BD59-A6C34878D82A}">
                        <a16:rowId xmlns:a16="http://schemas.microsoft.com/office/drawing/2014/main" val="664881644"/>
                      </a:ext>
                    </a:extLst>
                  </a:tr>
                  <a:tr h="274950">
                    <a:tc>
                      <a:txBody>
                        <a:bodyPr/>
                        <a:lstStyle/>
                        <a:p>
                          <a:pPr>
                            <a:buNone/>
                          </a:pPr>
                          <a:endParaRPr lang="el-GR" sz="1200" dirty="0"/>
                        </a:p>
                      </a:txBody>
                      <a:tcPr anchor="ctr"/>
                    </a:tc>
                    <a:tc>
                      <a:txBody>
                        <a:bodyPr/>
                        <a:lstStyle/>
                        <a:p>
                          <a:pPr>
                            <a:buNone/>
                          </a:pPr>
                          <a14:m>
                            <m:oMathPara xmlns:m="http://schemas.openxmlformats.org/officeDocument/2006/math">
                              <m:oMath>
                                <m:sSup>
                                  <m:sSupPr>
                                    <m:ctrlPr>
                                      <a:rPr lang="el-GR" sz="1200">
                                        <a:latin typeface="Cambria Math" panose="02040503050406030204" pitchFamily="18" charset="0"/>
                                      </a:rPr>
                                    </m:ctrlPr>
                                  </m:sSupPr>
                                  <m:e>
                                    <m:r>
                                      <a:rPr lang="el-GR" sz="1200">
                                        <a:latin typeface="Cambria Math" panose="02040503050406030204" pitchFamily="18" charset="0"/>
                                      </a:rPr>
                                      <m:t>𝑆</m:t>
                                    </m:r>
                                  </m:e>
                                  <m:sup>
                                    <m:r>
                                      <a:rPr lang="el-GR" sz="1200">
                                        <a:latin typeface="Cambria Math" panose="02040503050406030204" pitchFamily="18" charset="0"/>
                                      </a:rPr>
                                      <m:t>𝐵</m:t>
                                    </m:r>
                                  </m:sup>
                                </m:sSup>
                              </m:oMath>
                            </m:oMathPara>
                          </a14:m>
                          <a:endParaRPr lang="el-GR" sz="1200"/>
                        </a:p>
                      </a:txBody>
                      <a:tcPr anchor="ctr"/>
                    </a:tc>
                    <a:tc>
                      <a:txBody>
                        <a:bodyPr/>
                        <a:lstStyle/>
                        <a:p>
                          <a:pPr>
                            <a:buNone/>
                          </a:pPr>
                          <a:r>
                            <a:rPr lang="el-GR" sz="1200"/>
                            <a:t>S_boiler</a:t>
                          </a:r>
                        </a:p>
                      </a:txBody>
                      <a:tcPr anchor="ctr"/>
                    </a:tc>
                    <a:tc>
                      <a:txBody>
                        <a:bodyPr/>
                        <a:lstStyle/>
                        <a:p>
                          <a:pPr>
                            <a:buNone/>
                          </a:pPr>
                          <a:r>
                            <a:rPr lang="en-US" sz="1200" dirty="0"/>
                            <a:t>B</a:t>
                          </a:r>
                          <a:r>
                            <a:rPr lang="el-GR" sz="1200" dirty="0" err="1"/>
                            <a:t>oiler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3478922964"/>
                      </a:ext>
                    </a:extLst>
                  </a:tr>
                </a:tbl>
              </a:graphicData>
            </a:graphic>
          </p:graphicFrame>
        </mc:Choice>
        <mc:Fallback>
          <p:graphicFrame>
            <p:nvGraphicFramePr>
              <p:cNvPr id="8" name="Table 7">
                <a:extLst>
                  <a:ext uri="{FF2B5EF4-FFF2-40B4-BE49-F238E27FC236}">
                    <a16:creationId xmlns:a16="http://schemas.microsoft.com/office/drawing/2014/main" id="{A1D85A46-1885-8C06-4789-E91FA6E564FE}"/>
                  </a:ext>
                </a:extLst>
              </p:cNvPr>
              <p:cNvGraphicFramePr>
                <a:graphicFrameLocks noGrp="1"/>
              </p:cNvGraphicFramePr>
              <p:nvPr>
                <p:extLst>
                  <p:ext uri="{D42A27DB-BD31-4B8C-83A1-F6EECF244321}">
                    <p14:modId xmlns:p14="http://schemas.microsoft.com/office/powerpoint/2010/main" val="1762814992"/>
                  </p:ext>
                </p:extLst>
              </p:nvPr>
            </p:nvGraphicFramePr>
            <p:xfrm>
              <a:off x="4525144" y="691709"/>
              <a:ext cx="4618856" cy="6165297"/>
            </p:xfrm>
            <a:graphic>
              <a:graphicData uri="http://schemas.openxmlformats.org/drawingml/2006/table">
                <a:tbl>
                  <a:tblPr firstRow="1" bandRow="1">
                    <a:tableStyleId>{00A15C55-8517-42AA-B614-E9B94910E393}</a:tableStyleId>
                  </a:tblPr>
                  <a:tblGrid>
                    <a:gridCol w="1154714">
                      <a:extLst>
                        <a:ext uri="{9D8B030D-6E8A-4147-A177-3AD203B41FA5}">
                          <a16:colId xmlns:a16="http://schemas.microsoft.com/office/drawing/2014/main" val="1813454470"/>
                        </a:ext>
                      </a:extLst>
                    </a:gridCol>
                    <a:gridCol w="886591">
                      <a:extLst>
                        <a:ext uri="{9D8B030D-6E8A-4147-A177-3AD203B41FA5}">
                          <a16:colId xmlns:a16="http://schemas.microsoft.com/office/drawing/2014/main" val="1616688042"/>
                        </a:ext>
                      </a:extLst>
                    </a:gridCol>
                    <a:gridCol w="1422837">
                      <a:extLst>
                        <a:ext uri="{9D8B030D-6E8A-4147-A177-3AD203B41FA5}">
                          <a16:colId xmlns:a16="http://schemas.microsoft.com/office/drawing/2014/main" val="1605297613"/>
                        </a:ext>
                      </a:extLst>
                    </a:gridCol>
                    <a:gridCol w="1154714">
                      <a:extLst>
                        <a:ext uri="{9D8B030D-6E8A-4147-A177-3AD203B41FA5}">
                          <a16:colId xmlns:a16="http://schemas.microsoft.com/office/drawing/2014/main" val="2072494348"/>
                        </a:ext>
                      </a:extLst>
                    </a:gridCol>
                  </a:tblGrid>
                  <a:tr h="458249">
                    <a:tc>
                      <a:txBody>
                        <a:bodyPr/>
                        <a:lstStyle/>
                        <a:p>
                          <a:pPr>
                            <a:buNone/>
                          </a:pPr>
                          <a:r>
                            <a:rPr lang="el-GR" sz="1200" dirty="0" err="1"/>
                            <a:t>Technology</a:t>
                          </a:r>
                          <a:endParaRPr lang="el-GR" sz="1200" dirty="0"/>
                        </a:p>
                      </a:txBody>
                      <a:tcPr anchor="ctr"/>
                    </a:tc>
                    <a:tc>
                      <a:txBody>
                        <a:bodyPr/>
                        <a:lstStyle/>
                        <a:p>
                          <a:pPr>
                            <a:buNone/>
                          </a:pPr>
                          <a:r>
                            <a:rPr lang="el-GR" sz="1200" dirty="0" err="1"/>
                            <a:t>Decision</a:t>
                          </a:r>
                          <a:r>
                            <a:rPr lang="el-GR" sz="1200" dirty="0"/>
                            <a:t> </a:t>
                          </a:r>
                          <a:r>
                            <a:rPr lang="el-GR" sz="1200" dirty="0" err="1"/>
                            <a:t>variable</a:t>
                          </a:r>
                          <a:endParaRPr lang="el-GR" sz="1200" dirty="0"/>
                        </a:p>
                      </a:txBody>
                      <a:tcPr anchor="ctr"/>
                    </a:tc>
                    <a:tc>
                      <a:txBody>
                        <a:bodyPr/>
                        <a:lstStyle/>
                        <a:p>
                          <a:pPr>
                            <a:buNone/>
                          </a:pPr>
                          <a:r>
                            <a:rPr lang="el-GR" sz="1200"/>
                            <a:t>Code name</a:t>
                          </a:r>
                        </a:p>
                      </a:txBody>
                      <a:tcPr anchor="ctr"/>
                    </a:tc>
                    <a:tc>
                      <a:txBody>
                        <a:bodyPr/>
                        <a:lstStyle/>
                        <a:p>
                          <a:pPr>
                            <a:buNone/>
                          </a:pPr>
                          <a:r>
                            <a:rPr lang="en-US" sz="1200" dirty="0"/>
                            <a:t>M</a:t>
                          </a:r>
                          <a:r>
                            <a:rPr lang="el-GR" sz="1200" dirty="0" err="1"/>
                            <a:t>eaning</a:t>
                          </a:r>
                          <a:endParaRPr lang="el-GR" sz="1200" dirty="0"/>
                        </a:p>
                      </a:txBody>
                      <a:tcPr anchor="ctr"/>
                    </a:tc>
                    <a:extLst>
                      <a:ext uri="{0D108BD9-81ED-4DB2-BD59-A6C34878D82A}">
                        <a16:rowId xmlns:a16="http://schemas.microsoft.com/office/drawing/2014/main" val="1953420639"/>
                      </a:ext>
                    </a:extLst>
                  </a:tr>
                  <a:tr h="458249">
                    <a:tc>
                      <a:txBody>
                        <a:bodyPr/>
                        <a:lstStyle/>
                        <a:p>
                          <a:pPr>
                            <a:buNone/>
                          </a:pPr>
                          <a:r>
                            <a:rPr lang="el-GR" sz="1200" b="1" dirty="0"/>
                            <a:t>BTES H</a:t>
                          </a:r>
                          <a:r>
                            <a:rPr lang="en-US" sz="1200" b="1" dirty="0"/>
                            <a:t>P</a:t>
                          </a:r>
                          <a:endParaRPr lang="el-GR" sz="1200" dirty="0"/>
                        </a:p>
                      </a:txBody>
                      <a:tcPr anchor="ctr"/>
                    </a:tc>
                    <a:tc>
                      <a:txBody>
                        <a:bodyPr/>
                        <a:lstStyle/>
                        <a:p>
                          <a:endParaRPr lang="el-GR"/>
                        </a:p>
                      </a:txBody>
                      <a:tcPr anchor="ctr">
                        <a:blipFill>
                          <a:blip r:embed="rId3"/>
                          <a:stretch>
                            <a:fillRect l="-131724" t="-101333" r="-295172" b="-1158667"/>
                          </a:stretch>
                        </a:blipFill>
                      </a:tcPr>
                    </a:tc>
                    <a:tc>
                      <a:txBody>
                        <a:bodyPr/>
                        <a:lstStyle/>
                        <a:p>
                          <a:pPr>
                            <a:buNone/>
                          </a:pPr>
                          <a:r>
                            <a:rPr lang="el-GR" sz="1200" dirty="0" err="1"/>
                            <a:t>Q_hp_btes</a:t>
                          </a:r>
                          <a:r>
                            <a:rPr lang="el-GR" sz="1200" dirty="0"/>
                            <a:t>[t]</a:t>
                          </a:r>
                        </a:p>
                      </a:txBody>
                      <a:tcPr anchor="ctr"/>
                    </a:tc>
                    <a:tc>
                      <a:txBody>
                        <a:bodyPr/>
                        <a:lstStyle/>
                        <a:p>
                          <a:pPr>
                            <a:buNone/>
                          </a:pPr>
                          <a:r>
                            <a:rPr lang="en-US" sz="1200" dirty="0"/>
                            <a:t>H</a:t>
                          </a:r>
                          <a:r>
                            <a:rPr lang="el-GR" sz="1200" dirty="0" err="1"/>
                            <a:t>eating</a:t>
                          </a:r>
                          <a:r>
                            <a:rPr lang="el-GR" sz="1200" dirty="0"/>
                            <a:t> </a:t>
                          </a:r>
                          <a:r>
                            <a:rPr lang="el-GR" sz="1200" dirty="0" err="1"/>
                            <a:t>output</a:t>
                          </a:r>
                          <a:endParaRPr lang="el-GR" sz="1200" dirty="0"/>
                        </a:p>
                      </a:txBody>
                      <a:tcPr anchor="ctr"/>
                    </a:tc>
                    <a:extLst>
                      <a:ext uri="{0D108BD9-81ED-4DB2-BD59-A6C34878D82A}">
                        <a16:rowId xmlns:a16="http://schemas.microsoft.com/office/drawing/2014/main" val="1841832733"/>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198684" r="-295172" b="-1043421"/>
                          </a:stretch>
                        </a:blipFill>
                      </a:tcPr>
                    </a:tc>
                    <a:tc>
                      <a:txBody>
                        <a:bodyPr/>
                        <a:lstStyle/>
                        <a:p>
                          <a:pPr>
                            <a:buNone/>
                          </a:pPr>
                          <a:r>
                            <a:rPr lang="el-GR" sz="1200"/>
                            <a:t>P_hp_btes[t]</a:t>
                          </a:r>
                        </a:p>
                      </a:txBody>
                      <a:tcPr anchor="ctr"/>
                    </a:tc>
                    <a:tc>
                      <a:txBody>
                        <a:bodyPr/>
                        <a:lstStyle/>
                        <a:p>
                          <a:pPr>
                            <a:buNone/>
                          </a:pPr>
                          <a:r>
                            <a:rPr lang="en-US" sz="1200" dirty="0"/>
                            <a:t>E</a:t>
                          </a:r>
                          <a:r>
                            <a:rPr lang="el-GR" sz="1200" dirty="0" err="1"/>
                            <a:t>lectrical</a:t>
                          </a:r>
                          <a:r>
                            <a:rPr lang="el-GR" sz="1200" dirty="0"/>
                            <a:t> </a:t>
                          </a:r>
                          <a:r>
                            <a:rPr lang="el-GR" sz="1200" dirty="0" err="1"/>
                            <a:t>consumption</a:t>
                          </a:r>
                          <a:endParaRPr lang="el-GR" sz="1200" dirty="0"/>
                        </a:p>
                      </a:txBody>
                      <a:tcPr anchor="ctr"/>
                    </a:tc>
                    <a:extLst>
                      <a:ext uri="{0D108BD9-81ED-4DB2-BD59-A6C34878D82A}">
                        <a16:rowId xmlns:a16="http://schemas.microsoft.com/office/drawing/2014/main" val="4101023295"/>
                      </a:ext>
                    </a:extLst>
                  </a:tr>
                  <a:tr h="298308">
                    <a:tc>
                      <a:txBody>
                        <a:bodyPr/>
                        <a:lstStyle/>
                        <a:p>
                          <a:pPr>
                            <a:buNone/>
                          </a:pPr>
                          <a:endParaRPr lang="el-GR" sz="1200" dirty="0"/>
                        </a:p>
                      </a:txBody>
                      <a:tcPr anchor="ctr"/>
                    </a:tc>
                    <a:tc>
                      <a:txBody>
                        <a:bodyPr/>
                        <a:lstStyle/>
                        <a:p>
                          <a:endParaRPr lang="el-GR"/>
                        </a:p>
                      </a:txBody>
                      <a:tcPr anchor="ctr">
                        <a:blipFill>
                          <a:blip r:embed="rId3"/>
                          <a:stretch>
                            <a:fillRect l="-131724" t="-463265" r="-295172" b="-1518367"/>
                          </a:stretch>
                        </a:blipFill>
                      </a:tcPr>
                    </a:tc>
                    <a:tc>
                      <a:txBody>
                        <a:bodyPr/>
                        <a:lstStyle/>
                        <a:p>
                          <a:pPr>
                            <a:buNone/>
                          </a:pPr>
                          <a:r>
                            <a:rPr lang="el-GR" sz="1200" dirty="0" err="1"/>
                            <a:t>invCOP_hp_btes</a:t>
                          </a:r>
                          <a:r>
                            <a:rPr lang="el-GR" sz="1200" dirty="0"/>
                            <a:t>[t]</a:t>
                          </a:r>
                        </a:p>
                      </a:txBody>
                      <a:tcPr anchor="ctr"/>
                    </a:tc>
                    <a:tc>
                      <a:txBody>
                        <a:bodyPr/>
                        <a:lstStyle/>
                        <a:p>
                          <a:pPr>
                            <a:buNone/>
                          </a:pPr>
                          <a:r>
                            <a:rPr lang="en-US" sz="1200" dirty="0"/>
                            <a:t>I</a:t>
                          </a:r>
                          <a:r>
                            <a:rPr lang="el-GR" sz="1200" dirty="0" err="1"/>
                            <a:t>nverse</a:t>
                          </a:r>
                          <a:r>
                            <a:rPr lang="el-GR" sz="1200" dirty="0"/>
                            <a:t> COP</a:t>
                          </a:r>
                        </a:p>
                      </a:txBody>
                      <a:tcPr anchor="ctr"/>
                    </a:tc>
                    <a:extLst>
                      <a:ext uri="{0D108BD9-81ED-4DB2-BD59-A6C34878D82A}">
                        <a16:rowId xmlns:a16="http://schemas.microsoft.com/office/drawing/2014/main" val="2060914715"/>
                      </a:ext>
                    </a:extLst>
                  </a:tr>
                  <a:tr h="274950">
                    <a:tc>
                      <a:txBody>
                        <a:bodyPr/>
                        <a:lstStyle/>
                        <a:p>
                          <a:pPr>
                            <a:buNone/>
                          </a:pPr>
                          <a:endParaRPr lang="el-GR" sz="1200" dirty="0"/>
                        </a:p>
                      </a:txBody>
                      <a:tcPr anchor="ctr"/>
                    </a:tc>
                    <a:tc>
                      <a:txBody>
                        <a:bodyPr/>
                        <a:lstStyle/>
                        <a:p>
                          <a:endParaRPr lang="el-GR"/>
                        </a:p>
                      </a:txBody>
                      <a:tcPr anchor="ctr">
                        <a:blipFill>
                          <a:blip r:embed="rId3"/>
                          <a:stretch>
                            <a:fillRect l="-131724" t="-613333" r="-295172" b="-1553333"/>
                          </a:stretch>
                        </a:blipFill>
                      </a:tcPr>
                    </a:tc>
                    <a:tc>
                      <a:txBody>
                        <a:bodyPr/>
                        <a:lstStyle/>
                        <a:p>
                          <a:pPr>
                            <a:buNone/>
                          </a:pPr>
                          <a:r>
                            <a:rPr lang="el-GR" sz="1200"/>
                            <a:t>S_hp_btes</a:t>
                          </a:r>
                        </a:p>
                      </a:txBody>
                      <a:tcPr anchor="ctr"/>
                    </a:tc>
                    <a:tc>
                      <a:txBody>
                        <a:bodyPr/>
                        <a:lstStyle/>
                        <a:p>
                          <a:pPr>
                            <a:buNone/>
                          </a:pPr>
                          <a:r>
                            <a:rPr lang="el-GR" sz="1200" dirty="0"/>
                            <a:t>HP </a:t>
                          </a:r>
                          <a:r>
                            <a:rPr lang="el-GR" sz="1200" dirty="0" err="1"/>
                            <a:t>capacity</a:t>
                          </a:r>
                          <a:endParaRPr lang="el-GR" sz="1200" dirty="0"/>
                        </a:p>
                      </a:txBody>
                      <a:tcPr anchor="ctr"/>
                    </a:tc>
                    <a:extLst>
                      <a:ext uri="{0D108BD9-81ED-4DB2-BD59-A6C34878D82A}">
                        <a16:rowId xmlns:a16="http://schemas.microsoft.com/office/drawing/2014/main" val="2904513323"/>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428000" r="-295172" b="-832000"/>
                          </a:stretch>
                        </a:blipFill>
                      </a:tcPr>
                    </a:tc>
                    <a:tc>
                      <a:txBody>
                        <a:bodyPr/>
                        <a:lstStyle/>
                        <a:p>
                          <a:pPr>
                            <a:buNone/>
                          </a:pPr>
                          <a:r>
                            <a:rPr lang="el-GR" sz="1200"/>
                            <a:t>T_evap_hp[t]</a:t>
                          </a:r>
                        </a:p>
                      </a:txBody>
                      <a:tcPr anchor="ctr"/>
                    </a:tc>
                    <a:tc>
                      <a:txBody>
                        <a:bodyPr/>
                        <a:lstStyle/>
                        <a:p>
                          <a:pPr>
                            <a:buNone/>
                          </a:pPr>
                          <a:r>
                            <a:rPr lang="en-US" sz="1200" dirty="0"/>
                            <a:t>E</a:t>
                          </a:r>
                          <a:r>
                            <a:rPr lang="el-GR" sz="1200" dirty="0" err="1"/>
                            <a:t>vaporator</a:t>
                          </a:r>
                          <a:r>
                            <a:rPr lang="el-GR" sz="1200" dirty="0"/>
                            <a:t> </a:t>
                          </a:r>
                          <a:r>
                            <a:rPr lang="el-GR" sz="1200" dirty="0" err="1"/>
                            <a:t>temperature</a:t>
                          </a:r>
                          <a:endParaRPr lang="el-GR" sz="1200" dirty="0"/>
                        </a:p>
                      </a:txBody>
                      <a:tcPr anchor="ctr"/>
                    </a:tc>
                    <a:extLst>
                      <a:ext uri="{0D108BD9-81ED-4DB2-BD59-A6C34878D82A}">
                        <a16:rowId xmlns:a16="http://schemas.microsoft.com/office/drawing/2014/main" val="3632889286"/>
                      </a:ext>
                    </a:extLst>
                  </a:tr>
                  <a:tr h="458249">
                    <a:tc>
                      <a:txBody>
                        <a:bodyPr/>
                        <a:lstStyle/>
                        <a:p>
                          <a:pPr>
                            <a:buNone/>
                          </a:pPr>
                          <a:r>
                            <a:rPr lang="el-GR" sz="1200" b="1" dirty="0"/>
                            <a:t>BTES </a:t>
                          </a:r>
                          <a:r>
                            <a:rPr lang="el-GR" sz="1200" b="1" dirty="0" err="1"/>
                            <a:t>Chiller</a:t>
                          </a:r>
                          <a:endParaRPr lang="el-GR" sz="1200" dirty="0"/>
                        </a:p>
                      </a:txBody>
                      <a:tcPr anchor="ctr"/>
                    </a:tc>
                    <a:tc>
                      <a:txBody>
                        <a:bodyPr/>
                        <a:lstStyle/>
                        <a:p>
                          <a:endParaRPr lang="el-GR"/>
                        </a:p>
                      </a:txBody>
                      <a:tcPr anchor="ctr">
                        <a:blipFill>
                          <a:blip r:embed="rId3"/>
                          <a:stretch>
                            <a:fillRect l="-131724" t="-528000" r="-295172" b="-732000"/>
                          </a:stretch>
                        </a:blipFill>
                      </a:tcPr>
                    </a:tc>
                    <a:tc>
                      <a:txBody>
                        <a:bodyPr/>
                        <a:lstStyle/>
                        <a:p>
                          <a:pPr>
                            <a:buNone/>
                          </a:pPr>
                          <a:r>
                            <a:rPr lang="el-GR" sz="1200"/>
                            <a:t>Q_ch_btes[t]</a:t>
                          </a:r>
                        </a:p>
                      </a:txBody>
                      <a:tcPr anchor="ctr"/>
                    </a:tc>
                    <a:tc>
                      <a:txBody>
                        <a:bodyPr/>
                        <a:lstStyle/>
                        <a:p>
                          <a:pPr>
                            <a:buNone/>
                          </a:pPr>
                          <a:r>
                            <a:rPr lang="en-US" sz="1200" dirty="0"/>
                            <a:t>C</a:t>
                          </a:r>
                          <a:r>
                            <a:rPr lang="el-GR" sz="1200" dirty="0" err="1"/>
                            <a:t>ooling</a:t>
                          </a:r>
                          <a:r>
                            <a:rPr lang="el-GR" sz="1200" dirty="0"/>
                            <a:t> </a:t>
                          </a:r>
                          <a:r>
                            <a:rPr lang="el-GR" sz="1200" dirty="0" err="1"/>
                            <a:t>output</a:t>
                          </a:r>
                          <a:endParaRPr lang="el-GR" sz="1200" dirty="0"/>
                        </a:p>
                      </a:txBody>
                      <a:tcPr anchor="ctr"/>
                    </a:tc>
                    <a:extLst>
                      <a:ext uri="{0D108BD9-81ED-4DB2-BD59-A6C34878D82A}">
                        <a16:rowId xmlns:a16="http://schemas.microsoft.com/office/drawing/2014/main" val="3546614848"/>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628000" r="-295172" b="-632000"/>
                          </a:stretch>
                        </a:blipFill>
                      </a:tcPr>
                    </a:tc>
                    <a:tc>
                      <a:txBody>
                        <a:bodyPr/>
                        <a:lstStyle/>
                        <a:p>
                          <a:pPr>
                            <a:buNone/>
                          </a:pPr>
                          <a:r>
                            <a:rPr lang="el-GR" sz="1200"/>
                            <a:t>P_ch_btes[t]</a:t>
                          </a:r>
                        </a:p>
                      </a:txBody>
                      <a:tcPr anchor="ctr"/>
                    </a:tc>
                    <a:tc>
                      <a:txBody>
                        <a:bodyPr/>
                        <a:lstStyle/>
                        <a:p>
                          <a:pPr>
                            <a:buNone/>
                          </a:pPr>
                          <a:r>
                            <a:rPr lang="en-US" sz="1200" dirty="0"/>
                            <a:t>E</a:t>
                          </a:r>
                          <a:r>
                            <a:rPr lang="el-GR" sz="1200" dirty="0" err="1"/>
                            <a:t>lectrical</a:t>
                          </a:r>
                          <a:r>
                            <a:rPr lang="el-GR" sz="1200" dirty="0"/>
                            <a:t> </a:t>
                          </a:r>
                          <a:r>
                            <a:rPr lang="el-GR" sz="1200" dirty="0" err="1"/>
                            <a:t>consumption</a:t>
                          </a:r>
                          <a:endParaRPr lang="el-GR" sz="1200" dirty="0"/>
                        </a:p>
                      </a:txBody>
                      <a:tcPr anchor="ctr"/>
                    </a:tc>
                    <a:extLst>
                      <a:ext uri="{0D108BD9-81ED-4DB2-BD59-A6C34878D82A}">
                        <a16:rowId xmlns:a16="http://schemas.microsoft.com/office/drawing/2014/main" val="3465182537"/>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718421" r="-295172" b="-523684"/>
                          </a:stretch>
                        </a:blipFill>
                      </a:tcPr>
                    </a:tc>
                    <a:tc>
                      <a:txBody>
                        <a:bodyPr/>
                        <a:lstStyle/>
                        <a:p>
                          <a:pPr>
                            <a:buNone/>
                          </a:pPr>
                          <a:r>
                            <a:rPr lang="el-GR" sz="1200"/>
                            <a:t>S_ch_btes</a:t>
                          </a:r>
                        </a:p>
                      </a:txBody>
                      <a:tcPr anchor="ctr"/>
                    </a:tc>
                    <a:tc>
                      <a:txBody>
                        <a:bodyPr/>
                        <a:lstStyle/>
                        <a:p>
                          <a:pPr>
                            <a:buNone/>
                          </a:pPr>
                          <a:r>
                            <a:rPr lang="en-US" sz="1200" dirty="0"/>
                            <a:t>C</a:t>
                          </a:r>
                          <a:r>
                            <a:rPr lang="el-GR" sz="1200" dirty="0" err="1"/>
                            <a:t>hiller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145937888"/>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829333" r="-295172" b="-430667"/>
                          </a:stretch>
                        </a:blipFill>
                      </a:tcPr>
                    </a:tc>
                    <a:tc>
                      <a:txBody>
                        <a:bodyPr/>
                        <a:lstStyle/>
                        <a:p>
                          <a:pPr>
                            <a:buNone/>
                          </a:pPr>
                          <a:r>
                            <a:rPr lang="el-GR" sz="1200"/>
                            <a:t>T_cond_chiller[t]</a:t>
                          </a:r>
                        </a:p>
                      </a:txBody>
                      <a:tcPr anchor="ctr"/>
                    </a:tc>
                    <a:tc>
                      <a:txBody>
                        <a:bodyPr/>
                        <a:lstStyle/>
                        <a:p>
                          <a:pPr>
                            <a:buNone/>
                          </a:pPr>
                          <a:r>
                            <a:rPr lang="en-US" sz="1200" dirty="0"/>
                            <a:t>C</a:t>
                          </a:r>
                          <a:r>
                            <a:rPr lang="el-GR" sz="1200" dirty="0" err="1"/>
                            <a:t>ondenser</a:t>
                          </a:r>
                          <a:r>
                            <a:rPr lang="el-GR" sz="1200" dirty="0"/>
                            <a:t> </a:t>
                          </a:r>
                          <a:r>
                            <a:rPr lang="el-GR" sz="1200" dirty="0" err="1"/>
                            <a:t>temperature</a:t>
                          </a:r>
                          <a:endParaRPr lang="el-GR" sz="1200" dirty="0"/>
                        </a:p>
                      </a:txBody>
                      <a:tcPr anchor="ctr"/>
                    </a:tc>
                    <a:extLst>
                      <a:ext uri="{0D108BD9-81ED-4DB2-BD59-A6C34878D82A}">
                        <a16:rowId xmlns:a16="http://schemas.microsoft.com/office/drawing/2014/main" val="2587571087"/>
                      </a:ext>
                    </a:extLst>
                  </a:tr>
                  <a:tr h="458249">
                    <a:tc>
                      <a:txBody>
                        <a:bodyPr/>
                        <a:lstStyle/>
                        <a:p>
                          <a:pPr>
                            <a:buNone/>
                          </a:pPr>
                          <a:r>
                            <a:rPr lang="el-GR" sz="1200" b="1" dirty="0" err="1"/>
                            <a:t>Cooling</a:t>
                          </a:r>
                          <a:r>
                            <a:rPr lang="el-GR" sz="1200" b="1" dirty="0"/>
                            <a:t> </a:t>
                          </a:r>
                          <a:r>
                            <a:rPr lang="el-GR" sz="1200" b="1" dirty="0" err="1"/>
                            <a:t>Tower</a:t>
                          </a:r>
                          <a:endParaRPr lang="el-GR" sz="1200" dirty="0"/>
                        </a:p>
                      </a:txBody>
                      <a:tcPr anchor="ctr"/>
                    </a:tc>
                    <a:tc>
                      <a:txBody>
                        <a:bodyPr/>
                        <a:lstStyle/>
                        <a:p>
                          <a:endParaRPr lang="el-GR"/>
                        </a:p>
                      </a:txBody>
                      <a:tcPr anchor="ctr">
                        <a:blipFill>
                          <a:blip r:embed="rId3"/>
                          <a:stretch>
                            <a:fillRect l="-131724" t="-929333" r="-295172" b="-330667"/>
                          </a:stretch>
                        </a:blipFill>
                      </a:tcPr>
                    </a:tc>
                    <a:tc>
                      <a:txBody>
                        <a:bodyPr/>
                        <a:lstStyle/>
                        <a:p>
                          <a:pPr>
                            <a:buNone/>
                          </a:pPr>
                          <a:r>
                            <a:rPr lang="el-GR" sz="1200"/>
                            <a:t>Q_cooling_tower[t]</a:t>
                          </a:r>
                        </a:p>
                      </a:txBody>
                      <a:tcPr anchor="ctr"/>
                    </a:tc>
                    <a:tc>
                      <a:txBody>
                        <a:bodyPr/>
                        <a:lstStyle/>
                        <a:p>
                          <a:pPr>
                            <a:buNone/>
                          </a:pPr>
                          <a:r>
                            <a:rPr lang="en-US" sz="1200" dirty="0"/>
                            <a:t>R</a:t>
                          </a:r>
                          <a:r>
                            <a:rPr lang="el-GR" sz="1200" dirty="0" err="1"/>
                            <a:t>ejected</a:t>
                          </a:r>
                          <a:r>
                            <a:rPr lang="el-GR" sz="1200" dirty="0"/>
                            <a:t> </a:t>
                          </a:r>
                          <a:r>
                            <a:rPr lang="el-GR" sz="1200" dirty="0" err="1"/>
                            <a:t>heat</a:t>
                          </a:r>
                          <a:endParaRPr lang="el-GR" sz="1200" dirty="0"/>
                        </a:p>
                      </a:txBody>
                      <a:tcPr anchor="ctr"/>
                    </a:tc>
                    <a:extLst>
                      <a:ext uri="{0D108BD9-81ED-4DB2-BD59-A6C34878D82A}">
                        <a16:rowId xmlns:a16="http://schemas.microsoft.com/office/drawing/2014/main" val="426018334"/>
                      </a:ext>
                    </a:extLst>
                  </a:tr>
                  <a:tr h="458249">
                    <a:tc>
                      <a:txBody>
                        <a:bodyPr/>
                        <a:lstStyle/>
                        <a:p>
                          <a:pPr>
                            <a:buNone/>
                          </a:pPr>
                          <a:endParaRPr lang="el-GR" sz="1200" dirty="0"/>
                        </a:p>
                      </a:txBody>
                      <a:tcPr anchor="ctr"/>
                    </a:tc>
                    <a:tc>
                      <a:txBody>
                        <a:bodyPr/>
                        <a:lstStyle/>
                        <a:p>
                          <a:endParaRPr lang="el-GR"/>
                        </a:p>
                      </a:txBody>
                      <a:tcPr anchor="ctr">
                        <a:blipFill>
                          <a:blip r:embed="rId3"/>
                          <a:stretch>
                            <a:fillRect l="-131724" t="-1029333" r="-295172" b="-230667"/>
                          </a:stretch>
                        </a:blipFill>
                      </a:tcPr>
                    </a:tc>
                    <a:tc>
                      <a:txBody>
                        <a:bodyPr/>
                        <a:lstStyle/>
                        <a:p>
                          <a:pPr>
                            <a:buNone/>
                          </a:pPr>
                          <a:r>
                            <a:rPr lang="el-GR" sz="1200"/>
                            <a:t>S_cooling_tower</a:t>
                          </a:r>
                        </a:p>
                      </a:txBody>
                      <a:tcPr anchor="ctr"/>
                    </a:tc>
                    <a:tc>
                      <a:txBody>
                        <a:bodyPr/>
                        <a:lstStyle/>
                        <a:p>
                          <a:pPr>
                            <a:buNone/>
                          </a:pPr>
                          <a:r>
                            <a:rPr lang="en-US" sz="1200" dirty="0"/>
                            <a:t>C</a:t>
                          </a:r>
                          <a:r>
                            <a:rPr lang="el-GR" sz="1200" dirty="0" err="1"/>
                            <a:t>ooling-tower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1293253850"/>
                      </a:ext>
                    </a:extLst>
                  </a:tr>
                  <a:tr h="458249">
                    <a:tc>
                      <a:txBody>
                        <a:bodyPr/>
                        <a:lstStyle/>
                        <a:p>
                          <a:pPr>
                            <a:buNone/>
                          </a:pPr>
                          <a:r>
                            <a:rPr lang="el-GR" sz="1200" b="1" dirty="0" err="1"/>
                            <a:t>Boiler</a:t>
                          </a:r>
                          <a:endParaRPr lang="el-GR" sz="1200" dirty="0"/>
                        </a:p>
                      </a:txBody>
                      <a:tcPr anchor="ctr"/>
                    </a:tc>
                    <a:tc>
                      <a:txBody>
                        <a:bodyPr/>
                        <a:lstStyle/>
                        <a:p>
                          <a:endParaRPr lang="el-GR"/>
                        </a:p>
                      </a:txBody>
                      <a:tcPr anchor="ctr">
                        <a:blipFill>
                          <a:blip r:embed="rId3"/>
                          <a:stretch>
                            <a:fillRect l="-131724" t="-1114474" r="-295172" b="-127632"/>
                          </a:stretch>
                        </a:blipFill>
                      </a:tcPr>
                    </a:tc>
                    <a:tc>
                      <a:txBody>
                        <a:bodyPr/>
                        <a:lstStyle/>
                        <a:p>
                          <a:pPr>
                            <a:buNone/>
                          </a:pPr>
                          <a:r>
                            <a:rPr lang="el-GR" sz="1200"/>
                            <a:t>Q_boiler[t]</a:t>
                          </a:r>
                        </a:p>
                      </a:txBody>
                      <a:tcPr anchor="ctr"/>
                    </a:tc>
                    <a:tc>
                      <a:txBody>
                        <a:bodyPr/>
                        <a:lstStyle/>
                        <a:p>
                          <a:pPr>
                            <a:buNone/>
                          </a:pPr>
                          <a:r>
                            <a:rPr lang="en-US" sz="1200" dirty="0"/>
                            <a:t>Bo</a:t>
                          </a:r>
                          <a:r>
                            <a:rPr lang="el-GR" sz="1200" dirty="0" err="1"/>
                            <a:t>iler</a:t>
                          </a:r>
                          <a:r>
                            <a:rPr lang="el-GR" sz="1200" dirty="0"/>
                            <a:t> </a:t>
                          </a:r>
                          <a:r>
                            <a:rPr lang="el-GR" sz="1200" dirty="0" err="1"/>
                            <a:t>heat</a:t>
                          </a:r>
                          <a:r>
                            <a:rPr lang="el-GR" sz="1200" dirty="0"/>
                            <a:t> </a:t>
                          </a:r>
                          <a:r>
                            <a:rPr lang="el-GR" sz="1200" dirty="0" err="1"/>
                            <a:t>output</a:t>
                          </a:r>
                          <a:endParaRPr lang="el-GR" sz="1200" dirty="0"/>
                        </a:p>
                      </a:txBody>
                      <a:tcPr anchor="ctr"/>
                    </a:tc>
                    <a:extLst>
                      <a:ext uri="{0D108BD9-81ED-4DB2-BD59-A6C34878D82A}">
                        <a16:rowId xmlns:a16="http://schemas.microsoft.com/office/drawing/2014/main" val="3489420290"/>
                      </a:ext>
                    </a:extLst>
                  </a:tr>
                  <a:tr h="276350">
                    <a:tc>
                      <a:txBody>
                        <a:bodyPr/>
                        <a:lstStyle/>
                        <a:p>
                          <a:pPr>
                            <a:buNone/>
                          </a:pPr>
                          <a:endParaRPr lang="el-GR" sz="1200" dirty="0"/>
                        </a:p>
                      </a:txBody>
                      <a:tcPr anchor="ctr"/>
                    </a:tc>
                    <a:tc>
                      <a:txBody>
                        <a:bodyPr/>
                        <a:lstStyle/>
                        <a:p>
                          <a:endParaRPr lang="el-GR"/>
                        </a:p>
                      </a:txBody>
                      <a:tcPr anchor="ctr">
                        <a:blipFill>
                          <a:blip r:embed="rId3"/>
                          <a:stretch>
                            <a:fillRect l="-131724" t="-2051111" r="-295172" b="-115556"/>
                          </a:stretch>
                        </a:blipFill>
                      </a:tcPr>
                    </a:tc>
                    <a:tc>
                      <a:txBody>
                        <a:bodyPr/>
                        <a:lstStyle/>
                        <a:p>
                          <a:pPr>
                            <a:buNone/>
                          </a:pPr>
                          <a:r>
                            <a:rPr lang="el-GR" sz="1200" dirty="0" err="1"/>
                            <a:t>G_boiler</a:t>
                          </a:r>
                          <a:r>
                            <a:rPr lang="el-GR" sz="1200" dirty="0"/>
                            <a:t>[t]</a:t>
                          </a:r>
                        </a:p>
                      </a:txBody>
                      <a:tcPr anchor="ctr"/>
                    </a:tc>
                    <a:tc>
                      <a:txBody>
                        <a:bodyPr/>
                        <a:lstStyle/>
                        <a:p>
                          <a:pPr>
                            <a:buNone/>
                          </a:pPr>
                          <a:r>
                            <a:rPr lang="en-US" sz="1200" dirty="0"/>
                            <a:t>G</a:t>
                          </a:r>
                          <a:r>
                            <a:rPr lang="el-GR" sz="1200" dirty="0" err="1"/>
                            <a:t>as</a:t>
                          </a:r>
                          <a:r>
                            <a:rPr lang="el-GR" sz="1200" dirty="0"/>
                            <a:t> </a:t>
                          </a:r>
                          <a:r>
                            <a:rPr lang="el-GR" sz="1200" dirty="0" err="1"/>
                            <a:t>input</a:t>
                          </a:r>
                          <a:endParaRPr lang="el-GR" sz="1200" dirty="0"/>
                        </a:p>
                      </a:txBody>
                      <a:tcPr anchor="ctr"/>
                    </a:tc>
                    <a:extLst>
                      <a:ext uri="{0D108BD9-81ED-4DB2-BD59-A6C34878D82A}">
                        <a16:rowId xmlns:a16="http://schemas.microsoft.com/office/drawing/2014/main" val="664881644"/>
                      </a:ext>
                    </a:extLst>
                  </a:tr>
                  <a:tr h="274950">
                    <a:tc>
                      <a:txBody>
                        <a:bodyPr/>
                        <a:lstStyle/>
                        <a:p>
                          <a:pPr>
                            <a:buNone/>
                          </a:pPr>
                          <a:endParaRPr lang="el-GR" sz="1200" dirty="0"/>
                        </a:p>
                      </a:txBody>
                      <a:tcPr anchor="ctr"/>
                    </a:tc>
                    <a:tc>
                      <a:txBody>
                        <a:bodyPr/>
                        <a:lstStyle/>
                        <a:p>
                          <a:endParaRPr lang="el-GR"/>
                        </a:p>
                      </a:txBody>
                      <a:tcPr anchor="ctr">
                        <a:blipFill>
                          <a:blip r:embed="rId3"/>
                          <a:stretch>
                            <a:fillRect l="-131724" t="-2151111" r="-295172" b="-15556"/>
                          </a:stretch>
                        </a:blipFill>
                      </a:tcPr>
                    </a:tc>
                    <a:tc>
                      <a:txBody>
                        <a:bodyPr/>
                        <a:lstStyle/>
                        <a:p>
                          <a:pPr>
                            <a:buNone/>
                          </a:pPr>
                          <a:r>
                            <a:rPr lang="el-GR" sz="1200"/>
                            <a:t>S_boiler</a:t>
                          </a:r>
                        </a:p>
                      </a:txBody>
                      <a:tcPr anchor="ctr"/>
                    </a:tc>
                    <a:tc>
                      <a:txBody>
                        <a:bodyPr/>
                        <a:lstStyle/>
                        <a:p>
                          <a:pPr>
                            <a:buNone/>
                          </a:pPr>
                          <a:r>
                            <a:rPr lang="en-US" sz="1200" dirty="0"/>
                            <a:t>B</a:t>
                          </a:r>
                          <a:r>
                            <a:rPr lang="el-GR" sz="1200" dirty="0" err="1"/>
                            <a:t>oiler</a:t>
                          </a:r>
                          <a:r>
                            <a:rPr lang="el-GR" sz="1200" dirty="0"/>
                            <a:t> </a:t>
                          </a:r>
                          <a:r>
                            <a:rPr lang="el-GR" sz="1200" dirty="0" err="1"/>
                            <a:t>capacity</a:t>
                          </a:r>
                          <a:endParaRPr lang="el-GR" sz="1200" dirty="0"/>
                        </a:p>
                      </a:txBody>
                      <a:tcPr anchor="ctr"/>
                    </a:tc>
                    <a:extLst>
                      <a:ext uri="{0D108BD9-81ED-4DB2-BD59-A6C34878D82A}">
                        <a16:rowId xmlns:a16="http://schemas.microsoft.com/office/drawing/2014/main" val="3478922964"/>
                      </a:ext>
                    </a:extLst>
                  </a:tr>
                </a:tbl>
              </a:graphicData>
            </a:graphic>
          </p:graphicFrame>
        </mc:Fallback>
      </mc:AlternateContent>
    </p:spTree>
    <p:extLst>
      <p:ext uri="{BB962C8B-B14F-4D97-AF65-F5344CB8AC3E}">
        <p14:creationId xmlns:p14="http://schemas.microsoft.com/office/powerpoint/2010/main" val="3125867912"/>
      </p:ext>
    </p:extLst>
  </p:cSld>
  <p:clrMapOvr>
    <a:masterClrMapping/>
  </p:clrMapOvr>
</p:sld>
</file>

<file path=ppt/theme/theme1.xml><?xml version="1.0" encoding="utf-8"?>
<a:theme xmlns:a="http://schemas.openxmlformats.org/drawingml/2006/main" name="blank">
  <a:themeElements>
    <a:clrScheme name="Empa_Farben">
      <a:dk1>
        <a:sysClr val="windowText" lastClr="000000"/>
      </a:dk1>
      <a:lt1>
        <a:sysClr val="window" lastClr="FFFFFF"/>
      </a:lt1>
      <a:dk2>
        <a:srgbClr val="9F9F9F"/>
      </a:dk2>
      <a:lt2>
        <a:srgbClr val="DFDFDF"/>
      </a:lt2>
      <a:accent1>
        <a:srgbClr val="5F5F5F"/>
      </a:accent1>
      <a:accent2>
        <a:srgbClr val="5C2E00"/>
      </a:accent2>
      <a:accent3>
        <a:srgbClr val="005400"/>
      </a:accent3>
      <a:accent4>
        <a:srgbClr val="003366"/>
      </a:accent4>
      <a:accent5>
        <a:srgbClr val="C00000"/>
      </a:accent5>
      <a:accent6>
        <a:srgbClr val="C0BC00"/>
      </a:accent6>
      <a:hlink>
        <a:srgbClr val="475A8D"/>
      </a:hlink>
      <a:folHlink>
        <a:srgbClr val="C32D2E"/>
      </a:folHlink>
    </a:clrScheme>
    <a:fontScheme name="Empa_Word">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lank.potx" id="{D5C41789-3F3A-48D0-B9C7-4F5E90B54F3B}" vid="{13C28240-227B-4991-A039-AD680EE25B1F}"/>
    </a:ext>
  </a:extLst>
</a:theme>
</file>

<file path=ppt/theme/theme2.xml><?xml version="1.0" encoding="utf-8"?>
<a:theme xmlns:a="http://schemas.openxmlformats.org/drawingml/2006/main" name="Larissa">
  <a:themeElements>
    <a:clrScheme name="Empa_Farben">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F88630"/>
      </a:accent5>
      <a:accent6>
        <a:srgbClr val="475A8D"/>
      </a:accent6>
      <a:hlink>
        <a:srgbClr val="475A8D"/>
      </a:hlink>
      <a:folHlink>
        <a:srgbClr val="C32D2E"/>
      </a:folHlink>
    </a:clrScheme>
    <a:fontScheme name="Empa_PowerPoin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Empa_Farben">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F88630"/>
      </a:accent5>
      <a:accent6>
        <a:srgbClr val="475A8D"/>
      </a:accent6>
      <a:hlink>
        <a:srgbClr val="475A8D"/>
      </a:hlink>
      <a:folHlink>
        <a:srgbClr val="C32D2E"/>
      </a:folHlink>
    </a:clrScheme>
    <a:fontScheme name="Empa_PowerPoin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Constantinos Paschalis - Final Presentation</Template>
  <TotalTime>2004</TotalTime>
  <Words>2695</Words>
  <Application>Microsoft Office PowerPoint</Application>
  <PresentationFormat>On-screen Show (4:3)</PresentationFormat>
  <Paragraphs>555</Paragraphs>
  <Slides>31</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Courier New</vt:lpstr>
      <vt:lpstr>Segoe UI</vt:lpstr>
      <vt:lpstr>Wingdings</vt:lpstr>
      <vt:lpstr>Cambria Math</vt:lpstr>
      <vt:lpstr>Arial</vt:lpstr>
      <vt:lpstr>blank</vt:lpstr>
      <vt:lpstr>PowerPoint Presentation</vt:lpstr>
      <vt:lpstr>Motivation – Share of Renewables</vt:lpstr>
      <vt:lpstr>Why is Borehole Thermal  Energy Storage (BTES)?</vt:lpstr>
      <vt:lpstr>State of the Art</vt:lpstr>
      <vt:lpstr>Research Idea – Research  Question</vt:lpstr>
      <vt:lpstr>Research Idea  </vt:lpstr>
      <vt:lpstr>Methodology - Case Study  Definition</vt:lpstr>
      <vt:lpstr>Methodology- Operational  Strategies</vt:lpstr>
      <vt:lpstr>Methodology – McCormick  relaxation - MILP</vt:lpstr>
      <vt:lpstr>Methodology - BTES options </vt:lpstr>
      <vt:lpstr>Results - Verification </vt:lpstr>
      <vt:lpstr>Results – Impact of Operational Strategies</vt:lpstr>
      <vt:lpstr>Results - MILP  simplifications/sizes</vt:lpstr>
      <vt:lpstr>Results - MILP  simplifications/operation</vt:lpstr>
      <vt:lpstr>Extended Case Study Definition</vt:lpstr>
      <vt:lpstr>Results - Extended Case Study</vt:lpstr>
      <vt:lpstr>Conclusions</vt:lpstr>
      <vt:lpstr>PowerPoint Presentation</vt:lpstr>
      <vt:lpstr>Appendix</vt:lpstr>
      <vt:lpstr>McCormick envelope12</vt:lpstr>
      <vt:lpstr>Verification </vt:lpstr>
      <vt:lpstr>Verification</vt:lpstr>
      <vt:lpstr>Operational Strategies</vt:lpstr>
      <vt:lpstr>Results - Mathematical  Formulations</vt:lpstr>
      <vt:lpstr>Interpolation of BTES options  and 2 seg. MILP  </vt:lpstr>
      <vt:lpstr>PowerPoint Presentation</vt:lpstr>
      <vt:lpstr>Results - MILP  simplifications/sizes</vt:lpstr>
      <vt:lpstr>Extended Case Study</vt:lpstr>
      <vt:lpstr>Heuristic Model</vt:lpstr>
      <vt:lpstr>Steady State Heuristic13,14</vt:lpstr>
      <vt:lpstr>Decision Vairables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Paschalis  Constantinos</dc:creator>
  <cp:lastModifiedBy>Paschalis  Constantinos</cp:lastModifiedBy>
  <cp:revision>15</cp:revision>
  <cp:lastPrinted>2011-01-24T10:25:34Z</cp:lastPrinted>
  <dcterms:created xsi:type="dcterms:W3CDTF">2026-08-06T14:26:44Z</dcterms:created>
  <dcterms:modified xsi:type="dcterms:W3CDTF">2026-09-02T12:44:34Z</dcterms:modified>
</cp:coreProperties>
</file>